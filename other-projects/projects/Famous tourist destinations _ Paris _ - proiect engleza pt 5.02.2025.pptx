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0" r:id="rId4"/>
    <p:sldId id="261" r:id="rId5"/>
    <p:sldId id="262" r:id="rId6"/>
    <p:sldId id="265" r:id="rId7"/>
    <p:sldId id="263" r:id="rId8"/>
    <p:sldId id="264" r:id="rId9"/>
    <p:sldId id="267" r:id="rId10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59" autoAdjust="0"/>
  </p:normalViewPr>
  <p:slideViewPr>
    <p:cSldViewPr snapToGrid="0">
      <p:cViewPr varScale="1">
        <p:scale>
          <a:sx n="74" d="100"/>
          <a:sy n="74" d="100"/>
        </p:scale>
        <p:origin x="19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66C5F4-3F7D-4C96-B378-07116916B273}" type="datetimeFigureOut">
              <a:rPr lang="ro-RO" smtClean="0"/>
              <a:t>10.02.2025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7511A-AA01-4C34-80ED-23B6A636006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48054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511A-AA01-4C34-80ED-23B6A6360060}" type="slidenum">
              <a:rPr lang="ro-RO" smtClean="0"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69868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511A-AA01-4C34-80ED-23B6A6360060}" type="slidenum">
              <a:rPr lang="ro-RO" smtClean="0"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87777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511A-AA01-4C34-80ED-23B6A6360060}" type="slidenum">
              <a:rPr lang="ro-RO" smtClean="0"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16244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511A-AA01-4C34-80ED-23B6A6360060}" type="slidenum">
              <a:rPr lang="ro-RO" smtClean="0"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24671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511A-AA01-4C34-80ED-23B6A6360060}" type="slidenum">
              <a:rPr lang="ro-RO" smtClean="0"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84498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449EB-B471-4998-BE7D-6480C4216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53BD0-4C8C-479C-B835-8FBF19F1B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21ABF-6997-4043-95DD-35A6029C0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CB26-FF80-443F-9119-4D3028AA001B}" type="datetimeFigureOut">
              <a:rPr lang="ro-RO" smtClean="0"/>
              <a:t>10.02.2025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E8393-D0C2-4BCA-AFE0-BBDDD7CF5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CAA40-EE1D-47DD-AC86-58166C3EA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84B2-778E-4748-9D29-8438FB66AA5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2086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2A5C3-F670-46C4-A8A2-573A4D5DE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B5DC4-B8BE-4542-9D91-BFC2A7514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DFD8D-83F9-49F2-943C-22E655FE0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CB26-FF80-443F-9119-4D3028AA001B}" type="datetimeFigureOut">
              <a:rPr lang="ro-RO" smtClean="0"/>
              <a:t>10.02.2025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E372C-F540-48A5-9C19-DF4E5A13D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DCDAB-86FA-4513-8665-6B32B3C50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84B2-778E-4748-9D29-8438FB66AA5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7878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56C39-812E-44B4-8341-6885CC7A5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CB00F-2C6D-4B0B-8401-7204457F7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F4B9A-1DA4-4C69-BB48-474AC17E2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CB26-FF80-443F-9119-4D3028AA001B}" type="datetimeFigureOut">
              <a:rPr lang="ro-RO" smtClean="0"/>
              <a:t>10.02.2025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CE05F-ED02-4C20-9334-F43E54295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9D77E-225A-4961-9FF5-73A3A8A7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84B2-778E-4748-9D29-8438FB66AA5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70893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A1CE2-5D86-45C3-BFA3-A352A78D2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8304C-FBD5-4AE3-9B2E-8CBB555A4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298E7-8040-4FBB-BD1E-EE6B010EE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6AC80-7B71-4E3B-B33F-715924804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CB26-FF80-443F-9119-4D3028AA001B}" type="datetimeFigureOut">
              <a:rPr lang="ro-RO" smtClean="0"/>
              <a:t>10.02.2025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B1E31-A03A-49ED-8EF6-3FFF70ABA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68964-78CC-44FC-AEDF-162E4390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84B2-778E-4748-9D29-8438FB66AA5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97695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79310-DEEF-4CD3-9401-1F6579AD8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D9768-E322-40C3-BB31-AA6AB3BA2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78345-BB1D-44BA-9E8A-465D8E91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F2605C-B371-4BD0-A282-6FCB09097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AB3CD3-94E6-4E9A-8FD6-7DD489346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9FDEE8-DD70-461F-B175-921114E22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CB26-FF80-443F-9119-4D3028AA001B}" type="datetimeFigureOut">
              <a:rPr lang="ro-RO" smtClean="0"/>
              <a:t>10.02.2025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B203F6-0312-49BB-BA28-A0ADB5103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708CFD-0F21-412C-972C-6A130549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84B2-778E-4748-9D29-8438FB66AA5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140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0255-DDF6-4CBD-BB8E-887331823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56398D-9C39-4B06-A6DB-7412A4975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CB26-FF80-443F-9119-4D3028AA001B}" type="datetimeFigureOut">
              <a:rPr lang="ro-RO" smtClean="0"/>
              <a:t>10.02.2025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380641-EA5E-4933-9458-E67F0A932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06C41-B6E5-457B-937D-4D50F1209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84B2-778E-4748-9D29-8438FB66AA5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65884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F7760A-DCB9-4C68-ACAC-3CE184F58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CB26-FF80-443F-9119-4D3028AA001B}" type="datetimeFigureOut">
              <a:rPr lang="ro-RO" smtClean="0"/>
              <a:t>10.02.2025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9A5873-CEB9-4FC5-BC73-2BB4163AB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08E67-2F55-461C-BEB3-19867487F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84B2-778E-4748-9D29-8438FB66AA5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4405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9546-543E-4251-B290-DA381E6D7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D7684-1B8A-4679-8254-02C879276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BA695-B2D1-41BF-8BFC-5EB75C939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5869C-600C-4558-BDAA-F1B04C633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CB26-FF80-443F-9119-4D3028AA001B}" type="datetimeFigureOut">
              <a:rPr lang="ro-RO" smtClean="0"/>
              <a:t>10.02.2025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53D3C-622F-4947-8E8A-D8936AD97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D68E5-97CD-44DB-B8C6-C8B8E140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84B2-778E-4748-9D29-8438FB66AA5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5959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D7AAE-A638-4361-951A-F0D71EAC3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A09E3C-9B4C-4797-89FF-2163461A0D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19C85-5D10-4B66-8925-C72F9C261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88BA4-A349-4D38-9DAF-0106C4E7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CB26-FF80-443F-9119-4D3028AA001B}" type="datetimeFigureOut">
              <a:rPr lang="ro-RO" smtClean="0"/>
              <a:t>10.02.2025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96E78-5664-41DA-9621-984327F0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73E2B-D5D0-4BB8-8819-B5F37E87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84B2-778E-4748-9D29-8438FB66AA5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41960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245ED-ACFA-4107-9CF5-629A0C31F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9BA7C-EDAF-4CD4-9456-34BD36BAF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731C8-F7DA-4013-8371-43720E5B5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CB26-FF80-443F-9119-4D3028AA001B}" type="datetimeFigureOut">
              <a:rPr lang="ro-RO" smtClean="0"/>
              <a:t>10.02.2025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CFCA-68F3-49BC-B602-46F3AEA7B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D4327-0621-484E-AB3B-F8944006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84B2-778E-4748-9D29-8438FB66AA5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1917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CAE0A-DC33-4AB5-A8A7-1D6B14E7A3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EC98D-581A-49C6-B085-4B8F18F5A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146F2-ED3E-45A3-BFC4-BAF77028C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CB26-FF80-443F-9119-4D3028AA001B}" type="datetimeFigureOut">
              <a:rPr lang="ro-RO" smtClean="0"/>
              <a:t>10.02.2025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24C4A-4601-4010-B181-51A9806AF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79963-4F9A-4480-9027-424A3154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84B2-778E-4748-9D29-8438FB66AA5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39108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C51DB-5605-48ED-8331-876F04118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7AD35-FD25-4044-903F-95988C88D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5A8FC-DCD2-46AA-AF56-68B2EAA6B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1CB26-FF80-443F-9119-4D3028AA001B}" type="datetimeFigureOut">
              <a:rPr lang="ro-RO" smtClean="0"/>
              <a:t>10.02.2025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3F004-86A9-4741-9D3C-030842346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A5EA0-74CB-44A2-A859-AA28BCEA5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F84B2-778E-4748-9D29-8438FB66AA5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840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oteles.com/go/france/best-views-and-viewpoints-pari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hyperlink" Target="https://www.hoteles.com/go/france/best-views-and-viewpoints-pari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4.png"/><Relationship Id="rId4" Type="http://schemas.openxmlformats.org/officeDocument/2006/relationships/hyperlink" Target="https://www.hoteles.com/go/france/best-views-and-viewpoints-pari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4.png"/><Relationship Id="rId4" Type="http://schemas.openxmlformats.org/officeDocument/2006/relationships/hyperlink" Target="https://www.hoteles.com/go/france/best-views-and-viewpoints-pari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www.hoteles.com/go/france/best-views-and-viewpoints-paris" TargetMode="Externa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www.hoteles.com/go/france/best-views-and-viewpoints-paris" TargetMode="Externa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www.hoteles.com/go/france/best-views-and-viewpoints-paris" TargetMode="Externa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hyperlink" Target="https://www.hoteles.com/go/france/best-views-and-viewpoints-paris" TargetMode="Externa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hyperlink" Target="http://en.wikipedia.org/wiki/Pari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www.hoteles.com/go/france/best-views-and-viewpoints-paris" TargetMode="Externa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BA4D17-2129-4F0B-9980-D7F756AE3F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786" b="77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D71F8BF-30BC-4756-A99A-6C2A5A02072A}"/>
              </a:ext>
            </a:extLst>
          </p:cNvPr>
          <p:cNvGrpSpPr/>
          <p:nvPr/>
        </p:nvGrpSpPr>
        <p:grpSpPr>
          <a:xfrm>
            <a:off x="-58058" y="0"/>
            <a:ext cx="4644572" cy="6858000"/>
            <a:chOff x="-58058" y="0"/>
            <a:chExt cx="4644572" cy="68580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5E2C717-0EA8-4965-BD86-DC2A13C93A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 radius="70"/>
                      </a14:imgEffect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 t="7786" r="61905" b="7786"/>
            <a:stretch/>
          </p:blipFill>
          <p:spPr>
            <a:xfrm>
              <a:off x="-58057" y="0"/>
              <a:ext cx="4644571" cy="6858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3081DDB-F375-44B6-BA55-4BBCEAC9F697}"/>
                </a:ext>
              </a:extLst>
            </p:cNvPr>
            <p:cNvSpPr txBox="1"/>
            <p:nvPr/>
          </p:nvSpPr>
          <p:spPr>
            <a:xfrm>
              <a:off x="-58058" y="885371"/>
              <a:ext cx="4644571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spc="-150" dirty="0">
                  <a:solidFill>
                    <a:schemeClr val="bg1">
                      <a:lumMod val="95000"/>
                    </a:schemeClr>
                  </a:solidFill>
                  <a:latin typeface="Bernard MT Condensed" panose="02050806060905020404" pitchFamily="18" charset="0"/>
                </a:rPr>
                <a:t>Famous tourist destinations</a:t>
              </a:r>
            </a:p>
            <a:p>
              <a:pPr algn="ctr"/>
              <a:r>
                <a:rPr lang="en-US" sz="8800" dirty="0">
                  <a:solidFill>
                    <a:schemeClr val="bg1">
                      <a:lumMod val="95000"/>
                    </a:schemeClr>
                  </a:solidFill>
                  <a:latin typeface="Bernard MT Condensed" panose="02050806060905020404" pitchFamily="18" charset="0"/>
                </a:rPr>
                <a:t>- </a:t>
              </a:r>
              <a:r>
                <a:rPr lang="en-US" sz="8800" b="1" dirty="0">
                  <a:solidFill>
                    <a:schemeClr val="bg1">
                      <a:lumMod val="95000"/>
                    </a:schemeClr>
                  </a:solidFill>
                  <a:latin typeface="Bernard MT Condensed" panose="02050806060905020404" pitchFamily="18" charset="0"/>
                </a:rPr>
                <a:t>PARIS</a:t>
              </a:r>
              <a:r>
                <a:rPr lang="en-US" sz="8800" dirty="0">
                  <a:solidFill>
                    <a:schemeClr val="bg1">
                      <a:lumMod val="95000"/>
                    </a:schemeClr>
                  </a:solidFill>
                  <a:latin typeface="Bernard MT Condensed" panose="02050806060905020404" pitchFamily="18" charset="0"/>
                </a:rPr>
                <a:t> -</a:t>
              </a:r>
              <a:endParaRPr lang="ro-RO" sz="8800" dirty="0">
                <a:solidFill>
                  <a:schemeClr val="bg1">
                    <a:lumMod val="95000"/>
                  </a:schemeClr>
                </a:solidFill>
                <a:latin typeface="Bernard MT Condensed" panose="020508060609050204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EE77EFD-4E59-447D-A159-C23525218313}"/>
                </a:ext>
              </a:extLst>
            </p:cNvPr>
            <p:cNvSpPr txBox="1"/>
            <p:nvPr/>
          </p:nvSpPr>
          <p:spPr>
            <a:xfrm>
              <a:off x="-58057" y="6211669"/>
              <a:ext cx="3309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ro-RO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5096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BA4D17-2129-4F0B-9980-D7F756AE3F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86" b="77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D71F8BF-30BC-4756-A99A-6C2A5A02072A}"/>
              </a:ext>
            </a:extLst>
          </p:cNvPr>
          <p:cNvGrpSpPr/>
          <p:nvPr/>
        </p:nvGrpSpPr>
        <p:grpSpPr>
          <a:xfrm>
            <a:off x="-6458858" y="0"/>
            <a:ext cx="4644572" cy="6858000"/>
            <a:chOff x="-58058" y="0"/>
            <a:chExt cx="4644572" cy="68580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5E2C717-0EA8-4965-BD86-DC2A13C93A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0"/>
                      </a14:imgEffect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t="7786" r="61905" b="7786"/>
            <a:stretch/>
          </p:blipFill>
          <p:spPr>
            <a:xfrm>
              <a:off x="-58057" y="0"/>
              <a:ext cx="4644571" cy="6858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3081DDB-F375-44B6-BA55-4BBCEAC9F697}"/>
                </a:ext>
              </a:extLst>
            </p:cNvPr>
            <p:cNvSpPr txBox="1"/>
            <p:nvPr/>
          </p:nvSpPr>
          <p:spPr>
            <a:xfrm>
              <a:off x="-58058" y="885371"/>
              <a:ext cx="4644571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spc="-150" dirty="0">
                  <a:solidFill>
                    <a:schemeClr val="bg1">
                      <a:lumMod val="95000"/>
                    </a:schemeClr>
                  </a:solidFill>
                  <a:latin typeface="Bernard MT Condensed" panose="02050806060905020404" pitchFamily="18" charset="0"/>
                </a:rPr>
                <a:t>Famous tourist destinations</a:t>
              </a:r>
            </a:p>
            <a:p>
              <a:pPr algn="ctr"/>
              <a:r>
                <a:rPr lang="en-US" sz="8800" dirty="0">
                  <a:solidFill>
                    <a:schemeClr val="bg1">
                      <a:lumMod val="95000"/>
                    </a:schemeClr>
                  </a:solidFill>
                  <a:latin typeface="Bernard MT Condensed" panose="02050806060905020404" pitchFamily="18" charset="0"/>
                </a:rPr>
                <a:t>- </a:t>
              </a:r>
              <a:r>
                <a:rPr lang="en-US" sz="8800" b="1" dirty="0">
                  <a:solidFill>
                    <a:schemeClr val="bg1">
                      <a:lumMod val="95000"/>
                    </a:schemeClr>
                  </a:solidFill>
                  <a:latin typeface="Bernard MT Condensed" panose="02050806060905020404" pitchFamily="18" charset="0"/>
                </a:rPr>
                <a:t>PARIS</a:t>
              </a:r>
              <a:r>
                <a:rPr lang="en-US" sz="8800" dirty="0">
                  <a:solidFill>
                    <a:schemeClr val="bg1">
                      <a:lumMod val="95000"/>
                    </a:schemeClr>
                  </a:solidFill>
                  <a:latin typeface="Bernard MT Condensed" panose="02050806060905020404" pitchFamily="18" charset="0"/>
                </a:rPr>
                <a:t> -</a:t>
              </a:r>
              <a:endParaRPr lang="ro-RO" sz="8800" dirty="0">
                <a:solidFill>
                  <a:schemeClr val="bg1">
                    <a:lumMod val="95000"/>
                  </a:schemeClr>
                </a:solidFill>
                <a:latin typeface="Bernard MT Condensed" panose="020508060609050204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EE77EFD-4E59-447D-A159-C23525218313}"/>
                </a:ext>
              </a:extLst>
            </p:cNvPr>
            <p:cNvSpPr txBox="1"/>
            <p:nvPr/>
          </p:nvSpPr>
          <p:spPr>
            <a:xfrm>
              <a:off x="-58057" y="6211669"/>
              <a:ext cx="3309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ro-RO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ADB9CE0-B19B-4359-9562-4493B082D91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7096" r="56875" b="7786"/>
          <a:stretch/>
        </p:blipFill>
        <p:spPr>
          <a:xfrm>
            <a:off x="-1" y="756224"/>
            <a:ext cx="5257800" cy="6101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A47C77-1D6B-4F6D-8A72-D6DFF1C4D48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86" b="82904"/>
          <a:stretch/>
        </p:blipFill>
        <p:spPr>
          <a:xfrm>
            <a:off x="-2" y="0"/>
            <a:ext cx="12192000" cy="7562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4CC830-42C3-4CE5-B560-F8AE18CCD8AC}"/>
              </a:ext>
            </a:extLst>
          </p:cNvPr>
          <p:cNvSpPr txBox="1"/>
          <p:nvPr/>
        </p:nvSpPr>
        <p:spPr>
          <a:xfrm>
            <a:off x="3524250" y="85725"/>
            <a:ext cx="525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PARIS: AN OVERVIEW</a:t>
            </a:r>
            <a:endParaRPr lang="ro-RO" sz="3200" dirty="0">
              <a:solidFill>
                <a:schemeClr val="bg1">
                  <a:lumMod val="9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AF6C1-39A6-41AB-8485-D90D959DD9DD}"/>
              </a:ext>
            </a:extLst>
          </p:cNvPr>
          <p:cNvSpPr txBox="1"/>
          <p:nvPr/>
        </p:nvSpPr>
        <p:spPr>
          <a:xfrm>
            <a:off x="-371476" y="903967"/>
            <a:ext cx="576262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Paris is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the capital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and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largest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 city of France, famously known as the "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City of Light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" due to its pivotal role during the Age of Enlightenment and its early adoption of street lighting.</a:t>
            </a:r>
          </a:p>
          <a:p>
            <a:pPr lvl="1"/>
            <a:endParaRPr lang="en-US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Situated in the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Île-de-France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 region, Paris is built along the Seine River, with the city center lying on its historic island,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Île de la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Cité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.</a:t>
            </a:r>
          </a:p>
          <a:p>
            <a:pPr lvl="1"/>
            <a:endParaRPr lang="en-US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It spans approximately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105 square kilometers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 and has a metropolitan population exceeding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11 million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, making it a hub for economic and cultural activity.</a:t>
            </a:r>
          </a:p>
          <a:p>
            <a:endParaRPr lang="ro-RO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360D7C2-3A98-4C69-8675-2D1B6F65B194}"/>
              </a:ext>
            </a:extLst>
          </p:cNvPr>
          <p:cNvGrpSpPr/>
          <p:nvPr/>
        </p:nvGrpSpPr>
        <p:grpSpPr>
          <a:xfrm>
            <a:off x="6889750" y="1586790"/>
            <a:ext cx="3784600" cy="3989666"/>
            <a:chOff x="7677150" y="1560234"/>
            <a:chExt cx="3784600" cy="398966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F9A4E24-BB76-4C7C-BBF7-DC7571E5864A}"/>
                </a:ext>
              </a:extLst>
            </p:cNvPr>
            <p:cNvSpPr/>
            <p:nvPr/>
          </p:nvSpPr>
          <p:spPr>
            <a:xfrm>
              <a:off x="7677150" y="1560234"/>
              <a:ext cx="3784600" cy="3989666"/>
            </a:xfrm>
            <a:prstGeom prst="roundRect">
              <a:avLst>
                <a:gd name="adj" fmla="val 659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11E8C1F-24CA-4E2B-8529-375B057A78F0}"/>
                </a:ext>
              </a:extLst>
            </p:cNvPr>
            <p:cNvGrpSpPr/>
            <p:nvPr/>
          </p:nvGrpSpPr>
          <p:grpSpPr>
            <a:xfrm>
              <a:off x="7677150" y="1885645"/>
              <a:ext cx="3784600" cy="3268211"/>
              <a:chOff x="7677150" y="903967"/>
              <a:chExt cx="3784600" cy="3268211"/>
            </a:xfrm>
          </p:grpSpPr>
          <p:pic>
            <p:nvPicPr>
              <p:cNvPr id="1028" name="Picture 4" descr="Paris Red Highlighted in Map of France Stock Illustration - Illustration of  french, flats: 166289390">
                <a:extLst>
                  <a:ext uri="{FF2B5EF4-FFF2-40B4-BE49-F238E27FC236}">
                    <a16:creationId xmlns:a16="http://schemas.microsoft.com/office/drawing/2014/main" id="{DDD0C207-FDB0-4C2C-A68F-8F6643E6F2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82349" y="903967"/>
                <a:ext cx="3374202" cy="29144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C498EF-4550-4962-8240-0C0D77E446AB}"/>
                  </a:ext>
                </a:extLst>
              </p:cNvPr>
              <p:cNvSpPr txBox="1"/>
              <p:nvPr/>
            </p:nvSpPr>
            <p:spPr>
              <a:xfrm>
                <a:off x="7677150" y="3802846"/>
                <a:ext cx="378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>
                        <a:lumMod val="95000"/>
                      </a:schemeClr>
                    </a:solidFill>
                  </a:rPr>
                  <a:t>The state of Paris on a map of France</a:t>
                </a:r>
                <a:endParaRPr lang="ro-RO" b="1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45496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BA4D17-2129-4F0B-9980-D7F756AE3F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86" b="77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DB9CE0-B19B-4359-9562-4493B082D91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7096" r="56875" b="7786"/>
          <a:stretch/>
        </p:blipFill>
        <p:spPr>
          <a:xfrm>
            <a:off x="-1" y="756224"/>
            <a:ext cx="5257800" cy="6101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A47C77-1D6B-4F6D-8A72-D6DFF1C4D48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86" b="82904"/>
          <a:stretch/>
        </p:blipFill>
        <p:spPr>
          <a:xfrm>
            <a:off x="-2" y="0"/>
            <a:ext cx="12192000" cy="7562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4CC830-42C3-4CE5-B560-F8AE18CCD8AC}"/>
              </a:ext>
            </a:extLst>
          </p:cNvPr>
          <p:cNvSpPr txBox="1"/>
          <p:nvPr/>
        </p:nvSpPr>
        <p:spPr>
          <a:xfrm>
            <a:off x="2886073" y="85725"/>
            <a:ext cx="641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dirty="0"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Cultural Significance of Paris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AF6C1-39A6-41AB-8485-D90D959DD9DD}"/>
              </a:ext>
            </a:extLst>
          </p:cNvPr>
          <p:cNvSpPr txBox="1"/>
          <p:nvPr/>
        </p:nvSpPr>
        <p:spPr>
          <a:xfrm>
            <a:off x="6535" y="756224"/>
            <a:ext cx="525779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Paris is </a:t>
            </a:r>
            <a:r>
              <a:rPr lang="ro-RO" b="1" i="0" dirty="0"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identified</a:t>
            </a:r>
            <a:r>
              <a:rPr lang="en-US" b="1" i="0" dirty="0">
                <a:solidFill>
                  <a:srgbClr val="252528"/>
                </a:solidFill>
                <a:effectLst/>
                <a:latin typeface="LFT Etica Sheriff"/>
              </a:rPr>
              <a:t>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with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art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literature</a:t>
            </a:r>
            <a:r>
              <a:rPr lang="en-US" altLang="ro-RO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and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fashion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often regarded as the cultural capital of the world.</a:t>
            </a:r>
            <a:endParaRPr kumimoji="0" lang="en-US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It</a:t>
            </a:r>
            <a:r>
              <a:rPr kumimoji="0" lang="en-US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’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s home to legendary institutions such as the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Louvre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housing masterpieces like the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Mona Lisa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and the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Venus de Milo.</a:t>
            </a:r>
            <a:endParaRPr kumimoji="0" lang="en-US" altLang="ro-RO" sz="1800" b="1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Paris is also the birthplace of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haute couture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with major fashion houses like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Chanel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Dior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and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Louis Vuitton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headquartered in the city.</a:t>
            </a:r>
            <a:endParaRPr kumimoji="0" lang="en-US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The city's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café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 culture and historic bookshops, such as </a:t>
            </a:r>
            <a:r>
              <a:rPr lang="en-US" altLang="ro-RO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“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Shakespeare and Company</a:t>
            </a:r>
            <a:r>
              <a:rPr kumimoji="0" lang="en-US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”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add to its intellectual charm. </a:t>
            </a:r>
          </a:p>
          <a:p>
            <a:endParaRPr lang="ro-RO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B3BDC04-FD85-4DB6-9832-1DF14A6E602E}"/>
              </a:ext>
            </a:extLst>
          </p:cNvPr>
          <p:cNvGrpSpPr/>
          <p:nvPr/>
        </p:nvGrpSpPr>
        <p:grpSpPr>
          <a:xfrm>
            <a:off x="7413623" y="1812279"/>
            <a:ext cx="3784600" cy="3989666"/>
            <a:chOff x="7677150" y="1560234"/>
            <a:chExt cx="3784600" cy="398966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F9A4E24-BB76-4C7C-BBF7-DC7571E5864A}"/>
                </a:ext>
              </a:extLst>
            </p:cNvPr>
            <p:cNvSpPr/>
            <p:nvPr/>
          </p:nvSpPr>
          <p:spPr>
            <a:xfrm>
              <a:off x="7677150" y="1560234"/>
              <a:ext cx="3784600" cy="3989666"/>
            </a:xfrm>
            <a:prstGeom prst="roundRect">
              <a:avLst>
                <a:gd name="adj" fmla="val 659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p:pic>
          <p:nvPicPr>
            <p:cNvPr id="3074" name="Picture 2" descr="Shakespeare and Company">
              <a:extLst>
                <a:ext uri="{FF2B5EF4-FFF2-40B4-BE49-F238E27FC236}">
                  <a16:creationId xmlns:a16="http://schemas.microsoft.com/office/drawing/2014/main" id="{3CD2FC13-CBAE-4BE5-8A4A-F17174D476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00925" y="1844519"/>
              <a:ext cx="2737050" cy="208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3705DC8-F280-4299-9B0E-5502942F9E91}"/>
                </a:ext>
              </a:extLst>
            </p:cNvPr>
            <p:cNvSpPr txBox="1"/>
            <p:nvPr/>
          </p:nvSpPr>
          <p:spPr>
            <a:xfrm>
              <a:off x="8216900" y="3937000"/>
              <a:ext cx="271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Picture of a “Shakespeare and Company” bookshop</a:t>
              </a:r>
              <a:endParaRPr lang="ro-RO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7294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BA4D17-2129-4F0B-9980-D7F756AE3F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86" b="77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DB9CE0-B19B-4359-9562-4493B082D91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7096" r="56875" b="7786"/>
          <a:stretch/>
        </p:blipFill>
        <p:spPr>
          <a:xfrm>
            <a:off x="-1" y="756224"/>
            <a:ext cx="5257800" cy="6101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A47C77-1D6B-4F6D-8A72-D6DFF1C4D48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86" b="82904"/>
          <a:stretch/>
        </p:blipFill>
        <p:spPr>
          <a:xfrm>
            <a:off x="-2" y="0"/>
            <a:ext cx="12192000" cy="7562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4CC830-42C3-4CE5-B560-F8AE18CCD8AC}"/>
              </a:ext>
            </a:extLst>
          </p:cNvPr>
          <p:cNvSpPr txBox="1"/>
          <p:nvPr/>
        </p:nvSpPr>
        <p:spPr>
          <a:xfrm>
            <a:off x="2886073" y="85725"/>
            <a:ext cx="641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dirty="0"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The Iconic Eiffel Tower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F9A4E24-BB76-4C7C-BBF7-DC7571E5864A}"/>
              </a:ext>
            </a:extLst>
          </p:cNvPr>
          <p:cNvSpPr/>
          <p:nvPr/>
        </p:nvSpPr>
        <p:spPr>
          <a:xfrm>
            <a:off x="7413623" y="1812279"/>
            <a:ext cx="3784600" cy="3989666"/>
          </a:xfrm>
          <a:prstGeom prst="roundRect">
            <a:avLst>
              <a:gd name="adj" fmla="val 6590"/>
            </a:avLst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F2083-A4EC-4B7F-A218-AE6024D720B3}"/>
              </a:ext>
            </a:extLst>
          </p:cNvPr>
          <p:cNvSpPr txBox="1"/>
          <p:nvPr/>
        </p:nvSpPr>
        <p:spPr>
          <a:xfrm>
            <a:off x="1" y="965200"/>
            <a:ext cx="525779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The Eiffel Tower, constructed for the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1889 World’s Fair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was initially criticized by Parisians but later became a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global symbol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of France.</a:t>
            </a:r>
            <a:endParaRPr kumimoji="0" lang="en-US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At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324 meters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 tall, it remained the tallest man-made structure in the world until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1930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.</a:t>
            </a:r>
            <a:endParaRPr kumimoji="0" lang="en-US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Today, the tower attracts nearly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7 million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visitors annually, offering breathtaking views from its three levels.</a:t>
            </a:r>
            <a:endParaRPr kumimoji="0" lang="en-US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It is illuminated nightly with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20,000 twinkling lights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adding to its allure as a romantic landmark. </a:t>
            </a:r>
          </a:p>
          <a:p>
            <a:endParaRPr lang="ro-RO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</a:endParaRPr>
          </a:p>
        </p:txBody>
      </p:sp>
      <p:pic>
        <p:nvPicPr>
          <p:cNvPr id="4101" name="Picture 5" descr="FRANCE: Paris - The Eiffel Tower | Vagabundler">
            <a:extLst>
              <a:ext uri="{FF2B5EF4-FFF2-40B4-BE49-F238E27FC236}">
                <a16:creationId xmlns:a16="http://schemas.microsoft.com/office/drawing/2014/main" id="{A0BF2A52-47B2-4428-8B30-D0662F195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386" y="2177335"/>
            <a:ext cx="2252662" cy="3007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078AF31-EFE4-4971-8134-2377DD07A89B}"/>
              </a:ext>
            </a:extLst>
          </p:cNvPr>
          <p:cNvSpPr txBox="1"/>
          <p:nvPr/>
        </p:nvSpPr>
        <p:spPr>
          <a:xfrm>
            <a:off x="7867648" y="5282982"/>
            <a:ext cx="287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The Eiffel Tower</a:t>
            </a:r>
            <a:endParaRPr lang="ro-RO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985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BA4D17-2129-4F0B-9980-D7F756AE3F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7786" b="77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DB9CE0-B19B-4359-9562-4493B082D91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5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17096" r="56875" b="7786"/>
          <a:stretch/>
        </p:blipFill>
        <p:spPr>
          <a:xfrm>
            <a:off x="-1" y="756224"/>
            <a:ext cx="5257800" cy="6101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A47C77-1D6B-4F6D-8A72-D6DFF1C4D48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5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7786" b="82904"/>
          <a:stretch/>
        </p:blipFill>
        <p:spPr>
          <a:xfrm>
            <a:off x="-2" y="0"/>
            <a:ext cx="12192000" cy="7562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4CC830-42C3-4CE5-B560-F8AE18CCD8AC}"/>
              </a:ext>
            </a:extLst>
          </p:cNvPr>
          <p:cNvSpPr txBox="1"/>
          <p:nvPr/>
        </p:nvSpPr>
        <p:spPr>
          <a:xfrm>
            <a:off x="2886073" y="85725"/>
            <a:ext cx="641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The Majestic Arc de Triomphe</a:t>
            </a:r>
            <a:endParaRPr lang="ro-RO" sz="3200" dirty="0">
              <a:solidFill>
                <a:schemeClr val="bg1">
                  <a:lumMod val="9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F2083-A4EC-4B7F-A218-AE6024D720B3}"/>
              </a:ext>
            </a:extLst>
          </p:cNvPr>
          <p:cNvSpPr txBox="1"/>
          <p:nvPr/>
        </p:nvSpPr>
        <p:spPr>
          <a:xfrm>
            <a:off x="-4" y="756224"/>
            <a:ext cx="525779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Commissioned by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Napoleon Bonaparte in 1806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the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Arc de Triomphe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honors those who fought and died for France during the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Revolutionary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 and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Napoleonic Wars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.</a:t>
            </a:r>
            <a:endParaRPr kumimoji="0" lang="en-US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The monument features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detailed reliefs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depicting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key battles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and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military achievements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.</a:t>
            </a:r>
            <a:endParaRPr kumimoji="0" lang="en-US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Beneath its arches lies</a:t>
            </a:r>
            <a:r>
              <a:rPr kumimoji="0" lang="ro-RO" altLang="ro-RO" sz="18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 the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Tomb of the Unknown Soldier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marked by an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eternal flame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commemorating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World War I casualties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.</a:t>
            </a:r>
            <a:endParaRPr kumimoji="0" lang="en-US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The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Arc de Triomphe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influenced the design of the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Arch of Triumph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in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Bucharest, Romania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built to celebrate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Romania’s independence and honor its soldiers after</a:t>
            </a:r>
            <a:endParaRPr kumimoji="0" lang="en-US" altLang="ro-RO" sz="1800" b="1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ro-RO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 World War I.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endParaRPr lang="ro-RO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18A40D-7B74-4AFE-9C56-7C407B6FB341}"/>
              </a:ext>
            </a:extLst>
          </p:cNvPr>
          <p:cNvGrpSpPr/>
          <p:nvPr/>
        </p:nvGrpSpPr>
        <p:grpSpPr>
          <a:xfrm>
            <a:off x="7413623" y="1812279"/>
            <a:ext cx="3784600" cy="3989666"/>
            <a:chOff x="7677150" y="1560234"/>
            <a:chExt cx="3784600" cy="398966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F9A4E24-BB76-4C7C-BBF7-DC7571E5864A}"/>
                </a:ext>
              </a:extLst>
            </p:cNvPr>
            <p:cNvSpPr/>
            <p:nvPr/>
          </p:nvSpPr>
          <p:spPr>
            <a:xfrm>
              <a:off x="7677150" y="1560234"/>
              <a:ext cx="3784600" cy="3989666"/>
            </a:xfrm>
            <a:prstGeom prst="roundRect">
              <a:avLst>
                <a:gd name="adj" fmla="val 659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78AF31-EFE4-4971-8134-2377DD07A89B}"/>
                </a:ext>
              </a:extLst>
            </p:cNvPr>
            <p:cNvSpPr txBox="1"/>
            <p:nvPr/>
          </p:nvSpPr>
          <p:spPr>
            <a:xfrm>
              <a:off x="8131175" y="5030937"/>
              <a:ext cx="2876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The</a:t>
              </a:r>
              <a:r>
                <a:rPr lang="en-US" sz="1800" dirty="0">
                  <a:solidFill>
                    <a:schemeClr val="bg1">
                      <a:lumMod val="95000"/>
                    </a:schemeClr>
                  </a:solidFill>
                </a:rPr>
                <a:t> Arc de Triomphe</a:t>
              </a:r>
              <a:endParaRPr lang="ro-RO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5123" name="Picture 3">
              <a:extLst>
                <a:ext uri="{FF2B5EF4-FFF2-40B4-BE49-F238E27FC236}">
                  <a16:creationId xmlns:a16="http://schemas.microsoft.com/office/drawing/2014/main" id="{E58D943C-8C8F-4334-92E9-74DAB270E5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9262" y="1928812"/>
              <a:ext cx="3000375" cy="3000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44286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BA4D17-2129-4F0B-9980-D7F756AE3F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7786" b="77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DB9CE0-B19B-4359-9562-4493B082D91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5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17096" r="56875" b="7786"/>
          <a:stretch/>
        </p:blipFill>
        <p:spPr>
          <a:xfrm>
            <a:off x="-1" y="756224"/>
            <a:ext cx="5257800" cy="6101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A47C77-1D6B-4F6D-8A72-D6DFF1C4D48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5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7786" b="82904"/>
          <a:stretch/>
        </p:blipFill>
        <p:spPr>
          <a:xfrm>
            <a:off x="-2" y="0"/>
            <a:ext cx="12192000" cy="7562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4CC830-42C3-4CE5-B560-F8AE18CCD8AC}"/>
              </a:ext>
            </a:extLst>
          </p:cNvPr>
          <p:cNvSpPr txBox="1"/>
          <p:nvPr/>
        </p:nvSpPr>
        <p:spPr>
          <a:xfrm>
            <a:off x="2300875" y="83040"/>
            <a:ext cx="75902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dirty="0"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The Majestic Notre-Dame Cathedral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F8E44-85D7-4301-8AEB-A67224EA4817}"/>
              </a:ext>
            </a:extLst>
          </p:cNvPr>
          <p:cNvSpPr txBox="1"/>
          <p:nvPr/>
        </p:nvSpPr>
        <p:spPr>
          <a:xfrm>
            <a:off x="-415213" y="670500"/>
            <a:ext cx="56730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o-RO" sz="1600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936735-84A1-4F5E-A6D2-D61EB7F56D46}"/>
              </a:ext>
            </a:extLst>
          </p:cNvPr>
          <p:cNvGrpSpPr/>
          <p:nvPr/>
        </p:nvGrpSpPr>
        <p:grpSpPr>
          <a:xfrm>
            <a:off x="7413623" y="2233500"/>
            <a:ext cx="3784600" cy="3049473"/>
            <a:chOff x="7677150" y="1560234"/>
            <a:chExt cx="3784600" cy="304947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F9A4E24-BB76-4C7C-BBF7-DC7571E5864A}"/>
                </a:ext>
              </a:extLst>
            </p:cNvPr>
            <p:cNvSpPr/>
            <p:nvPr/>
          </p:nvSpPr>
          <p:spPr>
            <a:xfrm>
              <a:off x="7677150" y="1560234"/>
              <a:ext cx="3784600" cy="3049473"/>
            </a:xfrm>
            <a:prstGeom prst="roundRect">
              <a:avLst>
                <a:gd name="adj" fmla="val 659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F8AFE2-62DA-4BC4-9D2F-B86BBC301CB1}"/>
                </a:ext>
              </a:extLst>
            </p:cNvPr>
            <p:cNvSpPr txBox="1"/>
            <p:nvPr/>
          </p:nvSpPr>
          <p:spPr>
            <a:xfrm>
              <a:off x="8025354" y="4074934"/>
              <a:ext cx="30211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ro-RO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E3BE59B-EBAA-4CF1-B3BC-DBA8B6D8C1CD}"/>
              </a:ext>
            </a:extLst>
          </p:cNvPr>
          <p:cNvSpPr txBox="1"/>
          <p:nvPr/>
        </p:nvSpPr>
        <p:spPr>
          <a:xfrm>
            <a:off x="7665869" y="4742831"/>
            <a:ext cx="3386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o-RO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8FF94D9-AADA-4169-951E-74630755F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723E40-43AD-4B82-AFC3-D90CD9F58BE5}"/>
              </a:ext>
            </a:extLst>
          </p:cNvPr>
          <p:cNvSpPr txBox="1"/>
          <p:nvPr/>
        </p:nvSpPr>
        <p:spPr>
          <a:xfrm>
            <a:off x="64443" y="479785"/>
            <a:ext cx="5257799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Notre-Dame de Paris 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is one of the most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famous Gothic cathedrals 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in the world, located on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the Île de la Cité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 in the heart of Paris.</a:t>
            </a:r>
            <a:endParaRPr kumimoji="0" lang="en-US" altLang="ro-RO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Construction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began in 1163 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and was completed in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1345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making it an architectural masterpiece with stunning stained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glass windows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intricate sculptures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and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flying buttresses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.</a:t>
            </a:r>
            <a:endParaRPr kumimoji="0" lang="en-US" altLang="ro-RO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The cathedral is home to significant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relics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including what is believed to be the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Crown of Thorns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worn by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Jesus Christ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 during his crucifixion.</a:t>
            </a:r>
            <a:endParaRPr kumimoji="0" lang="en-US" altLang="ro-RO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In 2019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a devastating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fire severely damaged the building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but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restoration efforts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 are underway to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restore this iconic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 landmark to its former glory.</a:t>
            </a:r>
            <a:endParaRPr kumimoji="0" lang="en-US" altLang="ro-RO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Notre-Dame's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iconic bell towers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which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are over 69 meters tall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offer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panoramic views 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of the city from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the top. </a:t>
            </a:r>
          </a:p>
          <a:p>
            <a:endParaRPr lang="ro-RO" sz="1600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</a:endParaRPr>
          </a:p>
        </p:txBody>
      </p:sp>
      <p:pic>
        <p:nvPicPr>
          <p:cNvPr id="1027" name="Picture 3" descr="Pe 8 decembrie va fi oficiată prima Liturghie la Catedrala Notre-Dame - EBS  Radio">
            <a:extLst>
              <a:ext uri="{FF2B5EF4-FFF2-40B4-BE49-F238E27FC236}">
                <a16:creationId xmlns:a16="http://schemas.microsoft.com/office/drawing/2014/main" id="{3C451D0F-C46A-49BD-9185-6C5A25A91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6809" y="2448625"/>
            <a:ext cx="3364670" cy="2243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4EDDD2-67AA-4010-81DD-29BEF737DE72}"/>
              </a:ext>
            </a:extLst>
          </p:cNvPr>
          <p:cNvSpPr txBox="1"/>
          <p:nvPr/>
        </p:nvSpPr>
        <p:spPr>
          <a:xfrm>
            <a:off x="8029573" y="4784072"/>
            <a:ext cx="255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Notre Dame</a:t>
            </a:r>
            <a:endParaRPr lang="ro-RO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881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BA4D17-2129-4F0B-9980-D7F756AE3F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7786" b="77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DB9CE0-B19B-4359-9562-4493B082D91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5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17096" r="56875" b="7786"/>
          <a:stretch/>
        </p:blipFill>
        <p:spPr>
          <a:xfrm>
            <a:off x="-1" y="756224"/>
            <a:ext cx="5257800" cy="6101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A47C77-1D6B-4F6D-8A72-D6DFF1C4D48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5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7786" b="82904"/>
          <a:stretch/>
        </p:blipFill>
        <p:spPr>
          <a:xfrm>
            <a:off x="-2" y="0"/>
            <a:ext cx="12192000" cy="7562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4CC830-42C3-4CE5-B560-F8AE18CCD8AC}"/>
              </a:ext>
            </a:extLst>
          </p:cNvPr>
          <p:cNvSpPr txBox="1"/>
          <p:nvPr/>
        </p:nvSpPr>
        <p:spPr>
          <a:xfrm>
            <a:off x="2886073" y="85725"/>
            <a:ext cx="641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dirty="0"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Interesting Facts About Paris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F8E44-85D7-4301-8AEB-A67224EA4817}"/>
              </a:ext>
            </a:extLst>
          </p:cNvPr>
          <p:cNvSpPr txBox="1"/>
          <p:nvPr/>
        </p:nvSpPr>
        <p:spPr>
          <a:xfrm>
            <a:off x="-4" y="480417"/>
            <a:ext cx="52578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Paris was originally a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Roman city 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named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"Lutetia" 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and has a history spanning over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2,000 years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.</a:t>
            </a:r>
            <a:endParaRPr kumimoji="0" lang="en-US" altLang="ro-RO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The Eiffel Tower 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was once used as a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giant radio antenna 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and played a role in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transmitting signals 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during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World War I.</a:t>
            </a:r>
            <a:endParaRPr kumimoji="0" lang="en-US" altLang="ro-RO" sz="1600" b="1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The city has more than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450 parks and gardens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including the beautiful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Luxembourg Gardens </a:t>
            </a:r>
            <a:r>
              <a:rPr kumimoji="0" lang="ro-RO" altLang="ro-RO" sz="16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and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 Bois de Boulogne.</a:t>
            </a:r>
            <a:endParaRPr kumimoji="0" lang="en-US" altLang="ro-RO" sz="1600" b="1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o-RO" altLang="ro-RO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Paris is known for its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unique underground catacombs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which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house the remains of over 6 million people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arranged in artistic formations.</a:t>
            </a:r>
            <a:endParaRPr kumimoji="0" lang="en-US" altLang="ro-RO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There’s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only one stop sign 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in the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entire city of Paris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located in the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16th arrondissement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, due to the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prevalence of roundabouts 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and </a:t>
            </a:r>
            <a:endParaRPr kumimoji="0" lang="en-US" altLang="ro-RO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Lucida Sans Typewriter" panose="020B05090305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o-RO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  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priority-to-the-right 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Lucida Sans Typewriter" panose="020B0509030504030204" pitchFamily="49" charset="0"/>
              </a:rPr>
              <a:t>rules.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ro-RO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 </a:t>
            </a:r>
            <a:endParaRPr lang="ro-RO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936735-84A1-4F5E-A6D2-D61EB7F56D46}"/>
              </a:ext>
            </a:extLst>
          </p:cNvPr>
          <p:cNvGrpSpPr/>
          <p:nvPr/>
        </p:nvGrpSpPr>
        <p:grpSpPr>
          <a:xfrm>
            <a:off x="7413623" y="2233500"/>
            <a:ext cx="3784600" cy="3049473"/>
            <a:chOff x="7677150" y="1560234"/>
            <a:chExt cx="3784600" cy="304947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F9A4E24-BB76-4C7C-BBF7-DC7571E5864A}"/>
                </a:ext>
              </a:extLst>
            </p:cNvPr>
            <p:cNvSpPr/>
            <p:nvPr/>
          </p:nvSpPr>
          <p:spPr>
            <a:xfrm>
              <a:off x="7677150" y="1560234"/>
              <a:ext cx="3784600" cy="3049473"/>
            </a:xfrm>
            <a:prstGeom prst="roundRect">
              <a:avLst>
                <a:gd name="adj" fmla="val 659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p:pic>
          <p:nvPicPr>
            <p:cNvPr id="6147" name="Picture 3" descr="Catacombs of Paris - Wikipedia">
              <a:extLst>
                <a:ext uri="{FF2B5EF4-FFF2-40B4-BE49-F238E27FC236}">
                  <a16:creationId xmlns:a16="http://schemas.microsoft.com/office/drawing/2014/main" id="{A90208B3-82BF-48AF-8B57-004466D371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04485" y="1827063"/>
              <a:ext cx="3329930" cy="22159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F8AFE2-62DA-4BC4-9D2F-B86BBC301CB1}"/>
                </a:ext>
              </a:extLst>
            </p:cNvPr>
            <p:cNvSpPr txBox="1"/>
            <p:nvPr/>
          </p:nvSpPr>
          <p:spPr>
            <a:xfrm>
              <a:off x="8025354" y="4074934"/>
              <a:ext cx="30211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One of the catacombs in Paris</a:t>
              </a:r>
              <a:endParaRPr lang="ro-RO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6596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BA4D17-2129-4F0B-9980-D7F756AE3F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7786" b="77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CFECEF-8AC7-46FB-B5D4-FA88860C069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5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7786" r="56875" b="7786"/>
          <a:stretch/>
        </p:blipFill>
        <p:spPr>
          <a:xfrm>
            <a:off x="0" y="0"/>
            <a:ext cx="5257799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DB9CE0-B19B-4359-9562-4493B082D91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5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17096" r="56875" b="7786"/>
          <a:stretch/>
        </p:blipFill>
        <p:spPr>
          <a:xfrm>
            <a:off x="-1" y="756224"/>
            <a:ext cx="5257800" cy="6101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A47C77-1D6B-4F6D-8A72-D6DFF1C4D48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5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7786" b="82904"/>
          <a:stretch/>
        </p:blipFill>
        <p:spPr>
          <a:xfrm>
            <a:off x="-2" y="0"/>
            <a:ext cx="12192000" cy="7562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4CC830-42C3-4CE5-B560-F8AE18CCD8AC}"/>
              </a:ext>
            </a:extLst>
          </p:cNvPr>
          <p:cNvSpPr txBox="1"/>
          <p:nvPr/>
        </p:nvSpPr>
        <p:spPr>
          <a:xfrm>
            <a:off x="2886073" y="85725"/>
            <a:ext cx="641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Conclusions</a:t>
            </a:r>
            <a:endParaRPr lang="ro-RO" sz="3200" dirty="0">
              <a:solidFill>
                <a:schemeClr val="bg1">
                  <a:lumMod val="9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F8E44-85D7-4301-8AEB-A67224EA4817}"/>
              </a:ext>
            </a:extLst>
          </p:cNvPr>
          <p:cNvSpPr txBox="1"/>
          <p:nvPr/>
        </p:nvSpPr>
        <p:spPr>
          <a:xfrm>
            <a:off x="-415213" y="670500"/>
            <a:ext cx="5673012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Paris is a city where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history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 and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modernity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 intertwine seamlessly, offering an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unparalleled cultural 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and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architectural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 experience.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From its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iconic landmarks 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like the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Eiffel Tower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 and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Notre Dame Cathedral 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to its charming neighborhoods such as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Montmartre and Le Marais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, Paris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caters to every traveler’s interests.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Known as the city of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love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 and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romance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, Paris continues to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inspire artists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,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writers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, and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dreamers worldwide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Its influence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extends beyond borders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, shaping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global art, cuisine, and fashion for centuries.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Visiting Paris is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not just a trip 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but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a journey into a city 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that celebrates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</a:rPr>
              <a:t>beauty, creativity, and the human spirit.</a:t>
            </a:r>
          </a:p>
          <a:p>
            <a:endParaRPr lang="ro-RO" sz="1600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936735-84A1-4F5E-A6D2-D61EB7F56D46}"/>
              </a:ext>
            </a:extLst>
          </p:cNvPr>
          <p:cNvGrpSpPr/>
          <p:nvPr/>
        </p:nvGrpSpPr>
        <p:grpSpPr>
          <a:xfrm>
            <a:off x="7413623" y="2233500"/>
            <a:ext cx="3784600" cy="3049473"/>
            <a:chOff x="7677150" y="1560234"/>
            <a:chExt cx="3784600" cy="304947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F9A4E24-BB76-4C7C-BBF7-DC7571E5864A}"/>
                </a:ext>
              </a:extLst>
            </p:cNvPr>
            <p:cNvSpPr/>
            <p:nvPr/>
          </p:nvSpPr>
          <p:spPr>
            <a:xfrm>
              <a:off x="7677150" y="1560234"/>
              <a:ext cx="3784600" cy="3049473"/>
            </a:xfrm>
            <a:prstGeom prst="roundRect">
              <a:avLst>
                <a:gd name="adj" fmla="val 659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F8AFE2-62DA-4BC4-9D2F-B86BBC301CB1}"/>
                </a:ext>
              </a:extLst>
            </p:cNvPr>
            <p:cNvSpPr txBox="1"/>
            <p:nvPr/>
          </p:nvSpPr>
          <p:spPr>
            <a:xfrm>
              <a:off x="8025354" y="4074934"/>
              <a:ext cx="30211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ro-RO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7170" name="Picture 2" descr="Paris skyline with Eiffel Tower at sunset in Paris city, France, orpheus26  Fotografie, Tablou | Europosters.ro">
            <a:extLst>
              <a:ext uri="{FF2B5EF4-FFF2-40B4-BE49-F238E27FC236}">
                <a16:creationId xmlns:a16="http://schemas.microsoft.com/office/drawing/2014/main" id="{C140BF55-13FF-47CA-B165-6007E8465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425" y="2328635"/>
            <a:ext cx="3492995" cy="232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3BE59B-EBAA-4CF1-B3BC-DBA8B6D8C1CD}"/>
              </a:ext>
            </a:extLst>
          </p:cNvPr>
          <p:cNvSpPr txBox="1"/>
          <p:nvPr/>
        </p:nvSpPr>
        <p:spPr>
          <a:xfrm>
            <a:off x="7665869" y="4742831"/>
            <a:ext cx="3386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Paris Skyline, with Eiffel Tower</a:t>
            </a:r>
            <a:endParaRPr lang="ro-RO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412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BA4D17-2129-4F0B-9980-D7F756AE3F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5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7786" b="77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DB9CE0-B19B-4359-9562-4493B082D91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5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17096" r="56875" b="7786"/>
          <a:stretch/>
        </p:blipFill>
        <p:spPr>
          <a:xfrm>
            <a:off x="-6467170" y="914975"/>
            <a:ext cx="5257800" cy="6101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A47C77-1D6B-4F6D-8A72-D6DFF1C4D48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5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7786" b="82904"/>
          <a:stretch/>
        </p:blipFill>
        <p:spPr>
          <a:xfrm>
            <a:off x="0" y="-1353810"/>
            <a:ext cx="12192000" cy="7562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F965F0-DB18-4F0C-8558-216C165C550E}"/>
              </a:ext>
            </a:extLst>
          </p:cNvPr>
          <p:cNvSpPr txBox="1"/>
          <p:nvPr/>
        </p:nvSpPr>
        <p:spPr>
          <a:xfrm>
            <a:off x="2616200" y="330200"/>
            <a:ext cx="695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ooper Black" panose="0208090404030B020404" pitchFamily="18" charset="0"/>
              </a:rPr>
              <a:t>The reason we have chosen Paris</a:t>
            </a:r>
            <a:endParaRPr lang="ro-RO" sz="32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17CD3A-D134-4304-9B89-5710225480E2}"/>
              </a:ext>
            </a:extLst>
          </p:cNvPr>
          <p:cNvSpPr txBox="1"/>
          <p:nvPr/>
        </p:nvSpPr>
        <p:spPr>
          <a:xfrm>
            <a:off x="856343" y="1190171"/>
            <a:ext cx="100438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ucida Sans Typewriter" panose="020B0509030504030204" pitchFamily="49" charset="0"/>
              </a:rPr>
              <a:t>1.  Paris is, as discussed, one of the most popular tourist destinations, so we have chosen Paris since of its easy accessibility to information about this beautiful city.</a:t>
            </a:r>
            <a:br>
              <a:rPr lang="en-US" dirty="0">
                <a:solidFill>
                  <a:schemeClr val="bg1"/>
                </a:solidFill>
                <a:latin typeface="Lucida Sans Typewriter" panose="020B0509030504030204" pitchFamily="49" charset="0"/>
              </a:rPr>
            </a:br>
            <a:br>
              <a:rPr lang="en-US" dirty="0">
                <a:solidFill>
                  <a:schemeClr val="bg1"/>
                </a:solidFill>
                <a:latin typeface="Lucida Sans Typewriter" panose="020B05090305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Lucida Sans Typewriter" panose="020B0509030504030204" pitchFamily="49" charset="0"/>
              </a:rPr>
              <a:t>2.  </a:t>
            </a:r>
            <a:r>
              <a:rPr lang="en-US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Mocanu</a:t>
            </a:r>
            <a:r>
              <a:rPr lang="en-US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will go this holiday in Paris</a:t>
            </a:r>
            <a:br>
              <a:rPr lang="en-US" dirty="0">
                <a:solidFill>
                  <a:schemeClr val="bg1"/>
                </a:solidFill>
                <a:latin typeface="Lucida Sans Typewriter" panose="020B0509030504030204" pitchFamily="49" charset="0"/>
              </a:rPr>
            </a:br>
            <a:endParaRPr lang="ro-RO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8161BC-8EBD-4AE2-8E35-3FB869AA2CEB}"/>
              </a:ext>
            </a:extLst>
          </p:cNvPr>
          <p:cNvSpPr txBox="1"/>
          <p:nvPr/>
        </p:nvSpPr>
        <p:spPr>
          <a:xfrm rot="16200000">
            <a:off x="1722524" y="4935202"/>
            <a:ext cx="2723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oper Black" panose="0208090404030B020404" pitchFamily="18" charset="0"/>
              </a:rPr>
              <a:t>WEBOGRAPHY</a:t>
            </a:r>
            <a:endParaRPr lang="ro-RO" sz="2400" b="1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0F3C14-669B-444C-9561-697D32FB7AB9}"/>
              </a:ext>
            </a:extLst>
          </p:cNvPr>
          <p:cNvSpPr txBox="1"/>
          <p:nvPr/>
        </p:nvSpPr>
        <p:spPr>
          <a:xfrm>
            <a:off x="3315122" y="4338410"/>
            <a:ext cx="3218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Text</a:t>
            </a:r>
            <a:r>
              <a:rPr lang="en-US" sz="2400">
                <a:solidFill>
                  <a:schemeClr val="bg1"/>
                </a:solidFill>
                <a:latin typeface="Lucida Sans Typewriter" panose="020B0509030504030204" pitchFamily="49" charset="0"/>
              </a:rPr>
              <a:t>: </a:t>
            </a:r>
            <a:r>
              <a:rPr lang="en-US" sz="2400">
                <a:solidFill>
                  <a:schemeClr val="bg1"/>
                </a:solidFill>
                <a:latin typeface="Lucida Sans Typewriter" panose="020B0509030504030204" pitchFamily="49" charset="0"/>
                <a:hlinkClick r:id="rId7"/>
              </a:rPr>
              <a:t>Wikipedia</a:t>
            </a:r>
            <a:r>
              <a:rPr lang="en-US" sz="2400">
                <a:solidFill>
                  <a:schemeClr val="bg1"/>
                </a:solidFill>
                <a:latin typeface="Lucida Sans Typewriter" panose="020B0509030504030204" pitchFamily="49" charset="0"/>
              </a:rPr>
              <a:t> 	 </a:t>
            </a:r>
            <a:br>
              <a:rPr lang="en-US" sz="2400" dirty="0">
                <a:solidFill>
                  <a:schemeClr val="bg1"/>
                </a:solidFill>
                <a:latin typeface="Lucida Sans Typewriter" panose="020B0509030504030204" pitchFamily="49" charset="0"/>
              </a:rPr>
            </a:br>
            <a:r>
              <a:rPr lang="en-US" sz="2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Images: </a:t>
            </a:r>
            <a:r>
              <a:rPr lang="en-US" sz="2400" dirty="0">
                <a:solidFill>
                  <a:schemeClr val="bg1"/>
                </a:solidFill>
                <a:latin typeface="Lucida Sans Typewriter" panose="020B0509030504030204" pitchFamily="49" charset="0"/>
                <a:hlinkClick r:id="rId7"/>
              </a:rPr>
              <a:t>Wikipedia</a:t>
            </a:r>
            <a:r>
              <a:rPr lang="en-US" sz="2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/</a:t>
            </a:r>
          </a:p>
          <a:p>
            <a:r>
              <a:rPr lang="en-US" sz="24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first ones on Google</a:t>
            </a:r>
            <a:endParaRPr lang="ro-RO" sz="240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538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860</Words>
  <Application>Microsoft Office PowerPoint</Application>
  <PresentationFormat>Widescreen</PresentationFormat>
  <Paragraphs>87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Bernard MT Condensed</vt:lpstr>
      <vt:lpstr>Calibri</vt:lpstr>
      <vt:lpstr>Calibri Light</vt:lpstr>
      <vt:lpstr>Cooper Black</vt:lpstr>
      <vt:lpstr>LFT Etica Sheriff</vt:lpstr>
      <vt:lpstr>Lucida Sans Typewriter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Matei</dc:creator>
  <cp:lastModifiedBy>Laptop22</cp:lastModifiedBy>
  <cp:revision>20</cp:revision>
  <dcterms:created xsi:type="dcterms:W3CDTF">2025-01-24T08:08:05Z</dcterms:created>
  <dcterms:modified xsi:type="dcterms:W3CDTF">2025-02-10T10:44:50Z</dcterms:modified>
</cp:coreProperties>
</file>