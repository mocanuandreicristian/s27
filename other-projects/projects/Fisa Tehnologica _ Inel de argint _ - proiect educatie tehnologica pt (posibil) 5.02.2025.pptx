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63" autoAdjust="0"/>
    <p:restoredTop sz="94660"/>
  </p:normalViewPr>
  <p:slideViewPr>
    <p:cSldViewPr snapToGrid="0">
      <p:cViewPr>
        <p:scale>
          <a:sx n="100" d="100"/>
          <a:sy n="100" d="100"/>
        </p:scale>
        <p:origin x="73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7E42-8775-4B60-B35B-CCFA2F142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88AEB-7872-4EEC-9C62-5944E927B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4B7BA-21E7-4008-AE25-2DAA747E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EE611-29AA-4806-B74C-A864FCCD7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7B4DD-1B24-40B2-810D-5274DD7B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619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6E8A-4FA7-472B-AB2F-19AA97E7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4A62-019E-420B-9182-3F6D50E84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7553B-510C-4303-908E-4FD14E23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A71DF-E74B-4FE0-984A-0CD5025E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A39B4-CCB5-4E19-BD54-F4F32FC8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469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7A18-42B2-4C9D-B10C-A20200EB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44A48-32F4-40AF-9CCD-A69D9B3BC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2A803-404F-4A03-ADF5-370F00FD9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96DE6-946C-4BB7-8534-CA1F2204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38376-A709-41DE-946F-54D7C791E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356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6F20-75F8-4808-B292-21787D711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099DA-E9DE-4B31-BB0C-93886D6C0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EADC6-CC97-4D5B-8AED-E23FDFB04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05F274-188B-417A-B1A6-4684DC484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7C526-3B1B-4B94-8345-1276A6BF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776B5-2BA2-4534-8F6A-E4E3EC846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3886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CA193-BEC3-43FD-9258-C627E572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320DD-17DB-4E50-A677-04FA305D4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8B55A-01B5-4C03-B581-73F78CE78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C26572-F0F1-4C80-8409-51B0A09AA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110000-05F5-4C46-856C-B21835782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448B8-5D39-43DB-AB0B-55C21FF3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6E358E-8B3F-40F5-8181-9D9F2600A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4D4B6-6EB5-4153-A8AB-B8C721C4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241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8D62-EE14-4F9C-8706-F1BFD085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23471-AC99-4AFC-95C5-969ACA69B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4ED71-24B9-4F92-8D84-CA3E9C2B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4B740-A0F0-4D4E-8488-FC76A3E9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7289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667DDA-CC45-4C5E-A236-B8D7F1AA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ACD03-EEFD-46FB-A8C0-DFCE0E9F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7CA6F-B85E-4746-AEAB-FFC7A09C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547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F671-5967-4AA8-8923-4C4542E6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B1542-B209-4484-A472-A0536E158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CD80F-ABDB-43F9-A0C5-9E971F8E1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5AEF8-04C7-4DC5-BAA8-3ABF626C9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A6EFF-CF26-4B37-AB39-AEE34436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B8428-1193-4694-A13B-62300799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5294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FA88-EF2C-4F21-A405-9300F867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E0F2B1-6F5C-4216-837D-1CF3047F4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DB0B3-9F10-492C-AA01-30AD684A0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0489C-190E-4A07-9C31-851F32B7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20D3D-49FA-4C81-BB99-CD7C50B42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1F1A0-0AA1-4032-A0B1-B1B48CBD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6556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C359-0DBB-49D1-98B4-2ED3BC32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BC320-94A2-4CEB-AE19-BFDE07603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64F2A-F9C9-4736-9126-22FD5358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9968C-D0E5-48E0-9E06-0E640DFA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C5F9-3D13-40F9-B226-952E2BF3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101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90188-A3FD-4B2D-BF7B-A36A65A82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E1DE1-27E1-4F98-9C59-AFF14BFF2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3B0F1-62FF-44E2-B09D-790078F3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1E9D1-57D5-4F4B-99C3-570F5E54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7240D-056F-4A1D-80C9-E326BC19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3450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AA818E-E9A4-4BB1-9CC0-41349A294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37100-79F9-4266-A0B5-46EE7B745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F0EDC-32FB-48C6-B398-399CE6820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0FA03-D07F-46C7-9C6B-8C3FC50A7DBB}" type="datetimeFigureOut">
              <a:rPr lang="ro-RO" smtClean="0"/>
              <a:t>02.02.2025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343D4-CC59-450D-9AE2-F787C7054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4D1BC-4C49-4536-B40A-5FDAE7117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9397E-DCBC-488F-A814-5110DC762197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5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55890350-B045-4241-ABE2-D9B1A8DD9081}"/>
              </a:ext>
            </a:extLst>
          </p:cNvPr>
          <p:cNvSpPr txBox="1"/>
          <p:nvPr/>
        </p:nvSpPr>
        <p:spPr>
          <a:xfrm>
            <a:off x="826125" y="823347"/>
            <a:ext cx="10539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Fisa</a:t>
            </a:r>
            <a:r>
              <a:rPr lang="en-US" sz="7200" dirty="0">
                <a:solidFill>
                  <a:schemeClr val="bg1"/>
                </a:solidFill>
                <a:latin typeface="Harlow Solid Italic" panose="04030604020F02020D02" pitchFamily="82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Tehnologica</a:t>
            </a:r>
            <a:r>
              <a:rPr lang="en-US" sz="7200" dirty="0">
                <a:solidFill>
                  <a:schemeClr val="bg1"/>
                </a:solidFill>
                <a:latin typeface="Harlow Solid Italic" panose="04030604020F02020D02" pitchFamily="82" charset="0"/>
              </a:rPr>
              <a:t> </a:t>
            </a:r>
            <a:br>
              <a:rPr lang="en-US" sz="7200" dirty="0">
                <a:solidFill>
                  <a:schemeClr val="bg1"/>
                </a:solidFill>
                <a:latin typeface="Harlow Solid Italic" panose="04030604020F02020D02" pitchFamily="82" charset="0"/>
              </a:rPr>
            </a:br>
            <a:r>
              <a:rPr lang="en-US" sz="9600" dirty="0">
                <a:solidFill>
                  <a:schemeClr val="bg1"/>
                </a:solidFill>
                <a:latin typeface="Harlow Solid Italic" panose="04030604020F02020D02" pitchFamily="82" charset="0"/>
              </a:rPr>
              <a:t>- </a:t>
            </a:r>
            <a:r>
              <a:rPr lang="en-US" sz="96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Inel</a:t>
            </a:r>
            <a:r>
              <a:rPr lang="en-US" sz="9600" dirty="0">
                <a:solidFill>
                  <a:schemeClr val="bg1"/>
                </a:solidFill>
                <a:latin typeface="Harlow Solid Italic" panose="04030604020F02020D02" pitchFamily="82" charset="0"/>
              </a:rPr>
              <a:t> de </a:t>
            </a:r>
            <a:r>
              <a:rPr lang="en-US" sz="96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Argint</a:t>
            </a:r>
            <a:r>
              <a:rPr lang="en-US" sz="9600" dirty="0">
                <a:solidFill>
                  <a:schemeClr val="bg1"/>
                </a:solidFill>
                <a:latin typeface="Harlow Solid Italic" panose="04030604020F02020D02" pitchFamily="82" charset="0"/>
              </a:rPr>
              <a:t> -</a:t>
            </a:r>
            <a:endParaRPr lang="ro-RO" sz="7200" dirty="0">
              <a:solidFill>
                <a:schemeClr val="bg1"/>
              </a:solidFill>
              <a:latin typeface="Harlow Solid Italic" panose="04030604020F02020D02" pitchFamily="82" charset="0"/>
            </a:endParaRPr>
          </a:p>
        </p:txBody>
      </p:sp>
      <p:pic>
        <p:nvPicPr>
          <p:cNvPr id="1026" name="Picture 2" descr="Inel argint Eleganta Eterna">
            <a:extLst>
              <a:ext uri="{FF2B5EF4-FFF2-40B4-BE49-F238E27FC236}">
                <a16:creationId xmlns:a16="http://schemas.microsoft.com/office/drawing/2014/main" id="{041A829B-9A05-4C7B-AA27-ABE805AD8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0" y="3733800"/>
            <a:ext cx="2838450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3737773-0CFC-48F1-BC72-6CBACF7EC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162300"/>
            <a:ext cx="2198975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097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5957943-ABC5-431C-8E4B-A35F4A3BA4CB}"/>
              </a:ext>
            </a:extLst>
          </p:cNvPr>
          <p:cNvSpPr txBox="1"/>
          <p:nvPr/>
        </p:nvSpPr>
        <p:spPr>
          <a:xfrm>
            <a:off x="1320800" y="2705725"/>
            <a:ext cx="9550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Fisa de documentare</a:t>
            </a:r>
          </a:p>
        </p:txBody>
      </p:sp>
    </p:spTree>
    <p:extLst>
      <p:ext uri="{BB962C8B-B14F-4D97-AF65-F5344CB8AC3E}">
        <p14:creationId xmlns:p14="http://schemas.microsoft.com/office/powerpoint/2010/main" val="12134216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7FEB4-5E7E-4A2F-9576-855B38AC8841}"/>
              </a:ext>
            </a:extLst>
          </p:cNvPr>
          <p:cNvSpPr txBox="1"/>
          <p:nvPr/>
        </p:nvSpPr>
        <p:spPr>
          <a:xfrm>
            <a:off x="3272971" y="3186226"/>
            <a:ext cx="5733143" cy="3671774"/>
          </a:xfrm>
          <a:prstGeom prst="rect">
            <a:avLst/>
          </a:prstGeom>
          <a:noFill/>
        </p:spPr>
        <p:txBody>
          <a:bodyPr wrap="square" numCol="2" spcCol="457200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2. Simbolistică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Protecție spirituală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Eleganță și rafinament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Simbol al legăturii și al angajamentului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o-RO" sz="2000" dirty="0">
              <a:solidFill>
                <a:schemeClr val="bg1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Utilizare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Bijuterie de zi cu zi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Inel de logodnă sau verighetă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Amuletă sau talisman </a:t>
            </a:r>
            <a:endParaRPr lang="ro-RO" sz="2000" b="1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4BBD0-C6EB-42CD-B405-1142B71EC547}"/>
              </a:ext>
            </a:extLst>
          </p:cNvPr>
          <p:cNvSpPr txBox="1"/>
          <p:nvPr/>
        </p:nvSpPr>
        <p:spPr>
          <a:xfrm>
            <a:off x="2365828" y="847781"/>
            <a:ext cx="7547428" cy="2581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Istoric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Argintul a fost folosit pentru bijuterii din Antichitate, fiind asociat cu protecție și puritate. Civilizații precum egiptenii, romanii și celții au utilizat argintul pentru confecționarea de inele, considerându-l un simbol al puterii și al statutului social.  </a:t>
            </a:r>
          </a:p>
          <a:p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3639311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CB2B5-CD0E-4B7E-8B1B-B6AFFE8D95D2}"/>
              </a:ext>
            </a:extLst>
          </p:cNvPr>
          <p:cNvSpPr txBox="1"/>
          <p:nvPr/>
        </p:nvSpPr>
        <p:spPr>
          <a:xfrm>
            <a:off x="2307771" y="2705725"/>
            <a:ext cx="75764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Fisa tehnlogica</a:t>
            </a:r>
          </a:p>
        </p:txBody>
      </p:sp>
    </p:spTree>
    <p:extLst>
      <p:ext uri="{BB962C8B-B14F-4D97-AF65-F5344CB8AC3E}">
        <p14:creationId xmlns:p14="http://schemas.microsoft.com/office/powerpoint/2010/main" val="1524479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7FEB4-5E7E-4A2F-9576-855B38AC8841}"/>
              </a:ext>
            </a:extLst>
          </p:cNvPr>
          <p:cNvSpPr txBox="1"/>
          <p:nvPr/>
        </p:nvSpPr>
        <p:spPr>
          <a:xfrm>
            <a:off x="344262" y="276307"/>
            <a:ext cx="5229224" cy="6836680"/>
          </a:xfrm>
          <a:prstGeom prst="rect">
            <a:avLst/>
          </a:prstGeom>
          <a:noFill/>
        </p:spPr>
        <p:txBody>
          <a:bodyPr wrap="square" numCol="1" spcCol="0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Date Generale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Denumire produs: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Inel de argint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Material: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Argint 925 (92,5% argint, 7,5% cupru)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Dimensiuni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: Variabile, în funcție de mărime (ex. diametru interior 16-22 mm)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Greutate: 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3-10 g (dependență de model)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Finisaj: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Lucios, mat, patinat, oxidat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Metoda de fabricație: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Turnare, forjare, frezare, gravare, sudură, polizare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Utilizare: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Bijuterie decorativă pentru degete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Materiale și Componente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Argint 925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 (argint: 92,5% | cupru: 7,5%)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Pietre prețioase/semi-prețioase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(opțional)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Acoperiri de protecție 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(rodium, patinare, oxidare)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o-RO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91FF87-6EE0-4388-88A6-872398FB7DD3}"/>
              </a:ext>
            </a:extLst>
          </p:cNvPr>
          <p:cNvSpPr txBox="1"/>
          <p:nvPr/>
        </p:nvSpPr>
        <p:spPr>
          <a:xfrm>
            <a:off x="5834742" y="276307"/>
            <a:ext cx="5849257" cy="675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b="1" i="1" dirty="0">
                <a:solidFill>
                  <a:schemeClr val="bg1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Proces Tehnologic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Proiectare și design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Obținerea semifabricatului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Prelucrare și modelare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Asamblare și finisare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Controlul calității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b="1" i="1" dirty="0">
                <a:solidFill>
                  <a:schemeClr val="bg1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b="1" i="1" dirty="0">
                <a:solidFill>
                  <a:schemeClr val="bg1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Caracteristici Tehnice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Densitate: 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~10,5 g/cm³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Punct de topire: 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~961°C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Duritate Mohs: 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2,5–3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Rezistență la oxidare: 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Protejat prin rodiere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18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5. Ambalare și Depozitare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Ambalaj: 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Cutie de bijuterii, punguță anti-oxidare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1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Depozitare:</a:t>
            </a:r>
            <a:r>
              <a:rPr lang="ro-RO" sz="1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Loc uscat, ferit de umiditate  </a:t>
            </a:r>
          </a:p>
          <a:p>
            <a:endParaRPr lang="ro-RO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648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CB2B5-CD0E-4B7E-8B1B-B6AFFE8D95D2}"/>
              </a:ext>
            </a:extLst>
          </p:cNvPr>
          <p:cNvSpPr txBox="1"/>
          <p:nvPr/>
        </p:nvSpPr>
        <p:spPr>
          <a:xfrm>
            <a:off x="2307771" y="2705725"/>
            <a:ext cx="75764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Fisa de calitate</a:t>
            </a:r>
          </a:p>
        </p:txBody>
      </p:sp>
    </p:spTree>
    <p:extLst>
      <p:ext uri="{BB962C8B-B14F-4D97-AF65-F5344CB8AC3E}">
        <p14:creationId xmlns:p14="http://schemas.microsoft.com/office/powerpoint/2010/main" val="12117888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7FEB4-5E7E-4A2F-9576-855B38AC8841}"/>
              </a:ext>
            </a:extLst>
          </p:cNvPr>
          <p:cNvSpPr txBox="1"/>
          <p:nvPr/>
        </p:nvSpPr>
        <p:spPr>
          <a:xfrm>
            <a:off x="3212874" y="665871"/>
            <a:ext cx="5766252" cy="6322757"/>
          </a:xfrm>
          <a:prstGeom prst="rect">
            <a:avLst/>
          </a:prstGeom>
          <a:noFill/>
        </p:spPr>
        <p:txBody>
          <a:bodyPr wrap="square" numCol="1" spcCol="0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4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1. Cerințe de Calitate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Puritate: </a:t>
            </a: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Minimum 92,5% argint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Marcaj: </a:t>
            </a: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Stampilă 925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Suprafață: </a:t>
            </a: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Fără zgârieturi vizibile sau porozități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Soluții de protecție: </a:t>
            </a: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Rodiere opțională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4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Testare și Verificare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Testare chimică pentru puritate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Verificare dimensiuni și greutate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Inspecție vizuală a finisajului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4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o-RO" sz="2400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495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CB2B5-CD0E-4B7E-8B1B-B6AFFE8D95D2}"/>
              </a:ext>
            </a:extLst>
          </p:cNvPr>
          <p:cNvSpPr txBox="1"/>
          <p:nvPr/>
        </p:nvSpPr>
        <p:spPr>
          <a:xfrm>
            <a:off x="2307771" y="2705725"/>
            <a:ext cx="75764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Fisa de</a:t>
            </a:r>
            <a:r>
              <a:rPr lang="en-US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costuri</a:t>
            </a:r>
            <a:endParaRPr lang="ro-RO" sz="8800" dirty="0">
              <a:solidFill>
                <a:schemeClr val="bg1"/>
              </a:solidFill>
              <a:latin typeface="Harlow Solid Italic" panose="04030604020F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3667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7FEB4-5E7E-4A2F-9576-855B38AC8841}"/>
              </a:ext>
            </a:extLst>
          </p:cNvPr>
          <p:cNvSpPr txBox="1"/>
          <p:nvPr/>
        </p:nvSpPr>
        <p:spPr>
          <a:xfrm>
            <a:off x="2448265" y="194973"/>
            <a:ext cx="7295469" cy="7114961"/>
          </a:xfrm>
          <a:prstGeom prst="rect">
            <a:avLst/>
          </a:prstGeom>
          <a:noFill/>
        </p:spPr>
        <p:txBody>
          <a:bodyPr wrap="square" numCol="1" spcCol="0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Costuri Materiale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Argint 925: 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~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15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25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lei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/g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Pietre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pretioase</a:t>
            </a:r>
            <a:r>
              <a:rPr lang="en-US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/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semipretioase</a:t>
            </a:r>
            <a:r>
              <a:rPr lang="en-US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(opțional): 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25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250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lei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Finisaj (rhodiu, patinare): 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10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50 lei</a:t>
            </a:r>
            <a:endParaRPr lang="ro-RO" sz="2000" dirty="0">
              <a:solidFill>
                <a:schemeClr val="bg1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Costuri de Producție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Manoperă: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50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150lei</a:t>
            </a:r>
            <a:endParaRPr lang="ro-RO" sz="2000" dirty="0">
              <a:solidFill>
                <a:schemeClr val="bg1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Energie și consumabile: 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25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75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lei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2000" dirty="0">
              <a:solidFill>
                <a:schemeClr val="bg1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o-RO" sz="2000" dirty="0">
              <a:solidFill>
                <a:schemeClr val="bg1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Costuri de Comercializare 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Ambalaj: 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10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25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lei</a:t>
            </a:r>
            <a:endParaRPr lang="ro-RO" sz="2000" dirty="0">
              <a:solidFill>
                <a:schemeClr val="bg1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Profit estimat: </a:t>
            </a: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20-50%  </a:t>
            </a:r>
            <a:endParaRPr lang="en-US" sz="2000" dirty="0">
              <a:solidFill>
                <a:schemeClr val="bg1"/>
              </a:solidFill>
              <a:effectLst/>
              <a:latin typeface="Bahnschrift Light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br>
              <a:rPr lang="en-US" sz="2800" dirty="0">
                <a:solidFill>
                  <a:schemeClr val="bg1"/>
                </a:solidFill>
                <a:latin typeface="Bahnschrift Light" panose="020B0502040204020203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Bahnschrift Light" panose="020B0502040204020203" pitchFamily="34" charset="0"/>
              </a:rPr>
              <a:t>Cost final (un </a:t>
            </a:r>
            <a:r>
              <a:rPr lang="en-US" sz="2000" dirty="0" err="1">
                <a:solidFill>
                  <a:schemeClr val="bg1"/>
                </a:solidFill>
                <a:latin typeface="Bahnschrift Light" panose="020B0502040204020203" pitchFamily="34" charset="0"/>
              </a:rPr>
              <a:t>inel</a:t>
            </a:r>
            <a:r>
              <a:rPr lang="en-US" sz="2000" dirty="0">
                <a:solidFill>
                  <a:schemeClr val="bg1"/>
                </a:solidFill>
                <a:latin typeface="Bahnschrift Light" panose="020B0502040204020203" pitchFamily="34" charset="0"/>
              </a:rPr>
              <a:t> cu 80g </a:t>
            </a:r>
            <a:r>
              <a:rPr lang="en-US" sz="2000" dirty="0" err="1">
                <a:solidFill>
                  <a:schemeClr val="bg1"/>
                </a:solidFill>
                <a:latin typeface="Bahnschrift Light" panose="020B0502040204020203" pitchFamily="34" charset="0"/>
              </a:rPr>
              <a:t>argint</a:t>
            </a:r>
            <a:r>
              <a:rPr lang="en-US" sz="2000" dirty="0">
                <a:solidFill>
                  <a:schemeClr val="bg1"/>
                </a:solidFill>
                <a:latin typeface="Bahnschrift Light" panose="020B0502040204020203" pitchFamily="34" charset="0"/>
              </a:rPr>
              <a:t> 925, </a:t>
            </a:r>
            <a:r>
              <a:rPr lang="en-US" sz="2000" dirty="0" err="1">
                <a:solidFill>
                  <a:schemeClr val="bg1"/>
                </a:solidFill>
                <a:latin typeface="Bahnschrift Light" panose="020B0502040204020203" pitchFamily="34" charset="0"/>
              </a:rPr>
              <a:t>fara</a:t>
            </a:r>
            <a:r>
              <a:rPr lang="en-US" sz="2000" dirty="0">
                <a:solidFill>
                  <a:schemeClr val="bg1"/>
                </a:solidFill>
                <a:latin typeface="Bahnschrift Ligh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Light" panose="020B0502040204020203" pitchFamily="34" charset="0"/>
              </a:rPr>
              <a:t>pietre</a:t>
            </a:r>
            <a:r>
              <a:rPr lang="en-US" sz="2000" dirty="0">
                <a:solidFill>
                  <a:schemeClr val="bg1"/>
                </a:solidFill>
                <a:latin typeface="Bahnschrift Ligh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Light" panose="020B0502040204020203" pitchFamily="34" charset="0"/>
              </a:rPr>
              <a:t>pretioase</a:t>
            </a:r>
            <a:r>
              <a:rPr lang="en-US" sz="2000" dirty="0">
                <a:solidFill>
                  <a:schemeClr val="bg1"/>
                </a:solidFill>
                <a:latin typeface="Bahnschrift Light" panose="020B0502040204020203" pitchFamily="34" charset="0"/>
              </a:rPr>
              <a:t>):</a:t>
            </a:r>
            <a:br>
              <a:rPr lang="en-US" sz="2000" dirty="0">
                <a:solidFill>
                  <a:schemeClr val="bg1"/>
                </a:solidFill>
                <a:latin typeface="Bahnschrift Light" panose="020B0502040204020203" pitchFamily="34" charset="0"/>
              </a:rPr>
            </a:br>
            <a:r>
              <a:rPr lang="en-US" sz="28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 1555 – 3500 lei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o-RO" sz="2800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194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CB2B5-CD0E-4B7E-8B1B-B6AFFE8D95D2}"/>
              </a:ext>
            </a:extLst>
          </p:cNvPr>
          <p:cNvSpPr txBox="1"/>
          <p:nvPr/>
        </p:nvSpPr>
        <p:spPr>
          <a:xfrm>
            <a:off x="1930400" y="2705725"/>
            <a:ext cx="8331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Fisa de</a:t>
            </a:r>
            <a:r>
              <a:rPr lang="en-US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securitate</a:t>
            </a:r>
            <a:endParaRPr lang="ro-RO" sz="8800" dirty="0">
              <a:solidFill>
                <a:schemeClr val="bg1"/>
              </a:solidFill>
              <a:latin typeface="Harlow Solid Italic" panose="04030604020F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214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7FEB4-5E7E-4A2F-9576-855B38AC8841}"/>
              </a:ext>
            </a:extLst>
          </p:cNvPr>
          <p:cNvSpPr txBox="1"/>
          <p:nvPr/>
        </p:nvSpPr>
        <p:spPr>
          <a:xfrm>
            <a:off x="2361038" y="1136408"/>
            <a:ext cx="7469924" cy="5200911"/>
          </a:xfrm>
          <a:prstGeom prst="rect">
            <a:avLst/>
          </a:prstGeom>
          <a:noFill/>
        </p:spPr>
        <p:txBody>
          <a:bodyPr wrap="square" numCol="1" spcCol="0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8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Riscuri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Alergii: </a:t>
            </a:r>
            <a:r>
              <a:rPr lang="ro-RO" sz="2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Posibile reacții la aliajul de cupru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800" b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Oxidare: </a:t>
            </a:r>
            <a:r>
              <a:rPr lang="ro-RO" sz="2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Poate cauza pătarea pielii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o-RO" sz="28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Recomandări de întreținere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Evitarea contactului cu substanțe chimice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Curățare regulată cu soluții speciale 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8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Depozitare în mediu uscat  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o-RO" sz="4000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7578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3CB2B5-CD0E-4B7E-8B1B-B6AFFE8D95D2}"/>
              </a:ext>
            </a:extLst>
          </p:cNvPr>
          <p:cNvSpPr txBox="1"/>
          <p:nvPr/>
        </p:nvSpPr>
        <p:spPr>
          <a:xfrm>
            <a:off x="1930400" y="2705725"/>
            <a:ext cx="8331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Fisa de</a:t>
            </a:r>
            <a:r>
              <a:rPr lang="en-US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 marketing</a:t>
            </a:r>
            <a:endParaRPr lang="ro-RO" sz="8800" dirty="0">
              <a:solidFill>
                <a:schemeClr val="bg1"/>
              </a:solidFill>
              <a:latin typeface="Harlow Solid Italic" panose="04030604020F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207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">
        <p159:morph option="byObject"/>
      </p:transition>
    </mc:Choice>
    <mc:Fallback>
      <p:transition spd="slow" advTm="1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7FEB4-5E7E-4A2F-9576-855B38AC8841}"/>
              </a:ext>
            </a:extLst>
          </p:cNvPr>
          <p:cNvSpPr txBox="1"/>
          <p:nvPr/>
        </p:nvSpPr>
        <p:spPr>
          <a:xfrm>
            <a:off x="2361038" y="0"/>
            <a:ext cx="7469924" cy="7500002"/>
          </a:xfrm>
          <a:prstGeom prst="rect">
            <a:avLst/>
          </a:prstGeom>
          <a:noFill/>
        </p:spPr>
        <p:txBody>
          <a:bodyPr wrap="square" numCol="1" spcCol="0" rtlCol="0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Obiective: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Creșterea notorietății brandului și a vânzărilor.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Fidelizarea clienților prin oferte și personalizare.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</a:t>
            </a: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Public Țintă: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Vârstă: 18-45 ani, atât bărbați, cât și femei.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Interesați de modă, bijuterii și cadouri speciale.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</a:t>
            </a: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Canale de Marketing: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Online: Website, Instagram, Facebook, Google Ads.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Offline: Magazine fizice, târguri de bijuterii, colaborări cu influenceri.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</a:t>
            </a: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Mesaje Cheie: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Design unic și personalizat.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Calitate superioară și producție responsabilă.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</a:t>
            </a:r>
            <a:r>
              <a:rPr lang="ro-RO" sz="2000" b="1" i="1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Strategii: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Promoții sezoniere și oferte personalizate.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bg1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Colaborări cu influenceri și testimoniale.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ro-RO" sz="4400" dirty="0">
              <a:solidFill>
                <a:schemeClr val="bg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405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06BDC-9402-4B63-A2F0-B9510C09334E}"/>
              </a:ext>
            </a:extLst>
          </p:cNvPr>
          <p:cNvSpPr txBox="1"/>
          <p:nvPr/>
        </p:nvSpPr>
        <p:spPr>
          <a:xfrm>
            <a:off x="1843314" y="2367171"/>
            <a:ext cx="850537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Multumim</a:t>
            </a:r>
            <a:r>
              <a:rPr lang="en-US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pentru</a:t>
            </a:r>
            <a:r>
              <a:rPr lang="en-US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 </a:t>
            </a:r>
            <a:r>
              <a:rPr lang="en-US" sz="8800" dirty="0" err="1">
                <a:solidFill>
                  <a:schemeClr val="bg1"/>
                </a:solidFill>
                <a:latin typeface="Harlow Solid Italic" panose="04030604020F02020D02" pitchFamily="82" charset="0"/>
              </a:rPr>
              <a:t>atentie</a:t>
            </a:r>
            <a:r>
              <a:rPr lang="en-US" sz="8800" dirty="0">
                <a:solidFill>
                  <a:schemeClr val="bg1"/>
                </a:solidFill>
                <a:latin typeface="Harlow Solid Italic" panose="04030604020F02020D02" pitchFamily="82" charset="0"/>
              </a:rPr>
              <a:t>! </a:t>
            </a:r>
            <a:endParaRPr lang="ro-RO" sz="8800" dirty="0">
              <a:solidFill>
                <a:schemeClr val="bg1"/>
              </a:solidFill>
              <a:latin typeface="Harlow Solid Italic" panose="04030604020F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8453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580</Words>
  <Application>Microsoft Office PowerPoint</Application>
  <PresentationFormat>Widescreen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Bahnschrift Light</vt:lpstr>
      <vt:lpstr>Calibri</vt:lpstr>
      <vt:lpstr>Calibri Light</vt:lpstr>
      <vt:lpstr>Harlow Solid Italic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Matei</dc:creator>
  <cp:lastModifiedBy>Matei</cp:lastModifiedBy>
  <cp:revision>8</cp:revision>
  <dcterms:created xsi:type="dcterms:W3CDTF">2025-02-02T16:19:09Z</dcterms:created>
  <dcterms:modified xsi:type="dcterms:W3CDTF">2025-02-02T17:24:51Z</dcterms:modified>
</cp:coreProperties>
</file>