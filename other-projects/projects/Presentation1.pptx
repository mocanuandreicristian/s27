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2" r:id="rId4"/>
    <p:sldId id="260" r:id="rId5"/>
    <p:sldId id="261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FFEB3B"/>
    <a:srgbClr val="1E3A8A"/>
    <a:srgbClr val="FF4C4C"/>
    <a:srgbClr val="B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1" autoAdjust="0"/>
    <p:restoredTop sz="94660"/>
  </p:normalViewPr>
  <p:slideViewPr>
    <p:cSldViewPr snapToGrid="0">
      <p:cViewPr>
        <p:scale>
          <a:sx n="10" d="100"/>
          <a:sy n="10" d="100"/>
        </p:scale>
        <p:origin x="2808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B0D0E-5ADB-48D8-A29D-31B4C374245E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C6B57-B98E-44C0-97C9-BBA372F0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3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A7D4-DFA6-EF4E-8ADB-D110023A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94FAC-B39E-5121-9209-9555609E5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6E8D1-9909-0DAC-C041-15A81C575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6521E-27C3-00F0-4213-FA57571DF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99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CDF2-CAF7-EEE8-AE96-1E3D5E7A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F916D-E5BD-DBDC-6EC7-44A888B90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48CA9-3B14-E835-0965-DC6A3366C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5B5A4-F925-6D8B-1F01-A93D56FEB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44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EE03-6C5D-2CDF-3ED8-32918424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FC728-989D-8531-E216-1C5752B8A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70C22-CF1F-4609-F3E0-E29EF424D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820A3-7FEB-1EE4-B7A7-54B184B65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55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E634-BA28-92B1-6649-2401FBAF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16C3E-C9DD-2349-AF52-09D4592DD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811C7-F307-CAD9-578F-2D75B6BD6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806AD-7A0C-837D-7BC6-2240A2D36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98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6888-6CBB-1EA6-059C-5BD473DA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2CFD4-9C33-8522-C83E-3AD4B9FD6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E7CE4-3A6D-7BE5-ADE3-9A8F7F10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C2C73-FCE4-5D42-9F77-A9975E57D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4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A36F-E30C-31BE-665C-A2FA33AE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977F7-050F-E91C-F1E2-69B5F667D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2BFF6-9827-2273-64D7-9F4AC6F22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04FC-F230-8CE4-BA55-82D61BABD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C6B57-B98E-44C0-97C9-BBA372F070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41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562F-4747-85E9-7BBC-CE70D9F5A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66110-2266-721E-AC1F-4744AF0DC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FD10-55D8-1E3D-4149-7422321D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AE75-5C4B-836D-B5A4-168989B4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F85BF-DE2A-5F5E-D650-A266C20B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3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A51D-D2A4-AA4A-14F9-580F5B98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FAA38-76C9-396C-F0B2-65E043ED6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3810-1542-D7FB-5249-D3B3E956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88B61-812F-D78C-4001-36D94BA3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E4D5-263E-2C0E-8CB1-3AB68E78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1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83FB-7F5E-4699-44BE-C39D20418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38AA3-216C-E4F1-7693-1B7CEC40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D1AE-4DA1-5082-18F4-66103423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58B5-BAE9-81B3-CB6D-BAE45F9B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6EF8A-7FE7-1D08-A981-757A1154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2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02CA-F48C-A51E-3071-75EAC60D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6CD0-C5F2-C678-AF70-CE1AAA6C9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C3178-D8B0-A5AD-D831-2995DE7AB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846B4-EBDB-68D7-0C5F-9B6A464B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D8493-4044-0D0F-391E-BF5F6120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3BE36-2AA2-F763-44B0-10F9FB42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1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FF75-D7F1-91AC-2BA7-27140211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CF9CD-C749-F5F0-D830-4CD1DE038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947F0-BC92-C7EB-F7BD-B91F79071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0F0FA-B753-3181-5546-E85584D67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F8F75-C52A-8A59-0237-16677DACC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0F507-888E-3D84-BD3C-E8802700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A7EF-619E-1A7F-461B-21FF0D3AC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F32F7E-CD9F-C636-F04D-837A36A7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3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334F-8853-9795-AA05-40D7E1EA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B04A3-174C-0C74-40EB-21AF991F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52FE-A05B-2DD2-97B8-F88A8C83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9EE2A-16BE-C57C-DD7D-E1A9CA52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1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A7FED-EDD9-2F1F-E365-1F245B3B3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78C41-56A2-96ED-420E-F9352AC1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1F060-5544-8797-EC36-79580417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1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B029-E392-BD3D-BAF2-FE2D21AF9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DFE4-7E6C-35C7-8C3B-2F260EAE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F5312-BF2C-D603-0E8B-3E9AC491C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1C0BF-8B25-A633-97FB-7E6AB9D0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75C68-5169-D0B1-9AD9-15353B74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3E07D-87C9-CEBF-91E3-BC6EFBA8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DFF6-28F0-0E57-C355-415E2AFD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D927B-A9CB-DD67-07C0-2FA6F7782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9E07B-9FF3-DA56-FECE-23C6CA1E6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54AC0-DA7E-952A-5D2F-499557BD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4A8E0-6BB5-49DD-557D-C6255585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2D23-83C7-533B-9F89-E3F1D852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25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B70C-6653-8049-054A-35C5EC2F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B1D9F-EA6B-BC64-C009-9C94B5765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7667-E370-8103-AEC3-C7C3B377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33FA-7B98-0331-B1D5-4F6D065A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0154-EFD6-1F2D-EEEF-49D57A6F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9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E4406-FC1C-5919-B514-1A372E7A1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DACE2-9862-DFF7-B52F-4EFD9A10A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A84E-4999-9201-1B31-E8F7813F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3A4C-4947-EAC5-69D9-559E7E4F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570F1-B5B0-25A0-7FE6-DEDAB2A9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2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4F5F6-00B4-C007-0279-1AFB4FBD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B5A-2DF3-F306-D243-3976D6B05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B5B57-BCB3-2458-7BBF-665CF2798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CDAB4-E85B-403A-B5DC-4E9CF5ACEFF3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C3754-91E5-A22E-4AB1-95F12E68C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AD43-B50C-2B46-5E8E-57A29BDF5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A6B32-2D14-4F2E-A01C-218CEEFAB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17/06/relationships/model3d" Target="../media/model3d1.glb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17/06/relationships/model3d" Target="../media/model3d1.glb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17/06/relationships/model3d" Target="../media/model3d1.glb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17/06/relationships/model3d" Target="../media/model3d1.glb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17/06/relationships/model3d" Target="../media/model3d1.glb"/><Relationship Id="rId13" Type="http://schemas.openxmlformats.org/officeDocument/2006/relationships/hyperlink" Target="https://www.youtube.com/watch?v=Mr54nqD1URA" TargetMode="External"/><Relationship Id="rId3" Type="http://schemas.microsoft.com/office/2007/relationships/media" Target="../media/media2.mp3"/><Relationship Id="rId7" Type="http://schemas.openxmlformats.org/officeDocument/2006/relationships/image" Target="../media/image1.jpeg"/><Relationship Id="rId12" Type="http://schemas.openxmlformats.org/officeDocument/2006/relationships/image" Target="../media/image10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6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audio" Target="../media/media2.mp3"/><Relationship Id="rId9" Type="http://schemas.openxmlformats.org/officeDocument/2006/relationships/image" Target="../media/image6.png"/><Relationship Id="rId14" Type="http://schemas.openxmlformats.org/officeDocument/2006/relationships/hyperlink" Target="https://www.youtube.com/watch?v=LwbgDjIsTp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8E7DA-19C5-9442-F186-B6C99C1E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25DCAD41-716F-2CFC-9067-F0B78ED1C18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92" y="0"/>
            <a:ext cx="12239626" cy="16319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E8DC10-0F25-8F9C-8FCB-B593BA2565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C963CF-8F68-DF48-76CF-6B3B8BE874E6}"/>
              </a:ext>
            </a:extLst>
          </p:cNvPr>
          <p:cNvGrpSpPr/>
          <p:nvPr/>
        </p:nvGrpSpPr>
        <p:grpSpPr>
          <a:xfrm>
            <a:off x="1519238" y="2721114"/>
            <a:ext cx="9153524" cy="707886"/>
            <a:chOff x="1519238" y="2721114"/>
            <a:chExt cx="9153524" cy="70788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73B4DF-7570-8548-2C7C-D1F16C9DC468}"/>
                </a:ext>
              </a:extLst>
            </p:cNvPr>
            <p:cNvSpPr txBox="1"/>
            <p:nvPr/>
          </p:nvSpPr>
          <p:spPr>
            <a:xfrm>
              <a:off x="1519238" y="2721114"/>
              <a:ext cx="9153524" cy="7078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SITARUL – INSTRUMENT MUZICAL 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3873E6C-39FC-CC2C-2382-C6F9B65097C2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0" y="3429000"/>
              <a:ext cx="4286250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887D8A-1666-E7F6-6826-2ABA53A222F7}"/>
              </a:ext>
            </a:extLst>
          </p:cNvPr>
          <p:cNvGrpSpPr/>
          <p:nvPr/>
        </p:nvGrpSpPr>
        <p:grpSpPr>
          <a:xfrm>
            <a:off x="1581150" y="3429000"/>
            <a:ext cx="9153524" cy="707886"/>
            <a:chOff x="1581150" y="3429000"/>
            <a:chExt cx="9153524" cy="70788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96487D-D0C6-2B67-A026-8B256886269C}"/>
                </a:ext>
              </a:extLst>
            </p:cNvPr>
            <p:cNvSpPr txBox="1"/>
            <p:nvPr/>
          </p:nvSpPr>
          <p:spPr>
            <a:xfrm>
              <a:off x="1581150" y="3613666"/>
              <a:ext cx="9153524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Proiect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facut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de: Petrescu Matei 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B0C396-86E5-B517-7C06-64784262733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429000"/>
              <a:ext cx="4410075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A14881-5F4B-3493-1C29-F7F2B1C3585D}"/>
              </a:ext>
            </a:extLst>
          </p:cNvPr>
          <p:cNvGrpSpPr/>
          <p:nvPr/>
        </p:nvGrpSpPr>
        <p:grpSpPr>
          <a:xfrm>
            <a:off x="14098178" y="273377"/>
            <a:ext cx="4656842" cy="6306532"/>
            <a:chOff x="7202078" y="273377"/>
            <a:chExt cx="4656842" cy="630653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7B08C36-5A36-267C-D187-63160F715A96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>
                  <a:extLst>
                    <a:ext uri="{FF2B5EF4-FFF2-40B4-BE49-F238E27FC236}">
                      <a16:creationId xmlns:a16="http://schemas.microsoft.com/office/drawing/2014/main" id="{276F3EBD-2721-C5F1-635D-2FAA930524E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64921885"/>
                    </p:ext>
                  </p:extLst>
                </p:nvPr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>
                  <a:extLst>
                    <a:ext uri="{FF2B5EF4-FFF2-40B4-BE49-F238E27FC236}">
                      <a16:creationId xmlns:a16="http://schemas.microsoft.com/office/drawing/2014/main" id="{276F3EBD-2721-C5F1-635D-2FAA930524E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32997" y="2021162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9" name="3D Model 8">
                  <a:extLst>
                    <a:ext uri="{FF2B5EF4-FFF2-40B4-BE49-F238E27FC236}">
                      <a16:creationId xmlns:a16="http://schemas.microsoft.com/office/drawing/2014/main" id="{6BD9EF01-735B-3046-D7C7-ACB69E3B4DD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3564971"/>
                    </p:ext>
                  </p:extLst>
                </p:nvPr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4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9" name="3D Model 8">
                  <a:extLst>
                    <a:ext uri="{FF2B5EF4-FFF2-40B4-BE49-F238E27FC236}">
                      <a16:creationId xmlns:a16="http://schemas.microsoft.com/office/drawing/2014/main" id="{6BD9EF01-735B-3046-D7C7-ACB69E3B4DD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6200000">
                  <a:off x="15965073" y="-964417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0" name="3D Model 9">
                  <a:extLst>
                    <a:ext uri="{FF2B5EF4-FFF2-40B4-BE49-F238E27FC236}">
                      <a16:creationId xmlns:a16="http://schemas.microsoft.com/office/drawing/2014/main" id="{92B908BF-BA24-ED19-A3EC-1C54771A92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18093272"/>
                    </p:ext>
                  </p:extLst>
                </p:nvPr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0" name="3D Model 9">
                  <a:extLst>
                    <a:ext uri="{FF2B5EF4-FFF2-40B4-BE49-F238E27FC236}">
                      <a16:creationId xmlns:a16="http://schemas.microsoft.com/office/drawing/2014/main" id="{92B908BF-BA24-ED19-A3EC-1C54771A925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79022" y="2100317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1" name="3D Model 10">
                  <a:extLst>
                    <a:ext uri="{FF2B5EF4-FFF2-40B4-BE49-F238E27FC236}">
                      <a16:creationId xmlns:a16="http://schemas.microsoft.com/office/drawing/2014/main" id="{7CB56B7D-905C-0355-6CBD-7513116271F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39450478"/>
                    </p:ext>
                  </p:extLst>
                </p:nvPr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8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1" name="3D Model 10">
                  <a:extLst>
                    <a:ext uri="{FF2B5EF4-FFF2-40B4-BE49-F238E27FC236}">
                      <a16:creationId xmlns:a16="http://schemas.microsoft.com/office/drawing/2014/main" id="{7CB56B7D-905C-0355-6CBD-7513116271F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346937" y="1975094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23A562-3D56-9D74-FBC3-BBC8FC88F3EC}"/>
              </a:ext>
            </a:extLst>
          </p:cNvPr>
          <p:cNvGrpSpPr/>
          <p:nvPr/>
        </p:nvGrpSpPr>
        <p:grpSpPr>
          <a:xfrm>
            <a:off x="-6269968" y="1217088"/>
            <a:ext cx="4765016" cy="5316376"/>
            <a:chOff x="1392896" y="1231458"/>
            <a:chExt cx="4765016" cy="531637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C50227-4217-7BA7-0ACC-95FC4267447A}"/>
                </a:ext>
              </a:extLst>
            </p:cNvPr>
            <p:cNvGrpSpPr/>
            <p:nvPr/>
          </p:nvGrpSpPr>
          <p:grpSpPr>
            <a:xfrm>
              <a:off x="1392896" y="1231458"/>
              <a:ext cx="4765016" cy="523220"/>
              <a:chOff x="1142019" y="1498815"/>
              <a:chExt cx="4765016" cy="52322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F27C0F-2535-F21F-F682-5B2E90CB074C}"/>
                  </a:ext>
                </a:extLst>
              </p:cNvPr>
              <p:cNvSpPr txBox="1"/>
              <p:nvPr/>
            </p:nvSpPr>
            <p:spPr>
              <a:xfrm>
                <a:off x="1142019" y="1498815"/>
                <a:ext cx="47650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 - Ce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este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sitarul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?</a:t>
                </a: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8BDF023-EED9-16BD-08F6-23ECDFA69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020" y="1977451"/>
                <a:ext cx="4765015" cy="0"/>
              </a:xfrm>
              <a:prstGeom prst="line">
                <a:avLst/>
              </a:prstGeom>
              <a:ln w="19050">
                <a:solidFill>
                  <a:srgbClr val="FFD700"/>
                </a:solidFill>
              </a:ln>
              <a:effectLst>
                <a:glow rad="101600">
                  <a:schemeClr val="tx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BA8D34-FBEE-3D9D-70B9-0801BA94E681}"/>
                </a:ext>
              </a:extLst>
            </p:cNvPr>
            <p:cNvSpPr txBox="1"/>
            <p:nvPr/>
          </p:nvSpPr>
          <p:spPr>
            <a:xfrm>
              <a:off x="1392896" y="2023519"/>
              <a:ext cx="4765015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un instrument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tradițional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India, cu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18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21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6-7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direct la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cântat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Produce 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special,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plin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rezonanță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datorită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corzilor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simpatetice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genuri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moderne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160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6EE02-13A3-DC47-7797-C0A921D9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0F3AF700-CBB3-277D-E5BB-6EFE232F737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3" y="-5607565"/>
            <a:ext cx="12239626" cy="16319501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25E9BD-2C0B-41A7-6D75-4F62114864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CA6F32-6F95-DDDC-2483-1E7C88675939}"/>
              </a:ext>
            </a:extLst>
          </p:cNvPr>
          <p:cNvGrpSpPr/>
          <p:nvPr/>
        </p:nvGrpSpPr>
        <p:grpSpPr>
          <a:xfrm>
            <a:off x="1581150" y="-4038601"/>
            <a:ext cx="9153524" cy="707886"/>
            <a:chOff x="1519238" y="2721114"/>
            <a:chExt cx="9153524" cy="707886"/>
          </a:xfrm>
          <a:effectLst/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B54E19-B3DB-FA8C-AACB-95010B434306}"/>
                </a:ext>
              </a:extLst>
            </p:cNvPr>
            <p:cNvSpPr txBox="1"/>
            <p:nvPr/>
          </p:nvSpPr>
          <p:spPr>
            <a:xfrm>
              <a:off x="1519238" y="2721114"/>
              <a:ext cx="9153524" cy="7078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SITARUL – INSTRUMENT MUZICAL 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B7DB89-E3EA-09ED-E9BD-4271970D809B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0" y="3429000"/>
              <a:ext cx="4286250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5AA6E7-1EFE-5C57-0B91-A3882C32579C}"/>
              </a:ext>
            </a:extLst>
          </p:cNvPr>
          <p:cNvGrpSpPr/>
          <p:nvPr/>
        </p:nvGrpSpPr>
        <p:grpSpPr>
          <a:xfrm>
            <a:off x="1581150" y="10896601"/>
            <a:ext cx="9153524" cy="707886"/>
            <a:chOff x="1581150" y="3429000"/>
            <a:chExt cx="9153524" cy="707886"/>
          </a:xfrm>
          <a:effectLst/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6932A4-D168-6F18-FAFB-26C7FF6D6C87}"/>
                </a:ext>
              </a:extLst>
            </p:cNvPr>
            <p:cNvSpPr txBox="1"/>
            <p:nvPr/>
          </p:nvSpPr>
          <p:spPr>
            <a:xfrm>
              <a:off x="1581150" y="3613666"/>
              <a:ext cx="9153524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Proiect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facut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de: Petrescu Matei 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31D168-FF93-1608-1248-4473D4B66F3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429000"/>
              <a:ext cx="4410075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DC50E4A-810E-3671-005F-69B26008182E}"/>
              </a:ext>
            </a:extLst>
          </p:cNvPr>
          <p:cNvGrpSpPr/>
          <p:nvPr/>
        </p:nvGrpSpPr>
        <p:grpSpPr>
          <a:xfrm>
            <a:off x="7287293" y="275734"/>
            <a:ext cx="4656842" cy="6306532"/>
            <a:chOff x="7202078" y="273377"/>
            <a:chExt cx="4656842" cy="6306532"/>
          </a:xfrm>
          <a:effectLst/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3CD6C49-36DF-F6BC-1599-B8687C10349F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>
                  <a:extLst>
                    <a:ext uri="{FF2B5EF4-FFF2-40B4-BE49-F238E27FC236}">
                      <a16:creationId xmlns:a16="http://schemas.microsoft.com/office/drawing/2014/main" id="{80D2EF87-1702-F81D-5D55-37EA9D4399B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>
                  <a:extLst>
                    <a:ext uri="{FF2B5EF4-FFF2-40B4-BE49-F238E27FC236}">
                      <a16:creationId xmlns:a16="http://schemas.microsoft.com/office/drawing/2014/main" id="{80D2EF87-1702-F81D-5D55-37EA9D4399B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22112" y="2023519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9" name="3D Model 8">
                  <a:extLst>
                    <a:ext uri="{FF2B5EF4-FFF2-40B4-BE49-F238E27FC236}">
                      <a16:creationId xmlns:a16="http://schemas.microsoft.com/office/drawing/2014/main" id="{D380478F-1092-5110-CDDA-D73CF392156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4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9" name="3D Model 8">
                  <a:extLst>
                    <a:ext uri="{FF2B5EF4-FFF2-40B4-BE49-F238E27FC236}">
                      <a16:creationId xmlns:a16="http://schemas.microsoft.com/office/drawing/2014/main" id="{D380478F-1092-5110-CDDA-D73CF392156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6200000">
                  <a:off x="9154188" y="-962060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0" name="3D Model 9">
                  <a:extLst>
                    <a:ext uri="{FF2B5EF4-FFF2-40B4-BE49-F238E27FC236}">
                      <a16:creationId xmlns:a16="http://schemas.microsoft.com/office/drawing/2014/main" id="{64B8758F-7393-F394-A8EA-42B3C4A618D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0" name="3D Model 9">
                  <a:extLst>
                    <a:ext uri="{FF2B5EF4-FFF2-40B4-BE49-F238E27FC236}">
                      <a16:creationId xmlns:a16="http://schemas.microsoft.com/office/drawing/2014/main" id="{64B8758F-7393-F394-A8EA-42B3C4A618D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68137" y="2102674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1" name="3D Model 10">
                  <a:extLst>
                    <a:ext uri="{FF2B5EF4-FFF2-40B4-BE49-F238E27FC236}">
                      <a16:creationId xmlns:a16="http://schemas.microsoft.com/office/drawing/2014/main" id="{A62CEA54-AA2C-B726-162A-888BFF1F61C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8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1" name="3D Model 10">
                  <a:extLst>
                    <a:ext uri="{FF2B5EF4-FFF2-40B4-BE49-F238E27FC236}">
                      <a16:creationId xmlns:a16="http://schemas.microsoft.com/office/drawing/2014/main" id="{A62CEA54-AA2C-B726-162A-888BFF1F61C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36052" y="1977451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2B8C9D-F4A6-9C11-FD12-4F09D087DAD8}"/>
              </a:ext>
            </a:extLst>
          </p:cNvPr>
          <p:cNvGrpSpPr/>
          <p:nvPr/>
        </p:nvGrpSpPr>
        <p:grpSpPr>
          <a:xfrm>
            <a:off x="1392896" y="810404"/>
            <a:ext cx="4765016" cy="5316376"/>
            <a:chOff x="1392896" y="1231458"/>
            <a:chExt cx="4765016" cy="5316376"/>
          </a:xfrm>
          <a:effectLst/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FF5711-5C80-A1A4-3E87-81B9B47553D0}"/>
                </a:ext>
              </a:extLst>
            </p:cNvPr>
            <p:cNvGrpSpPr/>
            <p:nvPr/>
          </p:nvGrpSpPr>
          <p:grpSpPr>
            <a:xfrm>
              <a:off x="1392896" y="1231458"/>
              <a:ext cx="4765016" cy="523220"/>
              <a:chOff x="1142019" y="1498815"/>
              <a:chExt cx="4765016" cy="52322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57876F-EACB-A1D7-D73A-9D45B8490873}"/>
                  </a:ext>
                </a:extLst>
              </p:cNvPr>
              <p:cNvSpPr txBox="1"/>
              <p:nvPr/>
            </p:nvSpPr>
            <p:spPr>
              <a:xfrm>
                <a:off x="1142019" y="1498815"/>
                <a:ext cx="476501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 - Ce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este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sitarul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?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06E87B3-77C1-5451-1B53-89BBB196B6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020" y="1977451"/>
                <a:ext cx="4765015" cy="0"/>
              </a:xfrm>
              <a:prstGeom prst="line">
                <a:avLst/>
              </a:prstGeom>
              <a:ln w="19050">
                <a:solidFill>
                  <a:srgbClr val="FFD700"/>
                </a:solidFill>
              </a:ln>
              <a:effectLst>
                <a:glow rad="101600">
                  <a:schemeClr val="tx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EF9E9E-509A-54B3-D717-17336D5F03BC}"/>
                </a:ext>
              </a:extLst>
            </p:cNvPr>
            <p:cNvSpPr txBox="1"/>
            <p:nvPr/>
          </p:nvSpPr>
          <p:spPr>
            <a:xfrm>
              <a:off x="1392896" y="2023519"/>
              <a:ext cx="4765015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un instrument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tradițional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India, cu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18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21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6-7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direct la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cântat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Produce 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special,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plin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rezonanță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datorită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corzilor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simpatetice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genuri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moderne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pic>
        <p:nvPicPr>
          <p:cNvPr id="26" name="Picture 3" descr="Antique Illustration Seated Indian Woman Playing the Sitar DIGITAL DOWNLOAD  - Etsy">
            <a:extLst>
              <a:ext uri="{FF2B5EF4-FFF2-40B4-BE49-F238E27FC236}">
                <a16:creationId xmlns:a16="http://schemas.microsoft.com/office/drawing/2014/main" id="{8B0068DA-D788-71FC-7813-5752730DB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5204" y="1031542"/>
            <a:ext cx="3404688" cy="47247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672D7EC-BA38-FAD2-B086-8800294AA176}"/>
              </a:ext>
            </a:extLst>
          </p:cNvPr>
          <p:cNvGrpSpPr/>
          <p:nvPr/>
        </p:nvGrpSpPr>
        <p:grpSpPr>
          <a:xfrm>
            <a:off x="-6277000" y="976215"/>
            <a:ext cx="4765016" cy="4859704"/>
            <a:chOff x="964293" y="1140337"/>
            <a:chExt cx="4765016" cy="485970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9E0234-5BFB-07FA-791C-9AF859AE5D9B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Corpul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-un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dovleac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uscat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lucrat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manual.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Gâtul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lung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lemn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obicei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teak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mahon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din metal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esențiale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decorative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fildeș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plastic,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uneori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foarte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detaliate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13E160A-3108-08D7-D291-93FCB31E0EBD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DC235C-3EE2-30C4-6EE5-F15757BAF4A3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Din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este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făcut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742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4FCB0-5BDD-0195-805F-D069B41E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1297A347-9FCA-5CDD-962B-0A08D439946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3" y="-7884017"/>
            <a:ext cx="12239626" cy="16319501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D40623-D0D5-0683-8E1F-19315CC40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C0EE6D-E1C4-8424-444A-57F4CF8F1A0B}"/>
              </a:ext>
            </a:extLst>
          </p:cNvPr>
          <p:cNvGrpSpPr/>
          <p:nvPr/>
        </p:nvGrpSpPr>
        <p:grpSpPr>
          <a:xfrm>
            <a:off x="1392896" y="12674172"/>
            <a:ext cx="4765016" cy="5316376"/>
            <a:chOff x="1392896" y="1231458"/>
            <a:chExt cx="4765016" cy="5316376"/>
          </a:xfrm>
          <a:effectLst/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1F22A9A-308E-0E72-0847-B91E21BC3AB9}"/>
                </a:ext>
              </a:extLst>
            </p:cNvPr>
            <p:cNvGrpSpPr/>
            <p:nvPr/>
          </p:nvGrpSpPr>
          <p:grpSpPr>
            <a:xfrm>
              <a:off x="1392896" y="1231458"/>
              <a:ext cx="4765016" cy="523220"/>
              <a:chOff x="1142019" y="1498815"/>
              <a:chExt cx="4765016" cy="52322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1F4B51-47FE-93AC-32F8-AE5246165603}"/>
                  </a:ext>
                </a:extLst>
              </p:cNvPr>
              <p:cNvSpPr txBox="1"/>
              <p:nvPr/>
            </p:nvSpPr>
            <p:spPr>
              <a:xfrm>
                <a:off x="1142019" y="1498815"/>
                <a:ext cx="476501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 - Ce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este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 </a:t>
                </a:r>
                <a:r>
                  <a:rPr lang="en-US" sz="28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sitarul</a:t>
                </a:r>
                <a:r>
                  <a:rPr lang="en-US" sz="28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?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931516E-AA64-69BC-9BAE-5574E6724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020" y="1977451"/>
                <a:ext cx="4765015" cy="0"/>
              </a:xfrm>
              <a:prstGeom prst="line">
                <a:avLst/>
              </a:prstGeom>
              <a:ln w="19050">
                <a:solidFill>
                  <a:srgbClr val="FFD700"/>
                </a:solidFill>
              </a:ln>
              <a:effectLst>
                <a:glow rad="101600">
                  <a:schemeClr val="tx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0C7D2D-7F4B-B568-5395-0F69F4D4C907}"/>
                </a:ext>
              </a:extLst>
            </p:cNvPr>
            <p:cNvSpPr txBox="1"/>
            <p:nvPr/>
          </p:nvSpPr>
          <p:spPr>
            <a:xfrm>
              <a:off x="1392896" y="2023519"/>
              <a:ext cx="4765015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un instrument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tradițional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India, cu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18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21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6-7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direct la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cântat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Produce 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special,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plin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rezonanță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datorită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corzilor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simpatetice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genuri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moderne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EFBE1C3-491F-DAA9-C546-F11553714E27}"/>
              </a:ext>
            </a:extLst>
          </p:cNvPr>
          <p:cNvGrpSpPr/>
          <p:nvPr/>
        </p:nvGrpSpPr>
        <p:grpSpPr>
          <a:xfrm>
            <a:off x="1389888" y="976215"/>
            <a:ext cx="4765016" cy="4859704"/>
            <a:chOff x="964293" y="1140337"/>
            <a:chExt cx="4765016" cy="485970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E5CED9-4DBC-1E95-FF19-8518FA64B9ED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Corpul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-un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dovleac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uscat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lucrat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manual.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Gâtul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lung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lemn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obicei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teak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mahon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din metal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esențiale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decorative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fildeș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plastic,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uneori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foarte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detaliate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2153B8-25DB-8A91-CD02-63D5AC0B3717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F1EFF06-37A7-7ABE-6F59-DC0EB0A95B9C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Din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este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făcut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52858E5A-522A-C779-A449-CFFA7474F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E229B4-DD07-9E66-2ABD-3E17C2E8F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7639AE3-78DD-0CCA-0F3E-5AA1DC186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4F8FD0-6B41-30D2-328D-5E0967C5139E}"/>
              </a:ext>
            </a:extLst>
          </p:cNvPr>
          <p:cNvGrpSpPr/>
          <p:nvPr/>
        </p:nvGrpSpPr>
        <p:grpSpPr>
          <a:xfrm>
            <a:off x="7287293" y="275734"/>
            <a:ext cx="4656842" cy="6306532"/>
            <a:chOff x="7202078" y="273377"/>
            <a:chExt cx="4656842" cy="6306532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CB892A8-6363-257F-1F7A-427E28B606EF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>
                  <a:extLst>
                    <a:ext uri="{FF2B5EF4-FFF2-40B4-BE49-F238E27FC236}">
                      <a16:creationId xmlns:a16="http://schemas.microsoft.com/office/drawing/2014/main" id="{77C9E4CB-19D7-F26B-4212-67E27D29900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>
                  <a:extLst>
                    <a:ext uri="{FF2B5EF4-FFF2-40B4-BE49-F238E27FC236}">
                      <a16:creationId xmlns:a16="http://schemas.microsoft.com/office/drawing/2014/main" id="{77C9E4CB-19D7-F26B-4212-67E27D29900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22112" y="2023519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8" name="3D Model 27">
                  <a:extLst>
                    <a:ext uri="{FF2B5EF4-FFF2-40B4-BE49-F238E27FC236}">
                      <a16:creationId xmlns:a16="http://schemas.microsoft.com/office/drawing/2014/main" id="{E280F953-F812-9082-CC0E-A5F775EA22A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4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8" name="3D Model 27">
                  <a:extLst>
                    <a:ext uri="{FF2B5EF4-FFF2-40B4-BE49-F238E27FC236}">
                      <a16:creationId xmlns:a16="http://schemas.microsoft.com/office/drawing/2014/main" id="{E280F953-F812-9082-CC0E-A5F775EA22A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6200000">
                  <a:off x="9154188" y="-962060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9" name="3D Model 28">
                  <a:extLst>
                    <a:ext uri="{FF2B5EF4-FFF2-40B4-BE49-F238E27FC236}">
                      <a16:creationId xmlns:a16="http://schemas.microsoft.com/office/drawing/2014/main" id="{7416934B-5587-6CBF-1A81-42E83E8DC5D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9" name="3D Model 28">
                  <a:extLst>
                    <a:ext uri="{FF2B5EF4-FFF2-40B4-BE49-F238E27FC236}">
                      <a16:creationId xmlns:a16="http://schemas.microsoft.com/office/drawing/2014/main" id="{7416934B-5587-6CBF-1A81-42E83E8DC5D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68137" y="2102674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0" name="3D Model 29">
                  <a:extLst>
                    <a:ext uri="{FF2B5EF4-FFF2-40B4-BE49-F238E27FC236}">
                      <a16:creationId xmlns:a16="http://schemas.microsoft.com/office/drawing/2014/main" id="{D81E68FE-B339-2A3D-BDB5-58175D39143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8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0" name="3D Model 29">
                  <a:extLst>
                    <a:ext uri="{FF2B5EF4-FFF2-40B4-BE49-F238E27FC236}">
                      <a16:creationId xmlns:a16="http://schemas.microsoft.com/office/drawing/2014/main" id="{D81E68FE-B339-2A3D-BDB5-58175D39143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36052" y="1977451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DD4B3E-69C8-1DA2-8587-9943C342BEB6}"/>
              </a:ext>
            </a:extLst>
          </p:cNvPr>
          <p:cNvGrpSpPr/>
          <p:nvPr/>
        </p:nvGrpSpPr>
        <p:grpSpPr>
          <a:xfrm>
            <a:off x="-6488021" y="632729"/>
            <a:ext cx="4765016" cy="6244698"/>
            <a:chOff x="964293" y="1140337"/>
            <a:chExt cx="4765016" cy="6244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3F0449-C27F-B6D8-8369-CE4D3FB92F7D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originea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secolul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XIII-lea,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inspirat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instrumente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persane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fost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îmbunătățit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India de-a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lungul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timpului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ajungând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simbol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hindustane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Artiști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cunoscuți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cum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fi Ravi Shankar, l-au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faimos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toată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lumea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anii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’60.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avut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impact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asupra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Vest –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chiar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Beatles l-a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ED7ED99-EC59-3A54-0E4D-1C73B8D8AB9B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90EE47-40FA-9FF7-0A50-E01A16DCAA43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Istoria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sitarului</a:t>
              </a:r>
              <a:endParaRPr lang="en-US" sz="2800" spc="-150" dirty="0">
                <a:ln w="3175">
                  <a:noFill/>
                </a:ln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271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E451C-E1F1-FD12-5036-D2415AF0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9709E62A-D087-D883-9BC8-663E8550F5E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13" y="-7884017"/>
            <a:ext cx="12239626" cy="16319501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9FD94D-4ED6-AEA5-A74E-56484E7572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A0B9FB-AFAC-C1FD-A3BA-A36AAB4709C1}"/>
              </a:ext>
            </a:extLst>
          </p:cNvPr>
          <p:cNvGrpSpPr/>
          <p:nvPr/>
        </p:nvGrpSpPr>
        <p:grpSpPr>
          <a:xfrm>
            <a:off x="1389888" y="656175"/>
            <a:ext cx="4765016" cy="6244698"/>
            <a:chOff x="964293" y="1140337"/>
            <a:chExt cx="4765016" cy="624469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421286-4EB8-13D3-FF54-D3F5194CFEBC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originea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secolul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XIII-lea,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inspirat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instrumente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persane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fost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îmbunătățit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India de-a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lungul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timpului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ajungând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simbol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hindustane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Artiști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cunoscuți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cum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fi Ravi Shankar, l-au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faimos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toată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lumea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anii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’60.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avut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impact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asupra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Vest –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chiar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Beatles l-a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0ADF19-E82C-CB55-A6B5-7AFCC30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00BE86-0735-3BB4-9AAA-F110695D0702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Istoria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sitarului</a:t>
              </a:r>
              <a:endParaRPr lang="en-US" sz="2800" spc="-150" dirty="0">
                <a:ln w="3175">
                  <a:noFill/>
                </a:ln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Lucida Handwriting" panose="03010101010101010101" pitchFamily="66" charset="0"/>
              </a:endParaRPr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4E989181-DD50-4D90-847E-01A55E9E6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1D0F4F3D-5C87-CAC2-4A90-6B245776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338C628-1FFA-313E-92A6-F34109AD6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71CFA2-B09E-DBDC-625F-EC19C53A45AA}"/>
              </a:ext>
            </a:extLst>
          </p:cNvPr>
          <p:cNvGrpSpPr/>
          <p:nvPr/>
        </p:nvGrpSpPr>
        <p:grpSpPr>
          <a:xfrm>
            <a:off x="7287293" y="275734"/>
            <a:ext cx="4656842" cy="6306532"/>
            <a:chOff x="7202078" y="273377"/>
            <a:chExt cx="4656842" cy="6306532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EB50246-646E-5D9A-757B-047FFF679409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>
                  <a:extLst>
                    <a:ext uri="{FF2B5EF4-FFF2-40B4-BE49-F238E27FC236}">
                      <a16:creationId xmlns:a16="http://schemas.microsoft.com/office/drawing/2014/main" id="{B77E7886-2EE3-F3D2-A83C-B49E66F7E6B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>
                  <a:extLst>
                    <a:ext uri="{FF2B5EF4-FFF2-40B4-BE49-F238E27FC236}">
                      <a16:creationId xmlns:a16="http://schemas.microsoft.com/office/drawing/2014/main" id="{B77E7886-2EE3-F3D2-A83C-B49E66F7E6B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22112" y="2023519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8" name="3D Model 27">
                  <a:extLst>
                    <a:ext uri="{FF2B5EF4-FFF2-40B4-BE49-F238E27FC236}">
                      <a16:creationId xmlns:a16="http://schemas.microsoft.com/office/drawing/2014/main" id="{3F7212B9-6F81-7552-E4A4-095F4EECF9D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4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8" name="3D Model 27">
                  <a:extLst>
                    <a:ext uri="{FF2B5EF4-FFF2-40B4-BE49-F238E27FC236}">
                      <a16:creationId xmlns:a16="http://schemas.microsoft.com/office/drawing/2014/main" id="{3F7212B9-6F81-7552-E4A4-095F4EECF9D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6200000">
                  <a:off x="9154188" y="-962060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9" name="3D Model 28">
                  <a:extLst>
                    <a:ext uri="{FF2B5EF4-FFF2-40B4-BE49-F238E27FC236}">
                      <a16:creationId xmlns:a16="http://schemas.microsoft.com/office/drawing/2014/main" id="{46842C78-88D3-027D-ACE1-9CB040C148B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9" name="3D Model 28">
                  <a:extLst>
                    <a:ext uri="{FF2B5EF4-FFF2-40B4-BE49-F238E27FC236}">
                      <a16:creationId xmlns:a16="http://schemas.microsoft.com/office/drawing/2014/main" id="{46842C78-88D3-027D-ACE1-9CB040C148B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68137" y="2102674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0" name="3D Model 29">
                  <a:extLst>
                    <a:ext uri="{FF2B5EF4-FFF2-40B4-BE49-F238E27FC236}">
                      <a16:creationId xmlns:a16="http://schemas.microsoft.com/office/drawing/2014/main" id="{466C7C3F-7F59-232C-020C-E6D51614FCA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8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0" name="3D Model 29">
                  <a:extLst>
                    <a:ext uri="{FF2B5EF4-FFF2-40B4-BE49-F238E27FC236}">
                      <a16:creationId xmlns:a16="http://schemas.microsoft.com/office/drawing/2014/main" id="{466C7C3F-7F59-232C-020C-E6D51614FCA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36052" y="1977451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6E7092-9D7E-63DA-981C-B905708B54EE}"/>
              </a:ext>
            </a:extLst>
          </p:cNvPr>
          <p:cNvGrpSpPr/>
          <p:nvPr/>
        </p:nvGrpSpPr>
        <p:grpSpPr>
          <a:xfrm>
            <a:off x="-6110454" y="669669"/>
            <a:ext cx="4765016" cy="5518661"/>
            <a:chOff x="964293" y="758378"/>
            <a:chExt cx="4765016" cy="5518661"/>
          </a:xfrm>
        </p:grpSpPr>
        <p:sp>
          <p:nvSpPr>
            <p:cNvPr id="43" name="TextBox 31">
              <a:extLst>
                <a:ext uri="{FF2B5EF4-FFF2-40B4-BE49-F238E27FC236}">
                  <a16:creationId xmlns:a16="http://schemas.microsoft.com/office/drawing/2014/main" id="{0579D6C0-9A56-321E-ED37-4D8F86A02ACB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(raga,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meditație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Apare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combinații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cu jazz, rock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electronică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regăsește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indiene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coloane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sonore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internaționale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Trupe ca Beatles, Rolling Stones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artista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Anoushka Shankar 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melodii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9F099F1-3558-FC3A-D978-2E21592962A6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7D8DE201-B8FB-85C0-2111-1F2DEA2DAB8F}"/>
                </a:ext>
              </a:extLst>
            </p:cNvPr>
            <p:cNvSpPr txBox="1"/>
            <p:nvPr/>
          </p:nvSpPr>
          <p:spPr>
            <a:xfrm>
              <a:off x="964293" y="758378"/>
              <a:ext cx="4765016" cy="954107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În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muzici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apare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142102-6DC4-D432-9BB1-D7E84518032A}"/>
              </a:ext>
            </a:extLst>
          </p:cNvPr>
          <p:cNvGrpSpPr/>
          <p:nvPr/>
        </p:nvGrpSpPr>
        <p:grpSpPr>
          <a:xfrm>
            <a:off x="1389888" y="10272615"/>
            <a:ext cx="4765016" cy="4859704"/>
            <a:chOff x="964293" y="1140337"/>
            <a:chExt cx="4765016" cy="485970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58897C5-38EF-4B8D-9B48-702E7CD3CC1E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Corpul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dintr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-un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dovleac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uscat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lucrat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manual.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Gâtul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lung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lemn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(de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obicei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teak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mahon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Corzile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din metal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sunt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esențiale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decorative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fildeș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plastic,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uneori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foarte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detaliate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CA0744E-9486-48A0-D6E1-5BAD620DFF87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3BC333F-AF54-3C43-7D38-D7EA5C7CCEEA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Din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este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făcut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296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6745C-C6BA-A6CB-C231-509A3E91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175B7EDD-6AA0-9E25-D894-FC7CE1BA93D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1501"/>
            <a:ext cx="12239626" cy="16319501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ACCDA9-D473-841F-12B7-010D351BC6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D6E7092-9D7E-63DA-981C-B905708B54EE}"/>
              </a:ext>
            </a:extLst>
          </p:cNvPr>
          <p:cNvGrpSpPr/>
          <p:nvPr/>
        </p:nvGrpSpPr>
        <p:grpSpPr>
          <a:xfrm>
            <a:off x="1389888" y="422825"/>
            <a:ext cx="4765016" cy="5518661"/>
            <a:chOff x="964293" y="758378"/>
            <a:chExt cx="4765016" cy="551866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79D6C0-9A56-321E-ED37-4D8F86A02ACB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(raga,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meditație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Apare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combinații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cu jazz, rock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electronică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regăsește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indiene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coloane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sonore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internaționale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Trupe ca Beatles, Rolling Stones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artista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Anoushka Shankar 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melodii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F099F1-3558-FC3A-D978-2E21592962A6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8DE201-B8FB-85C0-2111-1F2DEA2DAB8F}"/>
                </a:ext>
              </a:extLst>
            </p:cNvPr>
            <p:cNvSpPr txBox="1"/>
            <p:nvPr/>
          </p:nvSpPr>
          <p:spPr>
            <a:xfrm>
              <a:off x="964293" y="758378"/>
              <a:ext cx="4765016" cy="954107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În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muzici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apare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76EE1B-724E-6869-ECEA-F95D1A352619}"/>
              </a:ext>
            </a:extLst>
          </p:cNvPr>
          <p:cNvGrpSpPr/>
          <p:nvPr/>
        </p:nvGrpSpPr>
        <p:grpSpPr>
          <a:xfrm>
            <a:off x="7287293" y="275734"/>
            <a:ext cx="4656842" cy="6306532"/>
            <a:chOff x="7202078" y="273377"/>
            <a:chExt cx="4656842" cy="6306532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97BA69-40EF-1097-7F4C-5A427B9DAE73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>
                  <a:extLst>
                    <a:ext uri="{FF2B5EF4-FFF2-40B4-BE49-F238E27FC236}">
                      <a16:creationId xmlns:a16="http://schemas.microsoft.com/office/drawing/2014/main" id="{628CB3C4-DD54-A50E-435A-E7E38B4CB17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>
                  <a:extLst>
                    <a:ext uri="{FF2B5EF4-FFF2-40B4-BE49-F238E27FC236}">
                      <a16:creationId xmlns:a16="http://schemas.microsoft.com/office/drawing/2014/main" id="{628CB3C4-DD54-A50E-435A-E7E38B4CB17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22112" y="2023519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8" name="3D Model 27">
                  <a:extLst>
                    <a:ext uri="{FF2B5EF4-FFF2-40B4-BE49-F238E27FC236}">
                      <a16:creationId xmlns:a16="http://schemas.microsoft.com/office/drawing/2014/main" id="{A6969EAF-23E3-8A34-8A82-7EA961AC990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4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6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8" name="3D Model 27">
                  <a:extLst>
                    <a:ext uri="{FF2B5EF4-FFF2-40B4-BE49-F238E27FC236}">
                      <a16:creationId xmlns:a16="http://schemas.microsoft.com/office/drawing/2014/main" id="{A6969EAF-23E3-8A34-8A82-7EA961AC990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6200000">
                  <a:off x="9154188" y="-962060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9" name="3D Model 28">
                  <a:extLst>
                    <a:ext uri="{FF2B5EF4-FFF2-40B4-BE49-F238E27FC236}">
                      <a16:creationId xmlns:a16="http://schemas.microsoft.com/office/drawing/2014/main" id="{F79B2A08-C4B8-6981-3F58-91DCDE5AC5F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9" name="3D Model 28">
                  <a:extLst>
                    <a:ext uri="{FF2B5EF4-FFF2-40B4-BE49-F238E27FC236}">
                      <a16:creationId xmlns:a16="http://schemas.microsoft.com/office/drawing/2014/main" id="{F79B2A08-C4B8-6981-3F58-91DCDE5AC5F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68137" y="2102674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0" name="3D Model 29">
                  <a:extLst>
                    <a:ext uri="{FF2B5EF4-FFF2-40B4-BE49-F238E27FC236}">
                      <a16:creationId xmlns:a16="http://schemas.microsoft.com/office/drawing/2014/main" id="{2988BA0B-90D8-760E-44EB-607A13A058E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8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0" name="3D Model 29">
                  <a:extLst>
                    <a:ext uri="{FF2B5EF4-FFF2-40B4-BE49-F238E27FC236}">
                      <a16:creationId xmlns:a16="http://schemas.microsoft.com/office/drawing/2014/main" id="{2988BA0B-90D8-760E-44EB-607A13A058E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36052" y="1977451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5C68CE-0B33-C700-DF33-2DFA95B25007}"/>
              </a:ext>
            </a:extLst>
          </p:cNvPr>
          <p:cNvGrpSpPr/>
          <p:nvPr/>
        </p:nvGrpSpPr>
        <p:grpSpPr>
          <a:xfrm>
            <a:off x="1389888" y="9586815"/>
            <a:ext cx="4765016" cy="6244698"/>
            <a:chOff x="964293" y="1140337"/>
            <a:chExt cx="4765016" cy="624469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786383-0D43-E4B8-427A-3732F4F061C0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are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originea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secolul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XIII-lea,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inspirat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instrumente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persane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fost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îmbunătățit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India de-a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lungul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timpului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ajungând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simbol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hindustane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Artiști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cunoscuți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cum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fi Ravi Shankar, l-au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făcut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faimos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toată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lumea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mai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ales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anii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’60.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avut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impact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asupra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Vest –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chiar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Beatles l-a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077A60-9779-2450-E01E-FFA3EA3DAD40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F2972F-8411-36D2-41C9-9B3AFCAB0833}"/>
                </a:ext>
              </a:extLst>
            </p:cNvPr>
            <p:cNvSpPr txBox="1"/>
            <p:nvPr/>
          </p:nvSpPr>
          <p:spPr>
            <a:xfrm>
              <a:off x="964293" y="1140337"/>
              <a:ext cx="4765016" cy="523220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Istoria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sitarului</a:t>
              </a:r>
              <a:endParaRPr lang="en-US" sz="2800" spc="-150" dirty="0">
                <a:ln w="3175">
                  <a:noFill/>
                </a:ln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47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19982-B03B-F40F-0F8D-26B0573A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6F9D1E31-7B45-BC17-1741-84C430A3201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1501"/>
            <a:ext cx="12239626" cy="16319501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F29E72-F1C1-D683-F7A5-A9284ED95AB3}"/>
              </a:ext>
            </a:extLst>
          </p:cNvPr>
          <p:cNvSpPr/>
          <p:nvPr/>
        </p:nvSpPr>
        <p:spPr>
          <a:xfrm>
            <a:off x="43663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A0EE64-F428-D9A2-2AA7-90EAFACFD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ED74EAD-1CC2-8B53-97C4-028FDDF66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A17E243-11E9-69C7-7A37-02881F5E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F6C9AF-725A-1FDB-D04D-3E6B30419703}"/>
              </a:ext>
            </a:extLst>
          </p:cNvPr>
          <p:cNvGrpSpPr/>
          <p:nvPr/>
        </p:nvGrpSpPr>
        <p:grpSpPr>
          <a:xfrm>
            <a:off x="12844033" y="275734"/>
            <a:ext cx="4656842" cy="6306532"/>
            <a:chOff x="7202078" y="273377"/>
            <a:chExt cx="4656842" cy="6306532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BE16B66-0DBA-802A-418A-754C50655FEA}"/>
                </a:ext>
              </a:extLst>
            </p:cNvPr>
            <p:cNvSpPr/>
            <p:nvPr/>
          </p:nvSpPr>
          <p:spPr>
            <a:xfrm>
              <a:off x="7202078" y="273377"/>
              <a:ext cx="4656842" cy="6306532"/>
            </a:xfrm>
            <a:prstGeom prst="roundRect">
              <a:avLst>
                <a:gd name="adj" fmla="val 4427"/>
              </a:avLst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glow rad="2286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7" name="3D Model 26">
                  <a:extLst>
                    <a:ext uri="{FF2B5EF4-FFF2-40B4-BE49-F238E27FC236}">
                      <a16:creationId xmlns:a16="http://schemas.microsoft.com/office/drawing/2014/main" id="{5756FB96-7742-7B6A-261E-A977539BC5C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536897" y="2021162"/>
                <a:ext cx="1329649" cy="4028295"/>
              </p:xfrm>
              <a:graphic>
                <a:graphicData uri="http://schemas.microsoft.com/office/drawing/2017/model3d">
                  <am3d:model3d r:embed="rId8">
                    <am3d:spPr>
                      <a:xfrm>
                        <a:off x="0" y="0"/>
                        <a:ext cx="1329649" cy="4028295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6040" ay="-492794" az="8017"/>
                      <am3d:postTrans dx="0" dy="0" dz="0"/>
                    </am3d:trans>
                    <am3d:raster rName="Office3DRenderer" rVer="16.0.8326">
                      <am3d:blip r:embed="rId9"/>
                    </am3d:raster>
                    <am3d:objViewport viewportSz="436784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7" name="3D Model 26">
                  <a:extLst>
                    <a:ext uri="{FF2B5EF4-FFF2-40B4-BE49-F238E27FC236}">
                      <a16:creationId xmlns:a16="http://schemas.microsoft.com/office/drawing/2014/main" id="{5756FB96-7742-7B6A-261E-A977539BC5C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78852" y="2023519"/>
                  <a:ext cx="1329649" cy="4028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8" name="3D Model 27">
                  <a:extLst>
                    <a:ext uri="{FF2B5EF4-FFF2-40B4-BE49-F238E27FC236}">
                      <a16:creationId xmlns:a16="http://schemas.microsoft.com/office/drawing/2014/main" id="{A3ED597B-FA54-423C-9B94-E4EB73D08B6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 rot="16200000">
                <a:off x="9068973" y="-964417"/>
                <a:ext cx="923052" cy="3987204"/>
              </p:xfrm>
              <a:graphic>
                <a:graphicData uri="http://schemas.microsoft.com/office/drawing/2017/model3d">
                  <am3d:model3d r:embed="rId8">
                    <am3d:spPr>
                      <a:xfrm rot="16200000">
                        <a:off x="0" y="0"/>
                        <a:ext cx="923052" cy="3987204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5101969" ay="5180597" az="-5101353"/>
                      <am3d:postTrans dx="0" dy="0" dz="0"/>
                    </am3d:trans>
                    <am3d:raster rName="Office3DRenderer" rVer="16.0.8326">
                      <am3d:blip r:embed="rId10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8" name="3D Model 27">
                  <a:extLst>
                    <a:ext uri="{FF2B5EF4-FFF2-40B4-BE49-F238E27FC236}">
                      <a16:creationId xmlns:a16="http://schemas.microsoft.com/office/drawing/2014/main" id="{A3ED597B-FA54-423C-9B94-E4EB73D08B6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 rot="16200000">
                  <a:off x="14710928" y="-962060"/>
                  <a:ext cx="923052" cy="3987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29" name="3D Model 28">
                  <a:extLst>
                    <a:ext uri="{FF2B5EF4-FFF2-40B4-BE49-F238E27FC236}">
                      <a16:creationId xmlns:a16="http://schemas.microsoft.com/office/drawing/2014/main" id="{D9BAC87E-87D0-09A3-5E7B-137290E329A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982922" y="2100317"/>
                <a:ext cx="1227564" cy="3949140"/>
              </p:xfrm>
              <a:graphic>
                <a:graphicData uri="http://schemas.microsoft.com/office/drawing/2017/model3d">
                  <am3d:model3d r:embed="rId8">
                    <am3d:spPr>
                      <a:xfrm>
                        <a:off x="0" y="0"/>
                        <a:ext cx="1227564" cy="3949140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10352909" ay="-83017" az="-10789139"/>
                      <am3d:postTrans dx="0" dy="0" dz="0"/>
                    </am3d:trans>
                    <am3d:raster rName="Office3DRenderer" rVer="16.0.8326">
                      <am3d:blip r:embed="rId11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29" name="3D Model 28">
                  <a:extLst>
                    <a:ext uri="{FF2B5EF4-FFF2-40B4-BE49-F238E27FC236}">
                      <a16:creationId xmlns:a16="http://schemas.microsoft.com/office/drawing/2014/main" id="{D9BAC87E-87D0-09A3-5E7B-137290E329A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624877" y="2102674"/>
                  <a:ext cx="1227564" cy="394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0" name="3D Model 29">
                  <a:extLst>
                    <a:ext uri="{FF2B5EF4-FFF2-40B4-BE49-F238E27FC236}">
                      <a16:creationId xmlns:a16="http://schemas.microsoft.com/office/drawing/2014/main" id="{21E7BF67-8AD8-ADE0-3D87-C9E2DB2A261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50837" y="1975094"/>
                <a:ext cx="942084" cy="4025269"/>
              </p:xfrm>
              <a:graphic>
                <a:graphicData uri="http://schemas.microsoft.com/office/drawing/2017/model3d">
                  <am3d:model3d r:embed="rId8">
                    <am3d:spPr>
                      <a:xfrm>
                        <a:off x="0" y="0"/>
                        <a:ext cx="942084" cy="4025269"/>
                      </a:xfrm>
                      <a:prstGeom prst="rect">
                        <a:avLst/>
                      </a:prstGeom>
                    </am3d:spPr>
                    <am3d:camera>
                      <am3d:pos x="0" y="0" z="5051487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77911" d="1000000"/>
                      <am3d:preTrans dx="103" dy="-18249250" dz="3323196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4234194" ay="-4998648" az="4226831"/>
                      <am3d:postTrans dx="0" dy="0" dz="0"/>
                    </am3d:trans>
                    <am3d:raster rName="Office3DRenderer" rVer="16.0.8326">
                      <am3d:blip r:embed="rId12"/>
                    </am3d:raster>
                    <am3d:objViewport viewportSz="4367844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0" name="3D Model 29">
                  <a:extLst>
                    <a:ext uri="{FF2B5EF4-FFF2-40B4-BE49-F238E27FC236}">
                      <a16:creationId xmlns:a16="http://schemas.microsoft.com/office/drawing/2014/main" id="{21E7BF67-8AD8-ADE0-3D87-C9E2DB2A26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092792" y="1977451"/>
                  <a:ext cx="942084" cy="40252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8D4CCB0-BA0F-E955-1617-2EA541B330C1}"/>
              </a:ext>
            </a:extLst>
          </p:cNvPr>
          <p:cNvGrpSpPr/>
          <p:nvPr/>
        </p:nvGrpSpPr>
        <p:grpSpPr>
          <a:xfrm>
            <a:off x="1374648" y="8378105"/>
            <a:ext cx="4765016" cy="5518661"/>
            <a:chOff x="964293" y="758378"/>
            <a:chExt cx="4765016" cy="55186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5F82F1-9CBD-AEBD-8B3F-C13D3591804F}"/>
                </a:ext>
              </a:extLst>
            </p:cNvPr>
            <p:cNvSpPr txBox="1"/>
            <p:nvPr/>
          </p:nvSpPr>
          <p:spPr>
            <a:xfrm>
              <a:off x="967777" y="1752724"/>
              <a:ext cx="4702628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Este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clasică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indiană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(raga,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pentru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meditație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Apare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combinații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cu jazz, rock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electronică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Se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regăsește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indiene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și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coloane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sonore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din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filme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internaționale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Trupe ca Beatles, Rolling Stones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sau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artista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Anoushka Shankar au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folosit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sitarul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în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melodii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cunoscute</a:t>
              </a:r>
              <a: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.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FB2EB8-0F4A-10B6-2A56-7C50A394B567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3" y="1708140"/>
              <a:ext cx="4765015" cy="0"/>
            </a:xfrm>
            <a:prstGeom prst="line">
              <a:avLst/>
            </a:prstGeom>
            <a:ln w="19050">
              <a:solidFill>
                <a:srgbClr val="FFD700"/>
              </a:solidFill>
            </a:ln>
            <a:effectLst>
              <a:glow rad="1016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F10133-B5EE-50D6-5A6F-410F54221B48}"/>
                </a:ext>
              </a:extLst>
            </p:cNvPr>
            <p:cNvSpPr txBox="1"/>
            <p:nvPr/>
          </p:nvSpPr>
          <p:spPr>
            <a:xfrm>
              <a:off x="964293" y="758378"/>
              <a:ext cx="4765016" cy="954107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SITAR -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În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ce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muzici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apare</a:t>
              </a:r>
              <a:r>
                <a:rPr lang="en-US" sz="28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?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CC97F28-F94A-43C8-2E55-A7C2C603F838}"/>
              </a:ext>
            </a:extLst>
          </p:cNvPr>
          <p:cNvGrpSpPr/>
          <p:nvPr/>
        </p:nvGrpSpPr>
        <p:grpSpPr>
          <a:xfrm>
            <a:off x="664675" y="620957"/>
            <a:ext cx="10844554" cy="5727256"/>
            <a:chOff x="664675" y="620957"/>
            <a:chExt cx="10844554" cy="572725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0CAE2FB-8282-11CA-F5E6-5AAB9DC3CFA7}"/>
                </a:ext>
              </a:extLst>
            </p:cNvPr>
            <p:cNvGrpSpPr/>
            <p:nvPr/>
          </p:nvGrpSpPr>
          <p:grpSpPr>
            <a:xfrm>
              <a:off x="664675" y="620957"/>
              <a:ext cx="10844554" cy="4046907"/>
              <a:chOff x="825395" y="845138"/>
              <a:chExt cx="10844554" cy="404690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BA37E0C-D685-2A95-EEA7-E83AA6FEDC5A}"/>
                  </a:ext>
                </a:extLst>
              </p:cNvPr>
              <p:cNvSpPr txBox="1"/>
              <p:nvPr/>
            </p:nvSpPr>
            <p:spPr>
              <a:xfrm>
                <a:off x="967777" y="1752724"/>
                <a:ext cx="470262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  </a:t>
                </a:r>
                <a:r>
                  <a:rPr lang="en-US" sz="2400" dirty="0" err="1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Genuri</a:t>
                </a:r>
                <a:r>
                  <a:rPr lang="en-US" sz="24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:</a:t>
                </a:r>
              </a:p>
              <a:p>
                <a:endPara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Muzică</a:t>
                </a: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 </a:t>
                </a:r>
                <a:r>
                  <a:rPr lang="en-US" sz="2000" dirty="0" err="1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clasică</a:t>
                </a: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 </a:t>
                </a:r>
                <a:r>
                  <a:rPr lang="en-US" sz="2000" dirty="0" err="1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indiană</a:t>
                </a: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 (raga)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Psychedelic rock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World music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Jazz 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Ambient &amp; </a:t>
                </a:r>
                <a:r>
                  <a:rPr lang="en-US" sz="2000" dirty="0" err="1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meditație</a:t>
                </a:r>
                <a:br>
                  <a:rPr lang="en-US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</a:br>
                <a:br>
                  <a:rPr lang="en-US" dirty="0"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</a:br>
                <a:endPara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D688D9F-57D1-ECFF-CA6F-71DC308BE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3" y="1708140"/>
                <a:ext cx="10705656" cy="0"/>
              </a:xfrm>
              <a:prstGeom prst="line">
                <a:avLst/>
              </a:prstGeom>
              <a:ln w="19050">
                <a:solidFill>
                  <a:srgbClr val="FFD700"/>
                </a:solidFill>
              </a:ln>
              <a:effectLst>
                <a:glow rad="101600">
                  <a:schemeClr val="tx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D103ABA-9ADB-1CD5-EA7D-EF13F06D0348}"/>
                  </a:ext>
                </a:extLst>
              </p:cNvPr>
              <p:cNvSpPr txBox="1"/>
              <p:nvPr/>
            </p:nvSpPr>
            <p:spPr>
              <a:xfrm>
                <a:off x="825395" y="845138"/>
                <a:ext cx="10649711" cy="769441"/>
              </a:xfrm>
              <a:prstGeom prst="rect">
                <a:avLst/>
              </a:prstGeom>
              <a:noFill/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SITAR – </a:t>
                </a:r>
                <a:r>
                  <a:rPr lang="en-US" sz="44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Genuri</a:t>
                </a:r>
                <a:r>
                  <a:rPr lang="en-US" sz="44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 , </a:t>
                </a:r>
                <a:r>
                  <a:rPr lang="en-US" sz="44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sunete</a:t>
                </a:r>
                <a:r>
                  <a:rPr lang="en-US" sz="4400" spc="-150" dirty="0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, </a:t>
                </a:r>
                <a:r>
                  <a:rPr lang="en-US" sz="4400" spc="-150" dirty="0" err="1">
                    <a:ln w="3175">
                      <a:noFill/>
                    </a:ln>
                    <a:solidFill>
                      <a:srgbClr val="FFD700"/>
                    </a:solidFill>
                    <a:effectLst>
                      <a:glow rad="228600">
                        <a:schemeClr val="tx1">
                          <a:alpha val="40000"/>
                        </a:schemeClr>
                      </a:glow>
                    </a:effectLst>
                    <a:latin typeface="Lucida Handwriting" panose="03010101010101010101" pitchFamily="66" charset="0"/>
                  </a:rPr>
                  <a:t>muzici</a:t>
                </a:r>
                <a:endParaRPr lang="en-US" sz="4400" spc="-150" dirty="0">
                  <a:ln w="31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3DF26D-3742-9CF0-C312-320BCEFA6DCC}"/>
                </a:ext>
              </a:extLst>
            </p:cNvPr>
            <p:cNvSpPr txBox="1"/>
            <p:nvPr/>
          </p:nvSpPr>
          <p:spPr>
            <a:xfrm>
              <a:off x="5977830" y="1472462"/>
              <a:ext cx="47026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b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b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D6EAC3E-5322-7EA2-3ECE-8C4CB4323023}"/>
                </a:ext>
              </a:extLst>
            </p:cNvPr>
            <p:cNvSpPr/>
            <p:nvPr/>
          </p:nvSpPr>
          <p:spPr>
            <a:xfrm>
              <a:off x="3366718" y="5072442"/>
              <a:ext cx="1275771" cy="1275771"/>
            </a:xfrm>
            <a:prstGeom prst="ellipse">
              <a:avLst/>
            </a:prstGeom>
            <a:solidFill>
              <a:srgbClr val="FFD700"/>
            </a:solidFill>
            <a:ln>
              <a:solidFill>
                <a:srgbClr val="FFEB3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984604-460F-1397-8708-98B72D70040F}"/>
                </a:ext>
              </a:extLst>
            </p:cNvPr>
            <p:cNvSpPr txBox="1"/>
            <p:nvPr/>
          </p:nvSpPr>
          <p:spPr>
            <a:xfrm>
              <a:off x="2618581" y="4239798"/>
              <a:ext cx="87477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28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0B677-D8E1-6CEC-3FCB-1C53BA0B696F}"/>
                </a:ext>
              </a:extLst>
            </p:cNvPr>
            <p:cNvSpPr txBox="1"/>
            <p:nvPr/>
          </p:nvSpPr>
          <p:spPr>
            <a:xfrm>
              <a:off x="1346773" y="4344698"/>
              <a:ext cx="87477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r>
                <a:rPr lang="en-US" sz="3200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Sunete</a:t>
              </a:r>
              <a:r>
                <a:rPr lang="en-US" sz="32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sitar:</a:t>
              </a:r>
              <a:endParaRPr lang="en-US" sz="36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41202C-9996-DDAC-3283-13D7C576D3B1}"/>
                </a:ext>
              </a:extLst>
            </p:cNvPr>
            <p:cNvSpPr txBox="1"/>
            <p:nvPr/>
          </p:nvSpPr>
          <p:spPr>
            <a:xfrm>
              <a:off x="6139663" y="1586184"/>
              <a:ext cx="4702628" cy="323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 </a:t>
              </a:r>
              <a:r>
                <a:rPr lang="en-US" sz="2400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Muzica</a:t>
              </a: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:</a:t>
              </a:r>
              <a:b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</a:t>
              </a:r>
              <a:b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"Within You Without You" – The Beatles</a:t>
              </a: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</a:t>
              </a:r>
              <a:r>
                <a:rPr lang="en-US" sz="2400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inceput</a:t>
              </a: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)</a:t>
              </a:r>
              <a:b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b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</a:t>
              </a:r>
              <a:r>
                <a:rPr lang="en-US" sz="2400" dirty="0" err="1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Bulería</a:t>
              </a: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con Ricardo" – Anoushka Shankar</a:t>
              </a:r>
              <a:r>
                <a:rPr lang="en-US" sz="2400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 (20s)</a:t>
              </a:r>
              <a:b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br>
                <a:rPr lang="en-US" dirty="0"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</a:br>
              <a:endParaRPr lang="en-US" dirty="0"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pic>
          <p:nvPicPr>
            <p:cNvPr id="51" name="sitar-72535">
              <a:hlinkClick r:id="" action="ppaction://media"/>
              <a:extLst>
                <a:ext uri="{FF2B5EF4-FFF2-40B4-BE49-F238E27FC236}">
                  <a16:creationId xmlns:a16="http://schemas.microsoft.com/office/drawing/2014/main" id="{39CBEEE5-7B2B-1FB4-7D12-DA63446D78DF}"/>
                </a:ext>
              </a:extLst>
            </p:cNvPr>
            <p:cNvPicPr>
              <a:picLocks noChangeAspect="1"/>
            </p:cNvPicPr>
            <p:nvPr>
              <a:audi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15">
              <a:biLevel thresh="75000"/>
            </a:blip>
            <a:stretch>
              <a:fillRect/>
            </a:stretch>
          </p:blipFill>
          <p:spPr>
            <a:xfrm>
              <a:off x="3604851" y="5291298"/>
              <a:ext cx="799504" cy="799504"/>
            </a:xfrm>
            <a:prstGeom prst="rect">
              <a:avLst/>
            </a:prstGeom>
            <a:noFill/>
          </p:spPr>
        </p:pic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30B2769-326B-0BBE-B076-CB385177BA31}"/>
                </a:ext>
              </a:extLst>
            </p:cNvPr>
            <p:cNvSpPr/>
            <p:nvPr/>
          </p:nvSpPr>
          <p:spPr>
            <a:xfrm>
              <a:off x="1486540" y="5063802"/>
              <a:ext cx="1275771" cy="1275771"/>
            </a:xfrm>
            <a:prstGeom prst="ellipse">
              <a:avLst/>
            </a:prstGeom>
            <a:solidFill>
              <a:srgbClr val="FFD700"/>
            </a:solidFill>
            <a:ln>
              <a:solidFill>
                <a:srgbClr val="FFEB3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8" name="sitar-215153">
              <a:hlinkClick r:id="" action="ppaction://media"/>
              <a:extLst>
                <a:ext uri="{FF2B5EF4-FFF2-40B4-BE49-F238E27FC236}">
                  <a16:creationId xmlns:a16="http://schemas.microsoft.com/office/drawing/2014/main" id="{C7ABF277-1CBB-1299-29F9-6DA7E1802683}"/>
                </a:ext>
              </a:extLst>
            </p:cNvPr>
            <p:cNvPicPr>
              <a:picLocks noChangeAspect="1"/>
            </p:cNvPicPr>
            <p:nvPr>
              <a:audi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15">
              <a:biLevel thresh="75000"/>
            </a:blip>
            <a:stretch>
              <a:fillRect/>
            </a:stretch>
          </p:blipFill>
          <p:spPr>
            <a:xfrm>
              <a:off x="1718284" y="5250266"/>
              <a:ext cx="881568" cy="881568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0E6E600-B2DD-3B4D-64EA-9B4613D9F1A7}"/>
              </a:ext>
            </a:extLst>
          </p:cNvPr>
          <p:cNvGrpSpPr/>
          <p:nvPr/>
        </p:nvGrpSpPr>
        <p:grpSpPr>
          <a:xfrm>
            <a:off x="1519238" y="-2231886"/>
            <a:ext cx="9153524" cy="707886"/>
            <a:chOff x="1519238" y="2721114"/>
            <a:chExt cx="9153524" cy="70788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8B7646A-036E-9392-66FB-840CB79C1ED1}"/>
                </a:ext>
              </a:extLst>
            </p:cNvPr>
            <p:cNvSpPr txBox="1"/>
            <p:nvPr/>
          </p:nvSpPr>
          <p:spPr>
            <a:xfrm>
              <a:off x="1519238" y="2721114"/>
              <a:ext cx="9153524" cy="7078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Multumesc</a:t>
              </a:r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pentru</a:t>
              </a:r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atentie</a:t>
              </a:r>
              <a:endParaRPr lang="en-US" sz="4000" spc="-150" dirty="0">
                <a:ln w="15875">
                  <a:noFill/>
                </a:ln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Lucida Handwriting" panose="03010101010101010101" pitchFamily="66" charset="0"/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7986083-BA03-F62E-B8A8-46DD23A94A41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0" y="3429000"/>
              <a:ext cx="4286250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5E2E61-93EA-3A7A-A82E-7A4BFAD23B25}"/>
              </a:ext>
            </a:extLst>
          </p:cNvPr>
          <p:cNvGrpSpPr/>
          <p:nvPr/>
        </p:nvGrpSpPr>
        <p:grpSpPr>
          <a:xfrm>
            <a:off x="1577980" y="10226040"/>
            <a:ext cx="9153524" cy="707886"/>
            <a:chOff x="1581150" y="3429000"/>
            <a:chExt cx="9153524" cy="707886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6F3578F-87C4-0A0F-BF15-E04F8A21F4EF}"/>
                </a:ext>
              </a:extLst>
            </p:cNvPr>
            <p:cNvSpPr txBox="1"/>
            <p:nvPr/>
          </p:nvSpPr>
          <p:spPr>
            <a:xfrm>
              <a:off x="1581150" y="3613666"/>
              <a:ext cx="9153524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Proiect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facut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de: Petrescu Matei 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8D25C97-5265-47A1-5B30-6DA72F2B153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429000"/>
              <a:ext cx="4410075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120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10000"/>
              </a:schemeClr>
            </a:gs>
            <a:gs pos="85000">
              <a:srgbClr val="C9E8F7">
                <a:alpha val="60000"/>
              </a:srgbClr>
            </a:gs>
            <a:gs pos="48000">
              <a:schemeClr val="accent1">
                <a:lumMod val="30000"/>
                <a:lumOff val="70000"/>
                <a:alpha val="30000"/>
              </a:schemeClr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B8E51-7577-B453-629F-5E7892B3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mountain with trees and clouds&#10;&#10;AI-generated content may be incorrect.">
            <a:extLst>
              <a:ext uri="{FF2B5EF4-FFF2-40B4-BE49-F238E27FC236}">
                <a16:creationId xmlns:a16="http://schemas.microsoft.com/office/drawing/2014/main" id="{6941414D-8D3D-D82F-FA27-6B590B7E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92" y="0"/>
            <a:ext cx="12239626" cy="16319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EED7AD-6EA3-4A53-9722-11F7AE02A7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85000"/>
                  <a:lumOff val="15000"/>
                  <a:alpha val="50000"/>
                </a:schemeClr>
              </a:gs>
              <a:gs pos="80000">
                <a:schemeClr val="tx1">
                  <a:alpha val="6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CE39E4-52E6-2168-68B2-6CFA8D1D1DB7}"/>
              </a:ext>
            </a:extLst>
          </p:cNvPr>
          <p:cNvGrpSpPr/>
          <p:nvPr/>
        </p:nvGrpSpPr>
        <p:grpSpPr>
          <a:xfrm>
            <a:off x="1519238" y="2721114"/>
            <a:ext cx="9153524" cy="707886"/>
            <a:chOff x="1519238" y="2721114"/>
            <a:chExt cx="9153524" cy="70788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43A04F-8F47-7AB6-7257-FC323E8E1B26}"/>
                </a:ext>
              </a:extLst>
            </p:cNvPr>
            <p:cNvSpPr txBox="1"/>
            <p:nvPr/>
          </p:nvSpPr>
          <p:spPr>
            <a:xfrm>
              <a:off x="1519238" y="2721114"/>
              <a:ext cx="9153524" cy="7078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Multumesc</a:t>
              </a:r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pentru</a:t>
              </a:r>
              <a:r>
                <a:rPr lang="en-US" sz="4000" spc="-150" dirty="0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4000" spc="-150" dirty="0" err="1">
                  <a:ln w="1587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atentie</a:t>
              </a:r>
              <a:endParaRPr lang="en-US" sz="4000" spc="-150" dirty="0">
                <a:ln w="15875">
                  <a:noFill/>
                </a:ln>
                <a:solidFill>
                  <a:srgbClr val="FFD700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Lucida Handwriting" panose="03010101010101010101" pitchFamily="66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9D1175-9DE2-2F42-6B44-E15338EEE932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0" y="3429000"/>
              <a:ext cx="4286250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CB0BA0-20B6-7232-E06F-C1697142E6FB}"/>
              </a:ext>
            </a:extLst>
          </p:cNvPr>
          <p:cNvGrpSpPr/>
          <p:nvPr/>
        </p:nvGrpSpPr>
        <p:grpSpPr>
          <a:xfrm>
            <a:off x="1581150" y="3429000"/>
            <a:ext cx="9153524" cy="707886"/>
            <a:chOff x="1581150" y="3429000"/>
            <a:chExt cx="9153524" cy="70788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2895CB-5C2A-8D6F-A93B-1661A2F8F27F}"/>
                </a:ext>
              </a:extLst>
            </p:cNvPr>
            <p:cNvSpPr txBox="1"/>
            <p:nvPr/>
          </p:nvSpPr>
          <p:spPr>
            <a:xfrm>
              <a:off x="1581150" y="3613666"/>
              <a:ext cx="9153524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Proiect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</a:t>
              </a:r>
              <a:r>
                <a:rPr lang="en-US" sz="2800" spc="-150" dirty="0" err="1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facut</a:t>
              </a:r>
              <a:r>
                <a:rPr lang="en-US" sz="2800" spc="-150" dirty="0">
                  <a:ln w="9525">
                    <a:noFill/>
                  </a:ln>
                  <a:solidFill>
                    <a:srgbClr val="FFD700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Lucida Handwriting" panose="03010101010101010101" pitchFamily="66" charset="0"/>
                </a:rPr>
                <a:t> de: Petrescu Matei 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0176DD-DE71-AADD-2A6C-302623633EA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429000"/>
              <a:ext cx="4410075" cy="0"/>
            </a:xfrm>
            <a:prstGeom prst="line">
              <a:avLst/>
            </a:prstGeom>
            <a:ln>
              <a:solidFill>
                <a:srgbClr val="FFD700"/>
              </a:solidFill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2318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870</Words>
  <Application>Microsoft Office PowerPoint</Application>
  <PresentationFormat>Widescreen</PresentationFormat>
  <Paragraphs>128</Paragraphs>
  <Slides>7</Slides>
  <Notes>7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Cascadia Code SemiBold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</dc:creator>
  <cp:lastModifiedBy>Matei</cp:lastModifiedBy>
  <cp:revision>6</cp:revision>
  <dcterms:created xsi:type="dcterms:W3CDTF">2025-05-05T18:15:54Z</dcterms:created>
  <dcterms:modified xsi:type="dcterms:W3CDTF">2025-05-14T08:30:34Z</dcterms:modified>
</cp:coreProperties>
</file>