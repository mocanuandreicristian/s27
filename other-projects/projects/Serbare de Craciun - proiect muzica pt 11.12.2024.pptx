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3" r:id="rId5"/>
    <p:sldId id="264" r:id="rId6"/>
    <p:sldId id="266" r:id="rId7"/>
    <p:sldId id="267" r:id="rId8"/>
    <p:sldId id="268" r:id="rId9"/>
    <p:sldId id="271" r:id="rId10"/>
    <p:sldId id="272" r:id="rId11"/>
    <p:sldId id="273" r:id="rId12"/>
    <p:sldId id="269" r:id="rId1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6331" autoAdjust="0"/>
  </p:normalViewPr>
  <p:slideViewPr>
    <p:cSldViewPr snapToGrid="0">
      <p:cViewPr>
        <p:scale>
          <a:sx n="25" d="100"/>
          <a:sy n="25" d="100"/>
        </p:scale>
        <p:origin x="4032" y="1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CEE6-5FFD-416E-9270-F874459EB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2D00E-FE88-4B4A-A7EE-EC92AFAD0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C236D-C1A8-411E-8D40-605339A5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8AFAE-7BFE-4D3A-BA20-3BBF9AEC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499D5-36E6-4B61-8051-9F79AF49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8353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216A-B00D-4C24-ACA7-715CDB918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D8A1-25FB-418B-9166-9AEDE2750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641BC-B85C-44BA-B40F-CB353A8D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C93F3-14F7-4459-9A88-8060DBDE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4ACA-3A23-4FF5-8B46-89A802E7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9667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B316-9D4A-471D-B6AC-64AB20BA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119B6-9711-438D-BA88-8FE01347C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0EF62-DA53-428A-9675-3F5BF786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12667-8887-4BD6-B97E-6914A8D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A39C9-4467-4CF1-81B6-0F9BB7EA8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340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A1E4-8487-4DBC-9D57-8DBAEB38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BA6B2-145C-443E-9685-9FC051402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50B73-C3C0-49BD-B420-FD4A55A93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A58D8-EAA5-4147-AB65-651445C4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8B6D8-6410-40C2-ADD7-96C7F671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44AB1-F01F-468F-805A-1B325CED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5451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21E5-6785-41B0-9E9A-C19BAD12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04858-66A1-4285-9BC7-389205D2B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4DA64-DC1A-4E53-9496-01C9D4697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E6BFD-31E5-4278-81AC-91B5EA888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49467-DED4-4838-8EB0-A09A86614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BCAAA-468F-49A0-9E09-EAD8DB6A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1ED68-D0C7-418D-BD22-8D49526B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CA351-A5E8-4087-9655-5373C15C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9195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AF8C-EAEF-4ED9-9E32-1E6DDFA1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76C51-92FB-43EB-AB82-F5ABE62C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7C1EBE-6CAD-4A4C-B920-61DEB621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6C18F-62FD-493B-8EC7-6C039477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97892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5CA88-15AF-4F21-8F7F-A8B58D36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9D2B7-2679-44C0-998B-FFEB60EF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38FEF-4F2B-47B7-A011-F29F271E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241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76F87-70B8-4A85-9632-34C96A32E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25098-2ED6-4F7E-9B1B-6CDFCD6E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84824-039C-4A6F-B13B-F637D27A5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5AB96-941F-4505-8E08-9977E399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F8438-EB69-4921-A1EB-0B5BBCA4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7FFC5-52C8-423D-9D3B-DC732EA8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4531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BFD2-2359-4A9A-A306-662082D03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9E7366-A149-40E6-A45A-42A8E62AB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A0273-821D-4D4A-937B-8B1B63726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2BE2F-7E21-4A07-9782-8DE46958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6FE70-4077-4A44-BC9B-5C39A5BF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19D0E-2D14-41BE-A96F-EA0CE105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8556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B264-2050-4D58-8720-5E1B3B98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2050D-F130-4A03-9F1C-7622342DB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FBED-C481-4EB3-8FDF-FCD4F69A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038D1-068E-4940-8E21-BD3766E9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DAD48-B20E-423C-8FCD-7C311656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8865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D4FD7-DAD6-4B07-8638-1CC05DA24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32737-B01E-42A5-BC64-0A21043B5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71DCC-5835-4BB6-BF75-4259710BB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04FF4-6BD6-40A3-B7FD-F40285FFC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01488-8EB4-4ACB-B530-330CAA5D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7697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B5FBA-0A12-407E-98F6-40ABD12B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732E2-BEB5-4215-94C3-9D8E070BC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638A9-338C-42DF-911E-73D25DE3A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7A792-4D5F-49EE-9C3F-C3DABFBE9F7A}" type="datetimeFigureOut">
              <a:rPr lang="ro-RO" smtClean="0"/>
              <a:t>18.12.2024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531AC-F591-47E1-B286-F434562CB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EC21D-04D1-429C-B478-1E2EBC771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0A629-5FB7-49A2-B5D6-1CD38F6F95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336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elebration-christmas-christmas-decoration-decoration-25989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0CAFEB7-7872-4480-A4A7-FAE44FED8DD6}"/>
              </a:ext>
            </a:extLst>
          </p:cNvPr>
          <p:cNvSpPr/>
          <p:nvPr/>
        </p:nvSpPr>
        <p:spPr>
          <a:xfrm>
            <a:off x="-1295400" y="-1104900"/>
            <a:ext cx="7645400" cy="95377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9337A8D6-D5D8-4A3B-ACDB-3E82A0292484}"/>
              </a:ext>
            </a:extLst>
          </p:cNvPr>
          <p:cNvSpPr/>
          <p:nvPr/>
        </p:nvSpPr>
        <p:spPr>
          <a:xfrm rot="10800000">
            <a:off x="6002867" y="-1128596"/>
            <a:ext cx="7645400" cy="95377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75C69-2F9A-4207-8AE7-904C0A67291E}"/>
              </a:ext>
            </a:extLst>
          </p:cNvPr>
          <p:cNvSpPr txBox="1"/>
          <p:nvPr/>
        </p:nvSpPr>
        <p:spPr>
          <a:xfrm>
            <a:off x="2527300" y="3087543"/>
            <a:ext cx="7205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-15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SERBARE DE CRACIUN</a:t>
            </a:r>
            <a:endParaRPr lang="ro-RO" sz="5400" spc="-15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20CD9-BD91-4898-A6E8-BCD022880D7E}"/>
              </a:ext>
            </a:extLst>
          </p:cNvPr>
          <p:cNvSpPr txBox="1"/>
          <p:nvPr/>
        </p:nvSpPr>
        <p:spPr>
          <a:xfrm>
            <a:off x="29633" y="6119336"/>
            <a:ext cx="2497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2"/>
                </a:solidFill>
              </a:rPr>
              <a:t>Proiect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  <a:r>
              <a:rPr lang="en-US" sz="1400" dirty="0" err="1">
                <a:solidFill>
                  <a:schemeClr val="bg2"/>
                </a:solidFill>
              </a:rPr>
              <a:t>realizat</a:t>
            </a:r>
            <a:r>
              <a:rPr lang="en-US" sz="1400" dirty="0">
                <a:solidFill>
                  <a:schemeClr val="bg2"/>
                </a:solidFill>
              </a:rPr>
              <a:t> de: </a:t>
            </a:r>
          </a:p>
          <a:p>
            <a:r>
              <a:rPr lang="en-US" sz="1400" dirty="0">
                <a:solidFill>
                  <a:schemeClr val="bg2"/>
                </a:solidFill>
              </a:rPr>
              <a:t>P. Matei, M. Cristian, E. Eduard,</a:t>
            </a:r>
          </a:p>
          <a:p>
            <a:r>
              <a:rPr lang="en-US" sz="1400" dirty="0">
                <a:solidFill>
                  <a:schemeClr val="bg2"/>
                </a:solidFill>
              </a:rPr>
              <a:t>C. Darius, G. Lucas</a:t>
            </a:r>
            <a:endParaRPr lang="ro-RO" sz="1400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53945-F51A-4148-BD5A-F2E756F64C28}"/>
              </a:ext>
            </a:extLst>
          </p:cNvPr>
          <p:cNvSpPr txBox="1"/>
          <p:nvPr/>
        </p:nvSpPr>
        <p:spPr>
          <a:xfrm>
            <a:off x="1485900" y="-5129886"/>
            <a:ext cx="8246534" cy="378565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o-RO" sz="2400" dirty="0">
                <a:solidFill>
                  <a:schemeClr val="bg2"/>
                </a:solidFill>
              </a:rPr>
              <a:t>Am plecat sa colindam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Cand boierii nu-s acasa.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Si-au plecat la vanatoare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Sa vaneze caprioare.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Caprioare n-au vanat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Si-au vanat un iepuras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Sa faca din blana lui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Vesmant frumos Domnului.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</a:p>
          <a:p>
            <a:endParaRPr lang="ro-RO" sz="2400" dirty="0"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CC73B4-485F-4F46-AE84-338985B88AFC}"/>
              </a:ext>
            </a:extLst>
          </p:cNvPr>
          <p:cNvSpPr txBox="1"/>
          <p:nvPr/>
        </p:nvSpPr>
        <p:spPr>
          <a:xfrm>
            <a:off x="2297641" y="-4244415"/>
            <a:ext cx="74104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bg2"/>
                </a:solidFill>
              </a:rPr>
              <a:t>Domn</a:t>
            </a:r>
            <a:r>
              <a:rPr lang="en-US" sz="3200" b="1" dirty="0">
                <a:solidFill>
                  <a:schemeClr val="bg2"/>
                </a:solidFill>
              </a:rPr>
              <a:t> </a:t>
            </a:r>
            <a:r>
              <a:rPr lang="en-US" sz="3200" b="1" dirty="0" err="1">
                <a:solidFill>
                  <a:schemeClr val="bg2"/>
                </a:solidFill>
              </a:rPr>
              <a:t>Domn</a:t>
            </a:r>
            <a:r>
              <a:rPr lang="en-US" sz="3200" b="1" dirty="0">
                <a:solidFill>
                  <a:schemeClr val="bg2"/>
                </a:solidFill>
              </a:rPr>
              <a:t> </a:t>
            </a:r>
            <a:r>
              <a:rPr lang="en-US" sz="3200" b="1" dirty="0" err="1">
                <a:solidFill>
                  <a:schemeClr val="bg2"/>
                </a:solidFill>
              </a:rPr>
              <a:t>sa-naltam</a:t>
            </a:r>
            <a:r>
              <a:rPr lang="en-US" sz="3200" b="1" dirty="0">
                <a:solidFill>
                  <a:schemeClr val="bg2"/>
                </a:solidFill>
              </a:rPr>
              <a:t>!</a:t>
            </a:r>
            <a:endParaRPr lang="ro-RO" sz="32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97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0CAFEB7-7872-4480-A4A7-FAE44FED8DD6}"/>
              </a:ext>
            </a:extLst>
          </p:cNvPr>
          <p:cNvSpPr/>
          <p:nvPr/>
        </p:nvSpPr>
        <p:spPr>
          <a:xfrm>
            <a:off x="-4229100" y="2967334"/>
            <a:ext cx="7645400" cy="95377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9337A8D6-D5D8-4A3B-ACDB-3E82A0292484}"/>
              </a:ext>
            </a:extLst>
          </p:cNvPr>
          <p:cNvSpPr/>
          <p:nvPr/>
        </p:nvSpPr>
        <p:spPr>
          <a:xfrm rot="10800000">
            <a:off x="9876367" y="-4191000"/>
            <a:ext cx="7645400" cy="95377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53945-F51A-4148-BD5A-F2E756F64C28}"/>
              </a:ext>
            </a:extLst>
          </p:cNvPr>
          <p:cNvSpPr txBox="1"/>
          <p:nvPr/>
        </p:nvSpPr>
        <p:spPr>
          <a:xfrm>
            <a:off x="1735462" y="1294510"/>
            <a:ext cx="8691444" cy="378565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o-RO" sz="2400" dirty="0">
                <a:solidFill>
                  <a:schemeClr val="bg2"/>
                </a:solidFill>
              </a:rPr>
              <a:t>Am plecat sa colindam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Cand boierii nu-s acasa.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Si-au plecat la vanatoare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Sa vaneze caprioare.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Caprioare n-au vanat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Si-au vanat un iepuras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Sa faca din blana lui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Vesmant frumos Domnului.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AD100F-E9F3-4BE2-B749-A3AD38F4936E}"/>
              </a:ext>
            </a:extLst>
          </p:cNvPr>
          <p:cNvSpPr txBox="1"/>
          <p:nvPr/>
        </p:nvSpPr>
        <p:spPr>
          <a:xfrm>
            <a:off x="3109384" y="113196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Domn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Domn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sa-naltam</a:t>
            </a:r>
            <a:r>
              <a:rPr lang="en-US" sz="3200" b="1" dirty="0">
                <a:solidFill>
                  <a:schemeClr val="bg1"/>
                </a:solidFill>
              </a:rPr>
              <a:t>!</a:t>
            </a:r>
            <a:endParaRPr lang="ro-RO" sz="32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FE560-E3FA-42B9-8FD8-3A7595FABB5F}"/>
              </a:ext>
            </a:extLst>
          </p:cNvPr>
          <p:cNvSpPr txBox="1"/>
          <p:nvPr/>
        </p:nvSpPr>
        <p:spPr>
          <a:xfrm>
            <a:off x="1003300" y="-4033895"/>
            <a:ext cx="10185400" cy="2308324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I. </a:t>
            </a:r>
            <a:r>
              <a:rPr lang="ro-RO" sz="2400" dirty="0">
                <a:solidFill>
                  <a:schemeClr val="bg2"/>
                </a:solidFill>
              </a:rPr>
              <a:t>O, ce veste minunată!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În Betleem ni s-arată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Astăzi s-a născut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Cel făr' de-nceput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Cum au zis prorocii.</a:t>
            </a:r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II. </a:t>
            </a:r>
            <a:r>
              <a:rPr lang="ro-RO" sz="2400" dirty="0">
                <a:solidFill>
                  <a:schemeClr val="bg2"/>
                </a:solidFill>
              </a:rPr>
              <a:t>Că la Betleem Maria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Săvârşind călătoria,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Într-un mic sălaş,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Lângă-acel oraş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,A născut pe Mesia.</a:t>
            </a:r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III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ro-RO" sz="2400" dirty="0">
                <a:solidFill>
                  <a:schemeClr val="bg2"/>
                </a:solidFill>
              </a:rPr>
              <a:t>.Pe fiul în al Său nume,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Tatăl L-a trimis în lume,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Să se nascăŞi să crească,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Să ne mântuiască.</a:t>
            </a:r>
          </a:p>
          <a:p>
            <a:endParaRPr lang="ro-RO" sz="2400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5D5EA-9195-4525-BB44-6A5BA53F407C}"/>
              </a:ext>
            </a:extLst>
          </p:cNvPr>
          <p:cNvSpPr txBox="1"/>
          <p:nvPr/>
        </p:nvSpPr>
        <p:spPr>
          <a:xfrm>
            <a:off x="3924300" y="-5377907"/>
            <a:ext cx="4038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2"/>
                </a:solidFill>
              </a:rPr>
              <a:t>O, ce veste minunată</a:t>
            </a:r>
            <a:r>
              <a:rPr lang="en-US" sz="3200" b="1" dirty="0">
                <a:solidFill>
                  <a:schemeClr val="bg2"/>
                </a:solidFill>
              </a:rPr>
              <a:t>!</a:t>
            </a:r>
          </a:p>
          <a:p>
            <a:endParaRPr lang="ro-R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71D9D-D032-45CC-A579-85A36DCA3269}"/>
              </a:ext>
            </a:extLst>
          </p:cNvPr>
          <p:cNvSpPr txBox="1"/>
          <p:nvPr/>
        </p:nvSpPr>
        <p:spPr>
          <a:xfrm>
            <a:off x="1735462" y="8351245"/>
            <a:ext cx="9453238" cy="3785652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Cu cetina tot verde.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Tu esti copacul credincios,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Ce frunza nu si-o pierde,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Cu cetina tot verde.</a:t>
            </a:r>
            <a:br>
              <a:rPr lang="ro-RO" sz="2400" dirty="0">
                <a:solidFill>
                  <a:schemeClr val="bg1"/>
                </a:solidFill>
              </a:rPr>
            </a:b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Verdeata ta imi place.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Cand o revad sunt bucuros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Si vesel ea ma face.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Verdeata ta imi place.</a:t>
            </a:r>
          </a:p>
          <a:p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Cu frunza neschimbata.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Ma mangai si ma faci voios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Si ma-ntaresti indata.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Cu frunza neschimbata.</a:t>
            </a:r>
            <a:endParaRPr lang="ro-RO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F29400-1BF4-4000-8266-BA1334D31F6E}"/>
              </a:ext>
            </a:extLst>
          </p:cNvPr>
          <p:cNvSpPr txBox="1"/>
          <p:nvPr/>
        </p:nvSpPr>
        <p:spPr>
          <a:xfrm>
            <a:off x="4057650" y="7105650"/>
            <a:ext cx="4057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O Brad Frumos</a:t>
            </a:r>
          </a:p>
        </p:txBody>
      </p:sp>
    </p:spTree>
    <p:extLst>
      <p:ext uri="{BB962C8B-B14F-4D97-AF65-F5344CB8AC3E}">
        <p14:creationId xmlns:p14="http://schemas.microsoft.com/office/powerpoint/2010/main" val="271003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53945-F51A-4148-BD5A-F2E756F64C28}"/>
              </a:ext>
            </a:extLst>
          </p:cNvPr>
          <p:cNvSpPr txBox="1"/>
          <p:nvPr/>
        </p:nvSpPr>
        <p:spPr>
          <a:xfrm>
            <a:off x="-11444817" y="1536173"/>
            <a:ext cx="8305800" cy="378565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o-RO" sz="2400" dirty="0">
                <a:solidFill>
                  <a:schemeClr val="bg2"/>
                </a:solidFill>
              </a:rPr>
              <a:t>Am plecat sa colindam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Cand boierii nu-s acasa.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Si-au plecat la vanatoare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Sa vaneze caprioare.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Caprioare n-au vanat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Si-au vanat un iepuras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  <a:endParaRPr lang="en-US" sz="2400" dirty="0">
              <a:solidFill>
                <a:schemeClr val="bg2"/>
              </a:solidFill>
            </a:endParaRPr>
          </a:p>
          <a:p>
            <a:endParaRPr lang="ro-RO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Sa faca din blana lui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Vesmant frumos Domnului.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Domn, Domn sa-naltam! [x 2]</a:t>
            </a:r>
          </a:p>
          <a:p>
            <a:endParaRPr lang="ro-RO" sz="2400" dirty="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AD100F-E9F3-4BE2-B749-A3AD38F4936E}"/>
              </a:ext>
            </a:extLst>
          </p:cNvPr>
          <p:cNvSpPr txBox="1"/>
          <p:nvPr/>
        </p:nvSpPr>
        <p:spPr>
          <a:xfrm>
            <a:off x="13182539" y="767992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2"/>
                </a:solidFill>
              </a:rPr>
              <a:t>Domn</a:t>
            </a:r>
            <a:r>
              <a:rPr lang="en-US" sz="3200" b="1" dirty="0">
                <a:solidFill>
                  <a:schemeClr val="bg2"/>
                </a:solidFill>
              </a:rPr>
              <a:t> </a:t>
            </a:r>
            <a:r>
              <a:rPr lang="en-US" sz="3200" b="1" dirty="0" err="1">
                <a:solidFill>
                  <a:schemeClr val="bg2"/>
                </a:solidFill>
              </a:rPr>
              <a:t>Domn</a:t>
            </a:r>
            <a:r>
              <a:rPr lang="en-US" sz="3200" b="1" dirty="0">
                <a:solidFill>
                  <a:schemeClr val="bg2"/>
                </a:solidFill>
              </a:rPr>
              <a:t> </a:t>
            </a:r>
            <a:r>
              <a:rPr lang="en-US" sz="3200" b="1" dirty="0" err="1">
                <a:solidFill>
                  <a:schemeClr val="bg2"/>
                </a:solidFill>
              </a:rPr>
              <a:t>sa-naltam</a:t>
            </a:r>
            <a:r>
              <a:rPr lang="en-US" sz="3200" dirty="0">
                <a:solidFill>
                  <a:schemeClr val="bg2"/>
                </a:solidFill>
              </a:rPr>
              <a:t>!</a:t>
            </a:r>
            <a:endParaRPr lang="ro-RO" sz="3200" dirty="0">
              <a:solidFill>
                <a:schemeClr val="bg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FE560-E3FA-42B9-8FD8-3A7595FABB5F}"/>
              </a:ext>
            </a:extLst>
          </p:cNvPr>
          <p:cNvSpPr txBox="1"/>
          <p:nvPr/>
        </p:nvSpPr>
        <p:spPr>
          <a:xfrm>
            <a:off x="1259828" y="198605"/>
            <a:ext cx="9658350" cy="2308324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I. </a:t>
            </a:r>
            <a:r>
              <a:rPr lang="ro-RO" sz="2400" dirty="0">
                <a:solidFill>
                  <a:schemeClr val="bg2"/>
                </a:solidFill>
              </a:rPr>
              <a:t>O, ce veste minunată!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În Betleem ni s-arată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Astăzi s-a născut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Cel făr' de-nceput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Cum au zis prorocii.</a:t>
            </a:r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II. </a:t>
            </a:r>
            <a:r>
              <a:rPr lang="ro-RO" sz="2400" dirty="0">
                <a:solidFill>
                  <a:schemeClr val="bg2"/>
                </a:solidFill>
              </a:rPr>
              <a:t>Că la Betleem Maria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Săvârşind călătoria,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Într-un mic sălaş,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Lângă-acel oraş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,A născut pe Mesia.</a:t>
            </a:r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III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ro-RO" sz="2400" dirty="0">
                <a:solidFill>
                  <a:schemeClr val="bg2"/>
                </a:solidFill>
              </a:rPr>
              <a:t>.Pe fiul în al Său nume,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Tatăl L-a trimis în lume,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Să se nascăŞi să crească,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ro-RO" sz="2400" dirty="0">
                <a:solidFill>
                  <a:schemeClr val="bg2"/>
                </a:solidFill>
              </a:rPr>
              <a:t>Să ne mântuiască.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5D5EA-9195-4525-BB44-6A5BA53F407C}"/>
              </a:ext>
            </a:extLst>
          </p:cNvPr>
          <p:cNvSpPr txBox="1"/>
          <p:nvPr/>
        </p:nvSpPr>
        <p:spPr>
          <a:xfrm>
            <a:off x="3962339" y="51847"/>
            <a:ext cx="4038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O, ce veste minunată</a:t>
            </a:r>
            <a:r>
              <a:rPr lang="en-US" sz="3200" b="1" dirty="0">
                <a:solidFill>
                  <a:schemeClr val="bg1"/>
                </a:solidFill>
              </a:rPr>
              <a:t>!</a:t>
            </a:r>
          </a:p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48CF05-0AB5-45E6-9B1D-8394C52297D4}"/>
              </a:ext>
            </a:extLst>
          </p:cNvPr>
          <p:cNvSpPr txBox="1"/>
          <p:nvPr/>
        </p:nvSpPr>
        <p:spPr>
          <a:xfrm>
            <a:off x="666751" y="-10504800"/>
            <a:ext cx="5479228" cy="9694962"/>
          </a:xfrm>
          <a:prstGeom prst="rect">
            <a:avLst/>
          </a:prstGeom>
          <a:noFill/>
        </p:spPr>
        <p:txBody>
          <a:bodyPr wrap="square" numCol="1" spcCol="9144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Cad fulgii mari,încet zburând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Si-n casă arde focul,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Iar noi pe lângă mama stând,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De mult uitarăm jocul.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Demult și patul ne-paștepta,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Dar cine să se culce?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Rugată, mama repeta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Cu glasul rar și dulce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Cum sta pe paie-n frig Hristos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In ieslea cea săracă,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 boul cum sufla milos,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Căldură ca să-i facă,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Drăguț un miel cum I-au adus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Păstorii de la stână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 îngerii albi cântau pe sus,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Cu flori de măr în mână.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Si-auzi ! Răsar cântări acum,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Frânturi dintr-o colindă,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 vin mereu,s-opresc în drum,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Se-aud acum în tindă-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Noi stăm cu ochii pironiți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 fără de suflare: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Sunt îngerii din cer veniți,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Cu Leroi, Domnul mare !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CEA3B-52C6-4677-B213-883271DA8F3C}"/>
              </a:ext>
            </a:extLst>
          </p:cNvPr>
          <p:cNvSpPr txBox="1"/>
          <p:nvPr/>
        </p:nvSpPr>
        <p:spPr>
          <a:xfrm>
            <a:off x="6619227" y="-6885916"/>
            <a:ext cx="547922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Ei cântă-nălțător si rar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Cântări de biruință,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Apoi se întoirc și plâng amar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De-a Iudei necredință,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De spini, de-postași, și c-a murit..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Dar s-a deschis mormântul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 El acum e-n cer suit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 judecă pământul.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 pănă nu tăceau la prag,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Noi nu vorbeam niciunul-Sărac ne-a fost, 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dar cald și dragIn casă-ne Crăciunul.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 în târziu ne biruia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Pe vatra caldă somnul,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Si-n vis vedeam tot flori de măr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Si-n fașă, mic, pe Domnul.</a:t>
            </a:r>
          </a:p>
          <a:p>
            <a:endParaRPr lang="ro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937A36-7E77-4903-820B-6338FF2D3543}"/>
              </a:ext>
            </a:extLst>
          </p:cNvPr>
          <p:cNvSpPr txBox="1"/>
          <p:nvPr/>
        </p:nvSpPr>
        <p:spPr>
          <a:xfrm>
            <a:off x="1362384" y="3370618"/>
            <a:ext cx="9453238" cy="3785652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Cu cetina tot verde.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Tu esti copacul credincios,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Ce frunza nu si-o pierde,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Cu cetina tot verde.</a:t>
            </a:r>
            <a:br>
              <a:rPr lang="ro-RO" sz="2400" dirty="0">
                <a:solidFill>
                  <a:schemeClr val="bg1"/>
                </a:solidFill>
              </a:rPr>
            </a:b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Verdeata ta imi place.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Cand o revad sunt bucuros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Si vesel ea ma face.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Verdeata ta imi place.</a:t>
            </a:r>
          </a:p>
          <a:p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Cu frunza neschimbata.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Ma mangai si ma faci voios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Si ma-ntaresti indata.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O, brad frumos, o brad frumos,</a:t>
            </a:r>
            <a:br>
              <a:rPr lang="ro-RO" sz="2400" dirty="0">
                <a:solidFill>
                  <a:schemeClr val="bg1"/>
                </a:solidFill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Cu frunza neschimbata.</a:t>
            </a:r>
            <a:endParaRPr lang="ro-RO" sz="2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02D8FE-3B16-4F30-9268-F39A1A569E87}"/>
              </a:ext>
            </a:extLst>
          </p:cNvPr>
          <p:cNvSpPr txBox="1"/>
          <p:nvPr/>
        </p:nvSpPr>
        <p:spPr>
          <a:xfrm>
            <a:off x="3735505" y="2805199"/>
            <a:ext cx="4057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O Brad Frumos</a:t>
            </a:r>
          </a:p>
        </p:txBody>
      </p:sp>
    </p:spTree>
    <p:extLst>
      <p:ext uri="{BB962C8B-B14F-4D97-AF65-F5344CB8AC3E}">
        <p14:creationId xmlns:p14="http://schemas.microsoft.com/office/powerpoint/2010/main" val="2400668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0B29DF-A07F-405B-BE45-C71F97CF6B3F}"/>
              </a:ext>
            </a:extLst>
          </p:cNvPr>
          <p:cNvSpPr txBox="1"/>
          <p:nvPr/>
        </p:nvSpPr>
        <p:spPr>
          <a:xfrm>
            <a:off x="1121120" y="-6155729"/>
            <a:ext cx="10188563" cy="5279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Deschide usa crestine </a:t>
            </a:r>
            <a:r>
              <a:rPr lang="en-US" sz="2400" dirty="0">
                <a:solidFill>
                  <a:schemeClr val="bg1"/>
                </a:solidFill>
              </a:rPr>
              <a:t>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venim din nou la tine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Drumu-i lung si-am obosit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De departe am venit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Noi la viflaim am fost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Unde s-a nascut hristos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Si-am vazut si pe-a sa mama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Pe care maria o chema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Cum umbla din casa in casa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pe fiul ei sa nasca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Umbla-n jos si umbla-n sus</a:t>
            </a:r>
            <a:r>
              <a:rPr lang="en-US" sz="2400" dirty="0">
                <a:solidFill>
                  <a:schemeClr val="bg1"/>
                </a:solidFill>
              </a:rPr>
              <a:t> [ x 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sa nasca pe iisus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Care cu puterea sa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Mintui-va e lumea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 de-acum pana-n vecie </a:t>
            </a:r>
          </a:p>
          <a:p>
            <a:r>
              <a:rPr lang="ro-RO" sz="2400" dirty="0">
                <a:solidFill>
                  <a:schemeClr val="bg1"/>
                </a:solidFill>
              </a:rPr>
              <a:t>mila domnului sa fie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48CF05-0AB5-45E6-9B1D-8394C52297D4}"/>
              </a:ext>
            </a:extLst>
          </p:cNvPr>
          <p:cNvSpPr txBox="1"/>
          <p:nvPr/>
        </p:nvSpPr>
        <p:spPr>
          <a:xfrm>
            <a:off x="954176" y="516695"/>
            <a:ext cx="6137511" cy="6186309"/>
          </a:xfrm>
          <a:prstGeom prst="rect">
            <a:avLst/>
          </a:prstGeom>
          <a:noFill/>
        </p:spPr>
        <p:txBody>
          <a:bodyPr wrap="square" numCol="1" spcCol="9144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Cad fulgii mari,încet zburând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Si-n casă arde focul,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Iar noi pe lângă mama stând,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 mult uitarăm jocul.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Demult și patul ne-paștepta,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Dar cine să se culce?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Rugată, mama repeta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Cu glasul rar și dulce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Cum sta pe paie-n frig Hristos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In ieslea cea săracă,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boul cum sufla milos,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Căldură ca să-i facă,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Drăguț un miel cum I-au adus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Păstorii de la stână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îngerii albi cântau pe sus,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Cu flori de măr în mână.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Si-auzi ! Răsar cântări acum,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Frânturi dintr-o colindă,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vin mereu,s-opresc în drum,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Se-aud acum în tindă-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CEA3B-52C6-4677-B213-883271DA8F3C}"/>
              </a:ext>
            </a:extLst>
          </p:cNvPr>
          <p:cNvSpPr txBox="1"/>
          <p:nvPr/>
        </p:nvSpPr>
        <p:spPr>
          <a:xfrm>
            <a:off x="8291837" y="576190"/>
            <a:ext cx="547922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</a:rPr>
              <a:t>Noi stăm cu ochii pironiți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ro-RO" sz="1800" dirty="0">
                <a:solidFill>
                  <a:schemeClr val="bg1"/>
                </a:solidFill>
              </a:rPr>
              <a:t>Si fără de suflare: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ro-RO" sz="1800" dirty="0">
                <a:solidFill>
                  <a:schemeClr val="bg1"/>
                </a:solidFill>
              </a:rPr>
              <a:t>Sunt îngerii din cer veniți,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ro-RO" sz="1800" dirty="0">
                <a:solidFill>
                  <a:schemeClr val="bg1"/>
                </a:solidFill>
              </a:rPr>
              <a:t>Cu Leroi, Domnul mare !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Ei cântă-nălțător si rar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Cântări de biruință,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Apoi se întoirc și plâng amar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De-a Iudei necredință,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 spini, de-postași, și c-a murit..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Dar s-a deschis mormântul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El acum e-n cer suit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judecă pământul.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pănă nu tăceau la prag,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Noi nu vorbeam niciunul-Sărac ne-a fost,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dar cald și dragIn casă-ne Crăciunul.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în târziu ne biruia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Pe vatra caldă somnul,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Si-n vis vedeam tot flori de măr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Si-n fașă, mic, pe Domnul.</a:t>
            </a:r>
          </a:p>
          <a:p>
            <a:endParaRPr lang="ro-R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BED2D-1742-42DA-AB55-26B4DBA23B7D}"/>
              </a:ext>
            </a:extLst>
          </p:cNvPr>
          <p:cNvSpPr txBox="1"/>
          <p:nvPr/>
        </p:nvSpPr>
        <p:spPr>
          <a:xfrm>
            <a:off x="5100313" y="285862"/>
            <a:ext cx="1991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COLINDĂTORII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E8C46-A9D0-455D-A69F-246FF548CFBE}"/>
              </a:ext>
            </a:extLst>
          </p:cNvPr>
          <p:cNvSpPr txBox="1"/>
          <p:nvPr/>
        </p:nvSpPr>
        <p:spPr>
          <a:xfrm>
            <a:off x="5100313" y="658384"/>
            <a:ext cx="1991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 George Co</a:t>
            </a:r>
            <a:r>
              <a:rPr lang="ro-RO" dirty="0">
                <a:solidFill>
                  <a:schemeClr val="bg1"/>
                </a:solidFill>
              </a:rPr>
              <a:t>șbuc</a:t>
            </a:r>
          </a:p>
        </p:txBody>
      </p:sp>
    </p:spTree>
    <p:extLst>
      <p:ext uri="{BB962C8B-B14F-4D97-AF65-F5344CB8AC3E}">
        <p14:creationId xmlns:p14="http://schemas.microsoft.com/office/powerpoint/2010/main" val="2593731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48CF05-0AB5-45E6-9B1D-8394C52297D4}"/>
              </a:ext>
            </a:extLst>
          </p:cNvPr>
          <p:cNvSpPr txBox="1"/>
          <p:nvPr/>
        </p:nvSpPr>
        <p:spPr>
          <a:xfrm>
            <a:off x="1193799" y="8459919"/>
            <a:ext cx="6137511" cy="6186309"/>
          </a:xfrm>
          <a:prstGeom prst="rect">
            <a:avLst/>
          </a:prstGeom>
          <a:noFill/>
        </p:spPr>
        <p:txBody>
          <a:bodyPr wrap="square" numCol="1" spcCol="9144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Cad fulgii mari,încet zburând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Si-n casă arde focul,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Iar noi pe lângă mama stând,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 mult uitarăm jocul.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Demult și patul ne-paștepta,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Dar cine să se culce?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Rugată, mama repeta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Cu glasul rar și dulce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Cum sta pe paie-n frig Hristos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In ieslea cea săracă,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boul cum sufla milos,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Căldură ca să-i facă,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Drăguț un miel cum I-au adus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Păstorii de la stână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îngerii albi cântau pe sus,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Cu flori de măr în mână.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Si-auzi ! Răsar cântări acum,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Frânturi dintr-o colindă,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vin mereu,s-opresc în drum,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Se-aud acum în tindă-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CEA3B-52C6-4677-B213-883271DA8F3C}"/>
              </a:ext>
            </a:extLst>
          </p:cNvPr>
          <p:cNvSpPr txBox="1"/>
          <p:nvPr/>
        </p:nvSpPr>
        <p:spPr>
          <a:xfrm>
            <a:off x="7205987" y="8459919"/>
            <a:ext cx="547922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</a:rPr>
              <a:t>Noi stăm cu ochii pironiți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ro-RO" sz="1800" dirty="0">
                <a:solidFill>
                  <a:schemeClr val="bg1"/>
                </a:solidFill>
              </a:rPr>
              <a:t>Si fără de suflare: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ro-RO" sz="1800" dirty="0">
                <a:solidFill>
                  <a:schemeClr val="bg1"/>
                </a:solidFill>
              </a:rPr>
              <a:t>Sunt îngerii din cer veniți,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ro-RO" sz="1800" dirty="0">
                <a:solidFill>
                  <a:schemeClr val="bg1"/>
                </a:solidFill>
              </a:rPr>
              <a:t>Cu Leroi, Domnul mare !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Ei cântă-nălțător si rar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Cântări de biruință,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Apoi se întoirc și plâng amar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De-a Iudei necredință,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 spini, de-postași, și c-a murit..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Dar s-a deschis mormântul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El acum e-n cer suit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judecă pământul.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pănă nu tăceau la prag,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Noi nu vorbeam niciunul-Sărac ne-a fost,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dar cald și dragIn casă-ne Crăciunul.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 în târziu ne biruia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Pe vatra caldă somnul,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Si-n vis vedeam tot flori de măr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Si-n fașă, mic, pe Domnul.</a:t>
            </a:r>
          </a:p>
          <a:p>
            <a:endParaRPr lang="ro-R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BED2D-1742-42DA-AB55-26B4DBA23B7D}"/>
              </a:ext>
            </a:extLst>
          </p:cNvPr>
          <p:cNvSpPr txBox="1"/>
          <p:nvPr/>
        </p:nvSpPr>
        <p:spPr>
          <a:xfrm>
            <a:off x="5214613" y="7494048"/>
            <a:ext cx="1991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COLINDĂTORII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E8C46-A9D0-455D-A69F-246FF548CFBE}"/>
              </a:ext>
            </a:extLst>
          </p:cNvPr>
          <p:cNvSpPr txBox="1"/>
          <p:nvPr/>
        </p:nvSpPr>
        <p:spPr>
          <a:xfrm>
            <a:off x="5214613" y="8090587"/>
            <a:ext cx="1991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 George Co</a:t>
            </a:r>
            <a:r>
              <a:rPr lang="ro-RO" dirty="0">
                <a:solidFill>
                  <a:schemeClr val="bg1"/>
                </a:solidFill>
              </a:rPr>
              <a:t>șbuc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133A3-7777-4B0F-9FFB-6EF4BE849F5A}"/>
              </a:ext>
            </a:extLst>
          </p:cNvPr>
          <p:cNvSpPr txBox="1"/>
          <p:nvPr/>
        </p:nvSpPr>
        <p:spPr>
          <a:xfrm>
            <a:off x="706582" y="1307739"/>
            <a:ext cx="11485418" cy="533400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Deschide usa crestine </a:t>
            </a:r>
            <a:r>
              <a:rPr lang="en-US" sz="2400" dirty="0">
                <a:solidFill>
                  <a:schemeClr val="bg1"/>
                </a:solidFill>
              </a:rPr>
              <a:t>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venim din nou la tine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Drumu-i lung si-am obosit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De departe am venit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Noi la viflaim am fost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Unde s-a nascut hristos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Si-am vazut si pe-a sa mama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Pe care maria o chema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Cum umbla din casa in casa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pe fiul ei sa nasca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Umbla-n jos si umbla-n sus</a:t>
            </a:r>
            <a:r>
              <a:rPr lang="en-US" sz="2400" dirty="0">
                <a:solidFill>
                  <a:schemeClr val="bg1"/>
                </a:solidFill>
              </a:rPr>
              <a:t> [ x 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sa nasca pe iisus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Care cu puterea sa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Mintui-va e lumea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 de-acum pana-n vecie </a:t>
            </a:r>
          </a:p>
          <a:p>
            <a:r>
              <a:rPr lang="ro-RO" sz="2400" dirty="0">
                <a:solidFill>
                  <a:schemeClr val="bg1"/>
                </a:solidFill>
              </a:rPr>
              <a:t>mila domnului sa fie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endParaRPr lang="ro-R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440F1-ACEF-4521-9DE0-386FB9D61040}"/>
              </a:ext>
            </a:extLst>
          </p:cNvPr>
          <p:cNvSpPr txBox="1"/>
          <p:nvPr/>
        </p:nvSpPr>
        <p:spPr>
          <a:xfrm>
            <a:off x="3810000" y="438150"/>
            <a:ext cx="4362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Deschide</a:t>
            </a:r>
            <a:r>
              <a:rPr lang="en-US" sz="3200" b="1" dirty="0">
                <a:solidFill>
                  <a:schemeClr val="bg1"/>
                </a:solidFill>
              </a:rPr>
              <a:t> U</a:t>
            </a:r>
            <a:r>
              <a:rPr lang="ro-RO" sz="3200" b="1" dirty="0">
                <a:solidFill>
                  <a:schemeClr val="bg1"/>
                </a:solidFill>
              </a:rPr>
              <a:t>șa Creștine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227D3-5F6F-4B66-BF6F-4348FC7A3BAA}"/>
              </a:ext>
            </a:extLst>
          </p:cNvPr>
          <p:cNvSpPr txBox="1"/>
          <p:nvPr/>
        </p:nvSpPr>
        <p:spPr>
          <a:xfrm>
            <a:off x="706582" y="8275253"/>
            <a:ext cx="12192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Din văzduh cumplita iarnă cerne norii de zăpadă,</a:t>
            </a:r>
          </a:p>
          <a:p>
            <a:r>
              <a:rPr lang="ro-RO" sz="2400" dirty="0">
                <a:solidFill>
                  <a:schemeClr val="bg1"/>
                </a:solidFill>
              </a:rPr>
              <a:t>Lungi troiene călătoare adunate-n cer grămadă;</a:t>
            </a:r>
          </a:p>
          <a:p>
            <a:r>
              <a:rPr lang="ro-RO" sz="2400" dirty="0">
                <a:solidFill>
                  <a:schemeClr val="bg1"/>
                </a:solidFill>
              </a:rPr>
              <a:t>Fulgii zbor, plutesc în aer ca un roi de fluturi albi,</a:t>
            </a:r>
          </a:p>
          <a:p>
            <a:r>
              <a:rPr lang="ro-RO" sz="2400" dirty="0">
                <a:solidFill>
                  <a:schemeClr val="bg1"/>
                </a:solidFill>
              </a:rPr>
              <a:t>Răspândind fiori de gheaţă pe ai ţării umeri dalbi.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Ziua ninge, noaptea ninge, dimineaţa ninge iară!</a:t>
            </a:r>
          </a:p>
          <a:p>
            <a:r>
              <a:rPr lang="ro-RO" sz="2400" dirty="0">
                <a:solidFill>
                  <a:schemeClr val="bg1"/>
                </a:solidFill>
              </a:rPr>
              <a:t>Cu o zale argintie se îmbracă mândra ţară;</a:t>
            </a:r>
          </a:p>
          <a:p>
            <a:r>
              <a:rPr lang="ro-RO" sz="2400" dirty="0">
                <a:solidFill>
                  <a:schemeClr val="bg1"/>
                </a:solidFill>
              </a:rPr>
              <a:t>Soarele rotund şi palid se prevede printre nori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 un vis de tinereţe printre anii trecători.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Tot e alb pe câmp, pe dealuri, împrejur, în depărtare,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 fantasme albe plopii înşiraţi se perd în zare,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pe-ntinderea pustie, fără urme, fără drum,</a:t>
            </a:r>
          </a:p>
          <a:p>
            <a:r>
              <a:rPr lang="ro-RO" sz="2400" dirty="0">
                <a:solidFill>
                  <a:schemeClr val="bg1"/>
                </a:solidFill>
              </a:rPr>
              <a:t>Se văd satele perdute sub clăbuci albii de fum.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Dar ninsoarea încetează, norii fug, doritul soare</a:t>
            </a:r>
          </a:p>
          <a:p>
            <a:r>
              <a:rPr lang="ro-RO" sz="2400" dirty="0">
                <a:solidFill>
                  <a:schemeClr val="bg1"/>
                </a:solidFill>
              </a:rPr>
              <a:t>Străluceşte şi dismiardă oceanul de ninsoare</a:t>
            </a:r>
          </a:p>
          <a:p>
            <a:r>
              <a:rPr lang="ro-RO" sz="2400" dirty="0">
                <a:solidFill>
                  <a:schemeClr val="bg1"/>
                </a:solidFill>
              </a:rPr>
              <a:t>.Iată-o sanie uşoară care trece peste văi..</a:t>
            </a:r>
          </a:p>
          <a:p>
            <a:r>
              <a:rPr lang="ro-RO" sz="2400" dirty="0">
                <a:solidFill>
                  <a:schemeClr val="bg1"/>
                </a:solidFill>
              </a:rPr>
              <a:t>În văzduh voios răsună clinchete de zurgălăi.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4B998C-1CB7-45F2-8D6D-6FF9DEA6E1BD}"/>
              </a:ext>
            </a:extLst>
          </p:cNvPr>
          <p:cNvSpPr txBox="1"/>
          <p:nvPr/>
        </p:nvSpPr>
        <p:spPr>
          <a:xfrm>
            <a:off x="4811384" y="-1729430"/>
            <a:ext cx="2797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Versuri Iarna </a:t>
            </a:r>
          </a:p>
          <a:p>
            <a:pPr algn="ctr"/>
            <a:r>
              <a:rPr lang="ro-RO" sz="2400" dirty="0">
                <a:solidFill>
                  <a:schemeClr val="bg1"/>
                </a:solidFill>
              </a:rPr>
              <a:t>de Vasile Alecsandri</a:t>
            </a:r>
            <a:endParaRPr lang="ro-RO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93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133A3-7777-4B0F-9FFB-6EF4BE849F5A}"/>
              </a:ext>
            </a:extLst>
          </p:cNvPr>
          <p:cNvSpPr txBox="1"/>
          <p:nvPr/>
        </p:nvSpPr>
        <p:spPr>
          <a:xfrm>
            <a:off x="12685215" y="1022925"/>
            <a:ext cx="11485418" cy="533400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Deschide usa crestine </a:t>
            </a:r>
            <a:r>
              <a:rPr lang="en-US" sz="2400" dirty="0">
                <a:solidFill>
                  <a:schemeClr val="bg1"/>
                </a:solidFill>
              </a:rPr>
              <a:t>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venim din nou la tine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Drumu-i lung si-am obosit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De departe am venit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Noi la viflaim am fost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Unde s-a nascut hristos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Si-am vazut si pe-a sa mama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Pe care maria o chema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Cum umbla din casa in casa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pe fiul ei sa nasca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Umbla-n jos si umbla-n sus</a:t>
            </a:r>
            <a:r>
              <a:rPr lang="en-US" sz="2400" dirty="0">
                <a:solidFill>
                  <a:schemeClr val="bg1"/>
                </a:solidFill>
              </a:rPr>
              <a:t> [ x 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Ca sa nasca pe iisus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Care cu puterea sa</a:t>
            </a:r>
            <a:r>
              <a:rPr lang="en-US" sz="2400" dirty="0">
                <a:solidFill>
                  <a:schemeClr val="bg1"/>
                </a:solidFill>
              </a:rPr>
              <a:t> [ x2 ]</a:t>
            </a:r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Mintui-va e lumea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 de-acum pana-n vecie </a:t>
            </a:r>
          </a:p>
          <a:p>
            <a:r>
              <a:rPr lang="ro-RO" sz="2400" dirty="0">
                <a:solidFill>
                  <a:schemeClr val="bg1"/>
                </a:solidFill>
              </a:rPr>
              <a:t>mila domnului sa fie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multi ani multi ani cu bine</a:t>
            </a:r>
          </a:p>
          <a:p>
            <a:endParaRPr lang="ro-R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440F1-ACEF-4521-9DE0-386FB9D61040}"/>
              </a:ext>
            </a:extLst>
          </p:cNvPr>
          <p:cNvSpPr txBox="1"/>
          <p:nvPr/>
        </p:nvSpPr>
        <p:spPr>
          <a:xfrm>
            <a:off x="-8571593" y="762473"/>
            <a:ext cx="4362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Deschide</a:t>
            </a:r>
            <a:r>
              <a:rPr lang="en-US" sz="3200" b="1" dirty="0">
                <a:solidFill>
                  <a:schemeClr val="bg1"/>
                </a:solidFill>
              </a:rPr>
              <a:t> U</a:t>
            </a:r>
            <a:r>
              <a:rPr lang="ro-RO" sz="3200" b="1" dirty="0">
                <a:solidFill>
                  <a:schemeClr val="bg1"/>
                </a:solidFill>
              </a:rPr>
              <a:t>șa Creștine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227D3-5F6F-4B66-BF6F-4348FC7A3BAA}"/>
              </a:ext>
            </a:extLst>
          </p:cNvPr>
          <p:cNvSpPr txBox="1"/>
          <p:nvPr/>
        </p:nvSpPr>
        <p:spPr>
          <a:xfrm>
            <a:off x="244929" y="1347248"/>
            <a:ext cx="11930742" cy="526297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Din văzduh cumplita iarnă cerne norii de zăpadă,</a:t>
            </a:r>
          </a:p>
          <a:p>
            <a:r>
              <a:rPr lang="ro-RO" sz="2400" dirty="0">
                <a:solidFill>
                  <a:schemeClr val="bg1"/>
                </a:solidFill>
              </a:rPr>
              <a:t>Lungi troiene călătoare adunate-n cer grămadă;</a:t>
            </a:r>
          </a:p>
          <a:p>
            <a:r>
              <a:rPr lang="ro-RO" sz="2400" dirty="0">
                <a:solidFill>
                  <a:schemeClr val="bg1"/>
                </a:solidFill>
              </a:rPr>
              <a:t>Fulgii zbor, plutesc în aer ca un roi de fluturi albi,</a:t>
            </a:r>
          </a:p>
          <a:p>
            <a:r>
              <a:rPr lang="ro-RO" sz="2400" dirty="0">
                <a:solidFill>
                  <a:schemeClr val="bg1"/>
                </a:solidFill>
              </a:rPr>
              <a:t>Răspândind fiori de gheaţă pe ai ţării umeri dalbi.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Ziua ninge, noaptea ninge, dimineaţa ninge iară!</a:t>
            </a:r>
          </a:p>
          <a:p>
            <a:r>
              <a:rPr lang="ro-RO" sz="2400" dirty="0">
                <a:solidFill>
                  <a:schemeClr val="bg1"/>
                </a:solidFill>
              </a:rPr>
              <a:t>Cu o zale argintie se îmbracă mândra ţară;</a:t>
            </a:r>
          </a:p>
          <a:p>
            <a:r>
              <a:rPr lang="ro-RO" sz="2400" dirty="0">
                <a:solidFill>
                  <a:schemeClr val="bg1"/>
                </a:solidFill>
              </a:rPr>
              <a:t>Soarele rotund şi palid se prevede printre nori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 un vis de tinereţe printre anii trecători.</a:t>
            </a:r>
          </a:p>
          <a:p>
            <a:r>
              <a:rPr lang="ro-RO" sz="2400" dirty="0">
                <a:solidFill>
                  <a:schemeClr val="bg1"/>
                </a:solidFill>
              </a:rPr>
              <a:t>Tot e alb pe câmp, pe dealuri, împrejur, în depărtare,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 fantasme albe plopii înşiraţi se perd în zare,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pe-ntinderea pustie, fără urme, fără drum,</a:t>
            </a:r>
          </a:p>
          <a:p>
            <a:r>
              <a:rPr lang="ro-RO" sz="2400" dirty="0">
                <a:solidFill>
                  <a:schemeClr val="bg1"/>
                </a:solidFill>
              </a:rPr>
              <a:t>Se văd satele perdute sub clăbuci albii de fum.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Dar ninsoarea încetează, norii fug, doritul soare</a:t>
            </a:r>
          </a:p>
          <a:p>
            <a:r>
              <a:rPr lang="ro-RO" sz="2400" dirty="0">
                <a:solidFill>
                  <a:schemeClr val="bg1"/>
                </a:solidFill>
              </a:rPr>
              <a:t>Străluceşte şi dismiardă oceanul de ninsoare.</a:t>
            </a:r>
          </a:p>
          <a:p>
            <a:r>
              <a:rPr lang="ro-RO" sz="2400" dirty="0">
                <a:solidFill>
                  <a:schemeClr val="bg1"/>
                </a:solidFill>
              </a:rPr>
              <a:t>Iată-o sanie uşoară care trece peste văi..</a:t>
            </a:r>
          </a:p>
          <a:p>
            <a:r>
              <a:rPr lang="ro-RO" sz="2400" dirty="0">
                <a:solidFill>
                  <a:schemeClr val="bg1"/>
                </a:solidFill>
              </a:rPr>
              <a:t>În văzduh voios răsună clinchete de zurgălăi.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4B998C-1CB7-45F2-8D6D-6FF9DEA6E1BD}"/>
              </a:ext>
            </a:extLst>
          </p:cNvPr>
          <p:cNvSpPr txBox="1"/>
          <p:nvPr/>
        </p:nvSpPr>
        <p:spPr>
          <a:xfrm>
            <a:off x="4533479" y="353632"/>
            <a:ext cx="2797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Versuri Iarna </a:t>
            </a:r>
          </a:p>
          <a:p>
            <a:pPr algn="ctr"/>
            <a:r>
              <a:rPr lang="ro-RO" sz="2400" dirty="0">
                <a:solidFill>
                  <a:schemeClr val="bg1"/>
                </a:solidFill>
              </a:rPr>
              <a:t>de Vasile Alecsandri</a:t>
            </a:r>
            <a:endParaRPr lang="ro-RO" sz="3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34FCC-D2A1-4E96-941A-5DB7187A9EFA}"/>
              </a:ext>
            </a:extLst>
          </p:cNvPr>
          <p:cNvSpPr txBox="1"/>
          <p:nvPr/>
        </p:nvSpPr>
        <p:spPr>
          <a:xfrm>
            <a:off x="-5052785" y="1545229"/>
            <a:ext cx="51752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I</a:t>
            </a:r>
            <a:r>
              <a:rPr lang="it-IT" sz="2400" b="0" i="0" dirty="0">
                <a:solidFill>
                  <a:schemeClr val="bg1"/>
                </a:solidFill>
                <a:effectLst/>
              </a:rPr>
              <a:t>ată, vin colindători, florile dalbe,</a:t>
            </a:r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Noaptea pe la cântători,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Și ei vin mereu, mereu,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Şi-l aduc pe Dumnezeu,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Dumnezeu adevărat,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Soare-n raze luminat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Iată, vin colindători,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Noaptea pe la cântători,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endParaRPr lang="ro-R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9A6C6-38C9-4453-B045-8EAC2DEAF914}"/>
              </a:ext>
            </a:extLst>
          </p:cNvPr>
          <p:cNvSpPr txBox="1"/>
          <p:nvPr/>
        </p:nvSpPr>
        <p:spPr>
          <a:xfrm>
            <a:off x="-4209143" y="245910"/>
            <a:ext cx="3512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Florile Dalbe</a:t>
            </a:r>
          </a:p>
        </p:txBody>
      </p:sp>
    </p:spTree>
    <p:extLst>
      <p:ext uri="{BB962C8B-B14F-4D97-AF65-F5344CB8AC3E}">
        <p14:creationId xmlns:p14="http://schemas.microsoft.com/office/powerpoint/2010/main" val="657003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227D3-5F6F-4B66-BF6F-4348FC7A3BAA}"/>
              </a:ext>
            </a:extLst>
          </p:cNvPr>
          <p:cNvSpPr txBox="1"/>
          <p:nvPr/>
        </p:nvSpPr>
        <p:spPr>
          <a:xfrm>
            <a:off x="12462553" y="1294678"/>
            <a:ext cx="11930742" cy="526297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Din văzduh cumplita iarnă cerne norii de zăpadă,</a:t>
            </a:r>
          </a:p>
          <a:p>
            <a:r>
              <a:rPr lang="ro-RO" sz="2400" dirty="0">
                <a:solidFill>
                  <a:schemeClr val="bg1"/>
                </a:solidFill>
              </a:rPr>
              <a:t>Lungi troiene călătoare adunate-n cer grămadă;</a:t>
            </a:r>
          </a:p>
          <a:p>
            <a:r>
              <a:rPr lang="ro-RO" sz="2400" dirty="0">
                <a:solidFill>
                  <a:schemeClr val="bg1"/>
                </a:solidFill>
              </a:rPr>
              <a:t>Fulgii zbor, plutesc în aer ca un roi de fluturi albi,</a:t>
            </a:r>
          </a:p>
          <a:p>
            <a:r>
              <a:rPr lang="ro-RO" sz="2400" dirty="0">
                <a:solidFill>
                  <a:schemeClr val="bg1"/>
                </a:solidFill>
              </a:rPr>
              <a:t>Răspândind fiori de gheaţă pe ai ţării umeri dalbi.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Ziua ninge, noaptea ninge, dimineaţa ninge iară!</a:t>
            </a:r>
          </a:p>
          <a:p>
            <a:r>
              <a:rPr lang="ro-RO" sz="2400" dirty="0">
                <a:solidFill>
                  <a:schemeClr val="bg1"/>
                </a:solidFill>
              </a:rPr>
              <a:t>Cu o zale argintie se îmbracă mândra ţară;</a:t>
            </a:r>
          </a:p>
          <a:p>
            <a:r>
              <a:rPr lang="ro-RO" sz="2400" dirty="0">
                <a:solidFill>
                  <a:schemeClr val="bg1"/>
                </a:solidFill>
              </a:rPr>
              <a:t>Soarele rotund şi palid se prevede printre nori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 un vis de tinereţe printre anii trecători.</a:t>
            </a:r>
          </a:p>
          <a:p>
            <a:r>
              <a:rPr lang="ro-RO" sz="2400" dirty="0">
                <a:solidFill>
                  <a:schemeClr val="bg1"/>
                </a:solidFill>
              </a:rPr>
              <a:t>Tot e alb pe câmp, pe dealuri, împrejur, în depărtare,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Ca fantasme albe plopii înşiraţi se perd în zare,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pe-ntinderea pustie, fără urme, fără drum,</a:t>
            </a:r>
          </a:p>
          <a:p>
            <a:r>
              <a:rPr lang="ro-RO" sz="2400" dirty="0">
                <a:solidFill>
                  <a:schemeClr val="bg1"/>
                </a:solidFill>
              </a:rPr>
              <a:t>Se văd satele perdute sub clăbuci albii de fum.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Dar ninsoarea încetează, norii fug, doritul soare</a:t>
            </a:r>
          </a:p>
          <a:p>
            <a:r>
              <a:rPr lang="ro-RO" sz="2400" dirty="0">
                <a:solidFill>
                  <a:schemeClr val="bg1"/>
                </a:solidFill>
              </a:rPr>
              <a:t>Străluceşte şi dismiardă oceanul de ninsoare.</a:t>
            </a:r>
          </a:p>
          <a:p>
            <a:r>
              <a:rPr lang="ro-RO" sz="2400" dirty="0">
                <a:solidFill>
                  <a:schemeClr val="bg1"/>
                </a:solidFill>
              </a:rPr>
              <a:t>Iată-o sanie uşoară care trece peste văi..</a:t>
            </a:r>
          </a:p>
          <a:p>
            <a:r>
              <a:rPr lang="ro-RO" sz="2400" dirty="0">
                <a:solidFill>
                  <a:schemeClr val="bg1"/>
                </a:solidFill>
              </a:rPr>
              <a:t>În văzduh voios răsună clinchete de zurgălăi.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4B998C-1CB7-45F2-8D6D-6FF9DEA6E1BD}"/>
              </a:ext>
            </a:extLst>
          </p:cNvPr>
          <p:cNvSpPr txBox="1"/>
          <p:nvPr/>
        </p:nvSpPr>
        <p:spPr>
          <a:xfrm>
            <a:off x="14359650" y="-1896083"/>
            <a:ext cx="2797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Versuri Iarna </a:t>
            </a:r>
          </a:p>
          <a:p>
            <a:pPr algn="ctr"/>
            <a:r>
              <a:rPr lang="ro-RO" sz="2400" dirty="0">
                <a:solidFill>
                  <a:schemeClr val="bg1"/>
                </a:solidFill>
              </a:rPr>
              <a:t>de Vasile Alecsandri</a:t>
            </a:r>
            <a:endParaRPr lang="ro-RO" sz="3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34FCC-D2A1-4E96-941A-5DB7187A9EFA}"/>
              </a:ext>
            </a:extLst>
          </p:cNvPr>
          <p:cNvSpPr txBox="1"/>
          <p:nvPr/>
        </p:nvSpPr>
        <p:spPr>
          <a:xfrm>
            <a:off x="3508374" y="1121684"/>
            <a:ext cx="51752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I</a:t>
            </a:r>
            <a:r>
              <a:rPr lang="it-IT" sz="2400" b="0" i="0" dirty="0">
                <a:solidFill>
                  <a:schemeClr val="bg1"/>
                </a:solidFill>
                <a:effectLst/>
              </a:rPr>
              <a:t>ată, vin colindători, florile dalbe,</a:t>
            </a:r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Noaptea pe la cântători,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Și ei vin mereu, mereu,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Şi-l aduc pe Dumnezeu,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Dumnezeu adevărat,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Soare-n raze luminat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Iată, vin colindători,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Noaptea pe la cântători,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endParaRPr lang="ro-R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9A6C6-38C9-4453-B045-8EAC2DEAF914}"/>
              </a:ext>
            </a:extLst>
          </p:cNvPr>
          <p:cNvSpPr txBox="1"/>
          <p:nvPr/>
        </p:nvSpPr>
        <p:spPr>
          <a:xfrm>
            <a:off x="4339770" y="255394"/>
            <a:ext cx="3512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Florile Dalbe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0C907F-56D3-4E8A-873F-5CFE7B065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8576223"/>
            <a:ext cx="7197726" cy="6647974"/>
          </a:xfrm>
          <a:prstGeom prst="rect">
            <a:avLst/>
          </a:prstGeom>
          <a:solidFill>
            <a:srgbClr val="F6F8F5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sus rasare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 o taina mare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Straluceste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lumii vesteste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lumii vesteste.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 astazi curata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Prea nevinovata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Fecioara Maria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Naste pe Mesia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Naste pe Mesia.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Magii cum zarira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si pornira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Mergand dupa raza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 Hristos sa-L vaza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 Hristos sa-L vaza.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daca pornira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Indata-L gasira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La dansulintrara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i se inchinara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i se inchinara.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Cu daruri gatite,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Lui Hristos menite,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Luand fiecare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Bucurie mare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Bucurie mare.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Care bucurie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aici sa fie,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De la tinerete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Pan' la batranete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Pan' la batranete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.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9C616-17F7-4648-9713-9475FFE52884}"/>
              </a:ext>
            </a:extLst>
          </p:cNvPr>
          <p:cNvSpPr txBox="1"/>
          <p:nvPr/>
        </p:nvSpPr>
        <p:spPr>
          <a:xfrm>
            <a:off x="2801935" y="-2188471"/>
            <a:ext cx="6588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Steaua Sus Răsare</a:t>
            </a:r>
          </a:p>
        </p:txBody>
      </p:sp>
    </p:spTree>
    <p:extLst>
      <p:ext uri="{BB962C8B-B14F-4D97-AF65-F5344CB8AC3E}">
        <p14:creationId xmlns:p14="http://schemas.microsoft.com/office/powerpoint/2010/main" val="1771776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34FCC-D2A1-4E96-941A-5DB7187A9EFA}"/>
              </a:ext>
            </a:extLst>
          </p:cNvPr>
          <p:cNvSpPr txBox="1"/>
          <p:nvPr/>
        </p:nvSpPr>
        <p:spPr>
          <a:xfrm>
            <a:off x="-6931026" y="1545229"/>
            <a:ext cx="51752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I</a:t>
            </a:r>
            <a:r>
              <a:rPr lang="it-IT" sz="2400" b="0" i="0" dirty="0">
                <a:solidFill>
                  <a:schemeClr val="bg1"/>
                </a:solidFill>
                <a:effectLst/>
              </a:rPr>
              <a:t>ată, vin colindători, florile dalbe,</a:t>
            </a:r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Noaptea pe la cântători,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Și ei vin mereu, mereu,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Şi-l aduc pe Dumnezeu,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Dumnezeu adevărat,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Soare-n raze luminat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pPr algn="l"/>
            <a:endParaRPr lang="ro-RO" sz="2400" b="0" i="0" dirty="0">
              <a:solidFill>
                <a:schemeClr val="bg1"/>
              </a:solidFill>
              <a:effectLst/>
            </a:endParaRPr>
          </a:p>
          <a:p>
            <a:pPr algn="l"/>
            <a:r>
              <a:rPr lang="ro-RO" sz="2400" b="0" i="0" dirty="0">
                <a:solidFill>
                  <a:schemeClr val="bg1"/>
                </a:solidFill>
                <a:effectLst/>
              </a:rPr>
              <a:t>Iată, vin colindători, florile dalbe,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Noaptea pe la cântători, florile dalbe</a:t>
            </a:r>
            <a:br>
              <a:rPr lang="ro-RO" sz="2400" b="0" i="0" dirty="0">
                <a:solidFill>
                  <a:schemeClr val="bg1"/>
                </a:solidFill>
                <a:effectLst/>
              </a:rPr>
            </a:br>
            <a:r>
              <a:rPr lang="ro-RO" sz="2400" b="0" i="0" dirty="0">
                <a:solidFill>
                  <a:schemeClr val="bg1"/>
                </a:solidFill>
                <a:effectLst/>
              </a:rPr>
              <a:t>Florile dalbe!</a:t>
            </a:r>
          </a:p>
          <a:p>
            <a:endParaRPr lang="ro-R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9A6C6-38C9-4453-B045-8EAC2DEAF914}"/>
              </a:ext>
            </a:extLst>
          </p:cNvPr>
          <p:cNvSpPr txBox="1"/>
          <p:nvPr/>
        </p:nvSpPr>
        <p:spPr>
          <a:xfrm>
            <a:off x="-6931026" y="0"/>
            <a:ext cx="3512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Florile Dalbe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0C907F-56D3-4E8A-873F-5CFE7B065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5" y="584774"/>
            <a:ext cx="7197726" cy="6647974"/>
          </a:xfrm>
          <a:prstGeom prst="rect">
            <a:avLst/>
          </a:prstGeom>
          <a:solidFill>
            <a:srgbClr val="F6F8F5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sus rasare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 o taina mare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Straluceste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lumii vesteste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lumii vesteste.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 astazi curata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Prea nevinovata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Fecioara Maria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Naste pe Mesia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Naste pe Mesia.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Magii cum zarira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si pornira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Mergand dupa raza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 Hristos sa-L vaza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 Hristos sa-L vaza.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daca pornira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Indata-L gasira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La dansulintrara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i se inchinara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i se inchinara.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Cu daruri gatite,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Lui Hristos menite,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Luand fiecare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Bucurie mare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Bucurie mare.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Care bucurie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aici sa fie,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De la tinerete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Pan' la batranete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Pan' la batranete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.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9C616-17F7-4648-9713-9475FFE52884}"/>
              </a:ext>
            </a:extLst>
          </p:cNvPr>
          <p:cNvSpPr txBox="1"/>
          <p:nvPr/>
        </p:nvSpPr>
        <p:spPr>
          <a:xfrm>
            <a:off x="2801937" y="25687"/>
            <a:ext cx="6588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Steaua Sus Răsare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8699F4-5390-4ACC-9259-DB71002D3C94}"/>
              </a:ext>
            </a:extLst>
          </p:cNvPr>
          <p:cNvSpPr txBox="1"/>
          <p:nvPr/>
        </p:nvSpPr>
        <p:spPr>
          <a:xfrm>
            <a:off x="-11815498" y="1292660"/>
            <a:ext cx="469847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chemeClr val="bg1"/>
                </a:solidFill>
              </a:rPr>
              <a:t>Dragi copii din tara asta,</a:t>
            </a:r>
          </a:p>
          <a:p>
            <a:r>
              <a:rPr lang="ro-RO" sz="2000" dirty="0">
                <a:solidFill>
                  <a:schemeClr val="bg1"/>
                </a:solidFill>
              </a:rPr>
              <a:t>Va mirati voi cum se poate,</a:t>
            </a:r>
          </a:p>
          <a:p>
            <a:r>
              <a:rPr lang="ro-RO" sz="2000" dirty="0">
                <a:solidFill>
                  <a:schemeClr val="bg1"/>
                </a:solidFill>
              </a:rPr>
              <a:t>Mos Craciun, din cer de-acolo,</a:t>
            </a:r>
          </a:p>
          <a:p>
            <a:r>
              <a:rPr lang="ro-RO" sz="2000" dirty="0">
                <a:solidFill>
                  <a:schemeClr val="bg1"/>
                </a:solidFill>
              </a:rPr>
              <a:t>Sa le stie toate, toate.</a:t>
            </a:r>
          </a:p>
          <a:p>
            <a:endParaRPr lang="ro-RO" sz="2000" dirty="0">
              <a:solidFill>
                <a:schemeClr val="bg1"/>
              </a:solidFill>
            </a:endParaRPr>
          </a:p>
          <a:p>
            <a:r>
              <a:rPr lang="ro-RO" sz="2000" dirty="0">
                <a:solidFill>
                  <a:schemeClr val="bg1"/>
                </a:solidFill>
              </a:rPr>
              <a:t>Uite cum: Va spune Badea..</a:t>
            </a:r>
          </a:p>
          <a:p>
            <a:r>
              <a:rPr lang="ro-RO" sz="2000" dirty="0">
                <a:solidFill>
                  <a:schemeClr val="bg1"/>
                </a:solidFill>
              </a:rPr>
              <a:t>Iarna'n noapte, pe zapada,</a:t>
            </a:r>
          </a:p>
          <a:p>
            <a:r>
              <a:rPr lang="ro-RO" sz="2000" dirty="0">
                <a:solidFill>
                  <a:schemeClr val="bg1"/>
                </a:solidFill>
              </a:rPr>
              <a:t>El trimite cate-un inger</a:t>
            </a:r>
          </a:p>
          <a:p>
            <a:r>
              <a:rPr lang="ro-RO" sz="2000" dirty="0">
                <a:solidFill>
                  <a:schemeClr val="bg1"/>
                </a:solidFill>
              </a:rPr>
              <a:t>La fereastra ca sa vada..</a:t>
            </a:r>
          </a:p>
          <a:p>
            <a:endParaRPr lang="ro-RO" sz="2000" dirty="0">
              <a:solidFill>
                <a:schemeClr val="bg1"/>
              </a:solidFill>
            </a:endParaRPr>
          </a:p>
          <a:p>
            <a:r>
              <a:rPr lang="ro-RO" sz="2000" dirty="0">
                <a:solidFill>
                  <a:schemeClr val="bg1"/>
                </a:solidFill>
              </a:rPr>
              <a:t>Ingerii se uita'n casa</a:t>
            </a:r>
          </a:p>
          <a:p>
            <a:r>
              <a:rPr lang="ro-RO" sz="2000" dirty="0">
                <a:solidFill>
                  <a:schemeClr val="bg1"/>
                </a:solidFill>
              </a:rPr>
              <a:t>Vad si spun, iar mosul are</a:t>
            </a:r>
          </a:p>
          <a:p>
            <a:r>
              <a:rPr lang="ro-RO" sz="2000" dirty="0">
                <a:solidFill>
                  <a:schemeClr val="bg1"/>
                </a:solidFill>
              </a:rPr>
              <a:t>Colo'n cer, la el in tinda,</a:t>
            </a:r>
          </a:p>
          <a:p>
            <a:r>
              <a:rPr lang="ro-RO" sz="2000" dirty="0">
                <a:solidFill>
                  <a:schemeClr val="bg1"/>
                </a:solidFill>
              </a:rPr>
              <a:t>Pe genunchi o carte mare.</a:t>
            </a:r>
          </a:p>
          <a:p>
            <a:endParaRPr lang="ro-RO" sz="2000" dirty="0">
              <a:solidFill>
                <a:schemeClr val="bg1"/>
              </a:solidFill>
            </a:endParaRPr>
          </a:p>
          <a:p>
            <a:r>
              <a:rPr lang="ro-RO" sz="2000" dirty="0">
                <a:solidFill>
                  <a:schemeClr val="bg1"/>
                </a:solidFill>
              </a:rPr>
              <a:t>Cu condei de-argint el scrie</a:t>
            </a:r>
          </a:p>
          <a:p>
            <a:r>
              <a:rPr lang="ro-RO" sz="2000" dirty="0">
                <a:solidFill>
                  <a:schemeClr val="bg1"/>
                </a:solidFill>
              </a:rPr>
              <a:t>Ce copil si ce purtare..</a:t>
            </a:r>
          </a:p>
          <a:p>
            <a:r>
              <a:rPr lang="ro-RO" sz="2000" dirty="0">
                <a:solidFill>
                  <a:schemeClr val="bg1"/>
                </a:solidFill>
              </a:rPr>
              <a:t>Si de-acolo stie Mosul,</a:t>
            </a:r>
          </a:p>
          <a:p>
            <a:r>
              <a:rPr lang="ro-RO" sz="2000" dirty="0">
                <a:solidFill>
                  <a:schemeClr val="bg1"/>
                </a:solidFill>
              </a:rPr>
              <a:t>Că-i siret el, lucru mare.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D5BA0-698D-41C7-9425-DBAFA41C5EC4}"/>
              </a:ext>
            </a:extLst>
          </p:cNvPr>
          <p:cNvSpPr txBox="1"/>
          <p:nvPr/>
        </p:nvSpPr>
        <p:spPr>
          <a:xfrm>
            <a:off x="14224266" y="25687"/>
            <a:ext cx="5471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Măruț mărgăritar</a:t>
            </a:r>
          </a:p>
        </p:txBody>
      </p:sp>
    </p:spTree>
    <p:extLst>
      <p:ext uri="{BB962C8B-B14F-4D97-AF65-F5344CB8AC3E}">
        <p14:creationId xmlns:p14="http://schemas.microsoft.com/office/powerpoint/2010/main" val="1221041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0C907F-56D3-4E8A-873F-5CFE7B065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8899402"/>
            <a:ext cx="7197726" cy="6647974"/>
          </a:xfrm>
          <a:prstGeom prst="rect">
            <a:avLst/>
          </a:prstGeom>
          <a:solidFill>
            <a:srgbClr val="F6F8F5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sus rasare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 o taina mare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Straluceste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lumii vesteste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lumii vesteste.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 astazi curata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Prea nevinovata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Fecioara Maria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Naste pe Mesia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Naste pe Mesia.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Magii cum zarira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Steaua si pornira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Mergand dupa raza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 Hristos sa-L vaza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Pe Hristos sa-L vaza.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daca pornira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Indata-L gasira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La dansulintrara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i se inchinara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i se inchinara.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Cu daruri gatite,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Lui Hristos menite,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Luand fiecare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Bucurie mare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Bucurie mare.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24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Care bucurie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Si aici sa fie,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De la tinerete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Pan' la batranete</a:t>
            </a:r>
            <a:b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</a:b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Pan' la batranete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.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9C616-17F7-4648-9713-9475FFE52884}"/>
              </a:ext>
            </a:extLst>
          </p:cNvPr>
          <p:cNvSpPr txBox="1"/>
          <p:nvPr/>
        </p:nvSpPr>
        <p:spPr>
          <a:xfrm>
            <a:off x="2801937" y="-5657778"/>
            <a:ext cx="6588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Steaua Sus Răsare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8699F4-5390-4ACC-9259-DB71002D3C94}"/>
              </a:ext>
            </a:extLst>
          </p:cNvPr>
          <p:cNvSpPr txBox="1"/>
          <p:nvPr/>
        </p:nvSpPr>
        <p:spPr>
          <a:xfrm>
            <a:off x="1342575" y="879386"/>
            <a:ext cx="345963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chemeClr val="bg1"/>
                </a:solidFill>
              </a:rPr>
              <a:t>Dragi copii din tara asta,</a:t>
            </a:r>
          </a:p>
          <a:p>
            <a:r>
              <a:rPr lang="ro-RO" sz="2000" dirty="0">
                <a:solidFill>
                  <a:schemeClr val="bg1"/>
                </a:solidFill>
              </a:rPr>
              <a:t>Va mirati voi cum se poate,</a:t>
            </a:r>
          </a:p>
          <a:p>
            <a:r>
              <a:rPr lang="ro-RO" sz="2000" dirty="0">
                <a:solidFill>
                  <a:schemeClr val="bg1"/>
                </a:solidFill>
              </a:rPr>
              <a:t>Mos Craciun, din cer de-acolo,</a:t>
            </a:r>
          </a:p>
          <a:p>
            <a:r>
              <a:rPr lang="ro-RO" sz="2000" dirty="0">
                <a:solidFill>
                  <a:schemeClr val="bg1"/>
                </a:solidFill>
              </a:rPr>
              <a:t>Sa le stie toate, toate.</a:t>
            </a:r>
          </a:p>
          <a:p>
            <a:endParaRPr lang="ro-RO" sz="2000" dirty="0">
              <a:solidFill>
                <a:schemeClr val="bg1"/>
              </a:solidFill>
            </a:endParaRPr>
          </a:p>
          <a:p>
            <a:r>
              <a:rPr lang="ro-RO" sz="2000" dirty="0">
                <a:solidFill>
                  <a:schemeClr val="bg1"/>
                </a:solidFill>
              </a:rPr>
              <a:t>Uite cum: Va spune Badea..</a:t>
            </a:r>
          </a:p>
          <a:p>
            <a:r>
              <a:rPr lang="ro-RO" sz="2000" dirty="0">
                <a:solidFill>
                  <a:schemeClr val="bg1"/>
                </a:solidFill>
              </a:rPr>
              <a:t>Iarna'n noapte, pe zapada,</a:t>
            </a:r>
          </a:p>
          <a:p>
            <a:r>
              <a:rPr lang="ro-RO" sz="2000" dirty="0">
                <a:solidFill>
                  <a:schemeClr val="bg1"/>
                </a:solidFill>
              </a:rPr>
              <a:t>El trimite cate-un inger</a:t>
            </a:r>
          </a:p>
          <a:p>
            <a:r>
              <a:rPr lang="ro-RO" sz="2000" dirty="0">
                <a:solidFill>
                  <a:schemeClr val="bg1"/>
                </a:solidFill>
              </a:rPr>
              <a:t>La fereastra ca sa vada..</a:t>
            </a:r>
          </a:p>
          <a:p>
            <a:endParaRPr lang="ro-RO" sz="2000" dirty="0">
              <a:solidFill>
                <a:schemeClr val="bg1"/>
              </a:solidFill>
            </a:endParaRPr>
          </a:p>
          <a:p>
            <a:r>
              <a:rPr lang="ro-RO" sz="2000" dirty="0">
                <a:solidFill>
                  <a:schemeClr val="bg1"/>
                </a:solidFill>
              </a:rPr>
              <a:t>Ingerii se uita'n casa</a:t>
            </a:r>
          </a:p>
          <a:p>
            <a:r>
              <a:rPr lang="ro-RO" sz="2000" dirty="0">
                <a:solidFill>
                  <a:schemeClr val="bg1"/>
                </a:solidFill>
              </a:rPr>
              <a:t>Vad si spun, iar mosul are</a:t>
            </a:r>
          </a:p>
          <a:p>
            <a:r>
              <a:rPr lang="ro-RO" sz="2000" dirty="0">
                <a:solidFill>
                  <a:schemeClr val="bg1"/>
                </a:solidFill>
              </a:rPr>
              <a:t>Colo'n cer, la el in tinda,</a:t>
            </a:r>
          </a:p>
          <a:p>
            <a:r>
              <a:rPr lang="ro-RO" sz="2000" dirty="0">
                <a:solidFill>
                  <a:schemeClr val="bg1"/>
                </a:solidFill>
              </a:rPr>
              <a:t>Pe genunchi o carte mare.</a:t>
            </a:r>
          </a:p>
          <a:p>
            <a:endParaRPr lang="ro-RO" sz="2000" dirty="0">
              <a:solidFill>
                <a:schemeClr val="bg1"/>
              </a:solidFill>
            </a:endParaRPr>
          </a:p>
          <a:p>
            <a:r>
              <a:rPr lang="ro-RO" sz="2000" dirty="0">
                <a:solidFill>
                  <a:schemeClr val="bg1"/>
                </a:solidFill>
              </a:rPr>
              <a:t>Cu condei de-argint el scrie</a:t>
            </a:r>
          </a:p>
          <a:p>
            <a:r>
              <a:rPr lang="ro-RO" sz="2000" dirty="0">
                <a:solidFill>
                  <a:schemeClr val="bg1"/>
                </a:solidFill>
              </a:rPr>
              <a:t>Ce copil si ce purtare..</a:t>
            </a:r>
          </a:p>
          <a:p>
            <a:r>
              <a:rPr lang="ro-RO" sz="2000" dirty="0">
                <a:solidFill>
                  <a:schemeClr val="bg1"/>
                </a:solidFill>
              </a:rPr>
              <a:t>Si de-acolo stie Mosul,</a:t>
            </a:r>
          </a:p>
          <a:p>
            <a:r>
              <a:rPr lang="ro-RO" sz="2000" dirty="0">
                <a:solidFill>
                  <a:schemeClr val="bg1"/>
                </a:solidFill>
              </a:rPr>
              <a:t>Că-i siret el, lucru mare.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D5BA0-698D-41C7-9425-DBAFA41C5EC4}"/>
              </a:ext>
            </a:extLst>
          </p:cNvPr>
          <p:cNvSpPr txBox="1"/>
          <p:nvPr/>
        </p:nvSpPr>
        <p:spPr>
          <a:xfrm>
            <a:off x="34132" y="232105"/>
            <a:ext cx="5471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Măruț mărgăritar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290E7-A862-41FE-902A-44FB796C1E07}"/>
              </a:ext>
            </a:extLst>
          </p:cNvPr>
          <p:cNvSpPr txBox="1"/>
          <p:nvPr/>
        </p:nvSpPr>
        <p:spPr>
          <a:xfrm>
            <a:off x="2700402" y="8338226"/>
            <a:ext cx="8400922" cy="584164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Crăciunul nu-i despre un moş </a:t>
            </a:r>
          </a:p>
          <a:p>
            <a:r>
              <a:rPr lang="ro-RO" sz="2400" dirty="0">
                <a:solidFill>
                  <a:schemeClr val="bg1"/>
                </a:solidFill>
              </a:rPr>
              <a:t>Ce în ajun sosește,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sărbătoarea lui Hristos, </a:t>
            </a:r>
          </a:p>
          <a:p>
            <a:r>
              <a:rPr lang="ro-RO" sz="2400" dirty="0">
                <a:solidFill>
                  <a:schemeClr val="bg1"/>
                </a:solidFill>
              </a:rPr>
              <a:t>Ce-n lume poposeşte!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Crăciunul nu-i doar a primi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În mâini sau buzunare,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din puțin a dărui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celui ce nu are! 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Crăciunul nu-i despre bogati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cât li-i bogăţia, 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despre dragostea-ntre frați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Sfântă omenia!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Crăciunu-i magii și-s păstori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Maica Preacurată,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vestea ce colindători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O duc din poartă-n poartă!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Crăciunu-i una din minuni</a:t>
            </a:r>
          </a:p>
          <a:p>
            <a:r>
              <a:rPr lang="ro-RO" sz="2400" dirty="0">
                <a:solidFill>
                  <a:schemeClr val="bg1"/>
                </a:solidFill>
              </a:rPr>
              <a:t>Ce Domnu-o săvârşeşte,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Cu scopul de a fi mai buni,</a:t>
            </a:r>
          </a:p>
          <a:p>
            <a:r>
              <a:rPr lang="ro-RO" sz="2400" dirty="0">
                <a:solidFill>
                  <a:schemeClr val="bg1"/>
                </a:solidFill>
              </a:rPr>
              <a:t>Și semn că ne iubeşte! 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Crăciunu-i darul prețios, </a:t>
            </a:r>
          </a:p>
          <a:p>
            <a:r>
              <a:rPr lang="ro-RO" sz="2400" dirty="0">
                <a:solidFill>
                  <a:schemeClr val="bg1"/>
                </a:solidFill>
              </a:rPr>
              <a:t>Trimis de Dumnezeu: Hristos!</a:t>
            </a:r>
          </a:p>
          <a:p>
            <a:endParaRPr lang="ro-RO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70109-F060-4B84-872A-AFD7024668B4}"/>
              </a:ext>
            </a:extLst>
          </p:cNvPr>
          <p:cNvSpPr txBox="1"/>
          <p:nvPr/>
        </p:nvSpPr>
        <p:spPr>
          <a:xfrm>
            <a:off x="3600450" y="-3643252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Crăciunul</a:t>
            </a:r>
          </a:p>
          <a:p>
            <a:pPr algn="ctr"/>
            <a:r>
              <a:rPr lang="ro-RO" sz="2400" dirty="0">
                <a:solidFill>
                  <a:schemeClr val="bg1"/>
                </a:solidFill>
              </a:rPr>
              <a:t>de Licuța Pântia</a:t>
            </a: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B9774B0-A6DF-4779-B9C6-F8AA5232534C}"/>
              </a:ext>
            </a:extLst>
          </p:cNvPr>
          <p:cNvSpPr/>
          <p:nvPr/>
        </p:nvSpPr>
        <p:spPr>
          <a:xfrm>
            <a:off x="-4343400" y="1792944"/>
            <a:ext cx="7645400" cy="95377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94B945F4-F57D-4B50-86E1-4CCFB4161E80}"/>
              </a:ext>
            </a:extLst>
          </p:cNvPr>
          <p:cNvSpPr/>
          <p:nvPr/>
        </p:nvSpPr>
        <p:spPr>
          <a:xfrm rot="10800000">
            <a:off x="9762067" y="-5365390"/>
            <a:ext cx="7645400" cy="95377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F0EA0-B9C5-47CF-8002-90C57DF8216C}"/>
              </a:ext>
            </a:extLst>
          </p:cNvPr>
          <p:cNvSpPr txBox="1"/>
          <p:nvPr/>
        </p:nvSpPr>
        <p:spPr>
          <a:xfrm>
            <a:off x="6900863" y="1297858"/>
            <a:ext cx="39485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chemeClr val="bg1"/>
                </a:solidFill>
              </a:rPr>
              <a:t>Buna seara la Mos Ajun!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 cu bine la Mos Craciun.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Am venit si noi odata</a:t>
            </a:r>
          </a:p>
          <a:p>
            <a:r>
              <a:rPr lang="ro-RO" sz="2400" dirty="0">
                <a:solidFill>
                  <a:schemeClr val="bg1"/>
                </a:solidFill>
              </a:rPr>
              <a:t>La un an cu sanatate,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 la anu cand venim</a:t>
            </a:r>
          </a:p>
          <a:p>
            <a:r>
              <a:rPr lang="ro-RO" sz="2400" dirty="0">
                <a:solidFill>
                  <a:schemeClr val="bg1"/>
                </a:solidFill>
              </a:rPr>
              <a:t>Sanatosi sa va gasim.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Cu paharul</a:t>
            </a:r>
          </a:p>
          <a:p>
            <a:r>
              <a:rPr lang="ro-RO" sz="2400" dirty="0">
                <a:solidFill>
                  <a:schemeClr val="bg1"/>
                </a:solidFill>
              </a:rPr>
              <a:t>Plin de vin,</a:t>
            </a:r>
          </a:p>
          <a:p>
            <a:r>
              <a:rPr lang="ro-RO" sz="2400" dirty="0">
                <a:solidFill>
                  <a:schemeClr val="bg1"/>
                </a:solidFill>
              </a:rPr>
              <a:t>Si-n fundul paharului</a:t>
            </a:r>
          </a:p>
          <a:p>
            <a:r>
              <a:rPr lang="ro-RO" sz="2400" dirty="0">
                <a:solidFill>
                  <a:schemeClr val="bg1"/>
                </a:solidFill>
              </a:rPr>
              <a:t>Floricica Raiului.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593035-710D-425D-B86E-5F05F373225E}"/>
              </a:ext>
            </a:extLst>
          </p:cNvPr>
          <p:cNvSpPr txBox="1"/>
          <p:nvPr/>
        </p:nvSpPr>
        <p:spPr>
          <a:xfrm>
            <a:off x="6503538" y="227176"/>
            <a:ext cx="4401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 err="1">
                <a:solidFill>
                  <a:schemeClr val="bg1"/>
                </a:solidFill>
              </a:rPr>
              <a:t>Bună</a:t>
            </a:r>
            <a:r>
              <a:rPr lang="es-ES" sz="3200" b="1" dirty="0">
                <a:solidFill>
                  <a:schemeClr val="bg1"/>
                </a:solidFill>
              </a:rPr>
              <a:t> </a:t>
            </a:r>
            <a:r>
              <a:rPr lang="es-ES" sz="3200" b="1" dirty="0" err="1">
                <a:solidFill>
                  <a:schemeClr val="bg1"/>
                </a:solidFill>
              </a:rPr>
              <a:t>seara</a:t>
            </a:r>
            <a:r>
              <a:rPr lang="es-ES" sz="3200" b="1" dirty="0">
                <a:solidFill>
                  <a:schemeClr val="bg1"/>
                </a:solidFill>
              </a:rPr>
              <a:t> la </a:t>
            </a:r>
            <a:r>
              <a:rPr lang="ro-RO" sz="3200" b="1" dirty="0">
                <a:solidFill>
                  <a:schemeClr val="bg1"/>
                </a:solidFill>
              </a:rPr>
              <a:t>Moș Ajun</a:t>
            </a:r>
          </a:p>
        </p:txBody>
      </p:sp>
    </p:spTree>
    <p:extLst>
      <p:ext uri="{BB962C8B-B14F-4D97-AF65-F5344CB8AC3E}">
        <p14:creationId xmlns:p14="http://schemas.microsoft.com/office/powerpoint/2010/main" val="3883196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0C907F-56D3-4E8A-873F-5CFE7B065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12038723"/>
            <a:ext cx="7197726" cy="369332"/>
          </a:xfrm>
          <a:prstGeom prst="rect">
            <a:avLst/>
          </a:prstGeom>
          <a:solidFill>
            <a:srgbClr val="F6F8F5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8699F4-5390-4ACC-9259-DB71002D3C94}"/>
              </a:ext>
            </a:extLst>
          </p:cNvPr>
          <p:cNvSpPr txBox="1"/>
          <p:nvPr/>
        </p:nvSpPr>
        <p:spPr>
          <a:xfrm>
            <a:off x="17612095" y="803812"/>
            <a:ext cx="296227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spc="-150" dirty="0">
                <a:solidFill>
                  <a:schemeClr val="bg1"/>
                </a:solidFill>
              </a:rPr>
              <a:t>Dragi copii din tara asta,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Va mirati voi cum se poate,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Mos Craciun, din cer de-acolo,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Sa le stie toate, toate.</a:t>
            </a:r>
          </a:p>
          <a:p>
            <a:endParaRPr lang="ro-RO" sz="2000" spc="-150" dirty="0">
              <a:solidFill>
                <a:schemeClr val="bg1"/>
              </a:solidFill>
            </a:endParaRPr>
          </a:p>
          <a:p>
            <a:r>
              <a:rPr lang="ro-RO" sz="2000" spc="-150" dirty="0">
                <a:solidFill>
                  <a:schemeClr val="bg1"/>
                </a:solidFill>
              </a:rPr>
              <a:t>Uite cum: Va spune Badea..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Iarna'n noapte, pe zapada,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El trimite cate-un inger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La fereastra ca sa vada..</a:t>
            </a:r>
          </a:p>
          <a:p>
            <a:endParaRPr lang="ro-RO" sz="2000" spc="-150" dirty="0">
              <a:solidFill>
                <a:schemeClr val="bg1"/>
              </a:solidFill>
            </a:endParaRPr>
          </a:p>
          <a:p>
            <a:r>
              <a:rPr lang="ro-RO" sz="2000" spc="-150" dirty="0">
                <a:solidFill>
                  <a:schemeClr val="bg1"/>
                </a:solidFill>
              </a:rPr>
              <a:t>Ingerii se uita'n casa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Vad si spun, iar mosul are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Colo'n cer, la el in tinda,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Pe genunchi o carte mare.</a:t>
            </a:r>
          </a:p>
          <a:p>
            <a:endParaRPr lang="ro-RO" sz="2000" spc="-150" dirty="0">
              <a:solidFill>
                <a:schemeClr val="bg1"/>
              </a:solidFill>
            </a:endParaRPr>
          </a:p>
          <a:p>
            <a:r>
              <a:rPr lang="ro-RO" sz="2000" spc="-150" dirty="0">
                <a:solidFill>
                  <a:schemeClr val="bg1"/>
                </a:solidFill>
              </a:rPr>
              <a:t>Cu condei de-argint el scrie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Ce copil si ce purtare..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Si de-acolo stie Mosul,</a:t>
            </a:r>
          </a:p>
          <a:p>
            <a:r>
              <a:rPr lang="ro-RO" sz="2000" spc="-150" dirty="0">
                <a:solidFill>
                  <a:schemeClr val="bg1"/>
                </a:solidFill>
              </a:rPr>
              <a:t>Că-i siret el, lucru mare.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D5BA0-698D-41C7-9425-DBAFA41C5EC4}"/>
              </a:ext>
            </a:extLst>
          </p:cNvPr>
          <p:cNvSpPr txBox="1"/>
          <p:nvPr/>
        </p:nvSpPr>
        <p:spPr>
          <a:xfrm>
            <a:off x="-7180527" y="219037"/>
            <a:ext cx="5471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Măruț mărgăritar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290E7-A862-41FE-902A-44FB796C1E07}"/>
              </a:ext>
            </a:extLst>
          </p:cNvPr>
          <p:cNvSpPr txBox="1"/>
          <p:nvPr/>
        </p:nvSpPr>
        <p:spPr>
          <a:xfrm>
            <a:off x="2331573" y="1080254"/>
            <a:ext cx="8400922" cy="584164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Crăciunul nu-i despre un moş </a:t>
            </a:r>
          </a:p>
          <a:p>
            <a:r>
              <a:rPr lang="ro-RO" sz="2400" dirty="0">
                <a:solidFill>
                  <a:schemeClr val="bg1"/>
                </a:solidFill>
              </a:rPr>
              <a:t>Ce în ajun sosește,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sărbătoarea lui Hristos, </a:t>
            </a:r>
          </a:p>
          <a:p>
            <a:r>
              <a:rPr lang="ro-RO" sz="2400" dirty="0">
                <a:solidFill>
                  <a:schemeClr val="bg1"/>
                </a:solidFill>
              </a:rPr>
              <a:t>Ce-n lume poposeşte!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Crăciunul nu-i doar a primi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În mâini sau buzunare,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din puțin a dărui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celui ce nu are! 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Crăciunul nu-i despre bogati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cât li-i bogăţia, 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despre dragostea-ntre frați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Şi Sfântă omenia!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Crăciunu-i magii și-s păstori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Maica Preacurată,</a:t>
            </a:r>
          </a:p>
          <a:p>
            <a:r>
              <a:rPr lang="ro-RO" sz="2400" dirty="0">
                <a:solidFill>
                  <a:schemeClr val="bg1"/>
                </a:solidFill>
              </a:rPr>
              <a:t>E vestea ce colindători </a:t>
            </a:r>
          </a:p>
          <a:p>
            <a:r>
              <a:rPr lang="ro-RO" sz="2400" dirty="0">
                <a:solidFill>
                  <a:schemeClr val="bg1"/>
                </a:solidFill>
              </a:rPr>
              <a:t>O duc din poartă-n poartă!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Crăciunu-i una din minuni</a:t>
            </a:r>
          </a:p>
          <a:p>
            <a:r>
              <a:rPr lang="ro-RO" sz="2400" dirty="0">
                <a:solidFill>
                  <a:schemeClr val="bg1"/>
                </a:solidFill>
              </a:rPr>
              <a:t>Ce Domnu-o săvârşeşte,</a:t>
            </a:r>
          </a:p>
          <a:p>
            <a:r>
              <a:rPr lang="ro-RO" sz="2400" dirty="0">
                <a:solidFill>
                  <a:schemeClr val="bg1"/>
                </a:solidFill>
              </a:rPr>
              <a:t>Cu scopul de a fi mai buni,</a:t>
            </a:r>
          </a:p>
          <a:p>
            <a:r>
              <a:rPr lang="ro-RO" sz="2400" dirty="0">
                <a:solidFill>
                  <a:schemeClr val="bg1"/>
                </a:solidFill>
              </a:rPr>
              <a:t>Și semn că ne iubeşte! </a:t>
            </a:r>
          </a:p>
          <a:p>
            <a:endParaRPr lang="ro-RO" sz="2400" dirty="0">
              <a:solidFill>
                <a:schemeClr val="bg1"/>
              </a:solidFill>
            </a:endParaRPr>
          </a:p>
          <a:p>
            <a:r>
              <a:rPr lang="ro-RO" sz="2400" dirty="0">
                <a:solidFill>
                  <a:schemeClr val="bg1"/>
                </a:solidFill>
              </a:rPr>
              <a:t>Crăciunu-i darul prețios, </a:t>
            </a:r>
          </a:p>
          <a:p>
            <a:r>
              <a:rPr lang="ro-RO" sz="2400" dirty="0">
                <a:solidFill>
                  <a:schemeClr val="bg1"/>
                </a:solidFill>
              </a:rPr>
              <a:t>Trimis de Dumnezeu: Hristos!</a:t>
            </a:r>
          </a:p>
          <a:p>
            <a:endParaRPr lang="ro-RO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70109-F060-4B84-872A-AFD7024668B4}"/>
              </a:ext>
            </a:extLst>
          </p:cNvPr>
          <p:cNvSpPr txBox="1"/>
          <p:nvPr/>
        </p:nvSpPr>
        <p:spPr>
          <a:xfrm>
            <a:off x="3646520" y="249161"/>
            <a:ext cx="480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Crăciunul</a:t>
            </a:r>
          </a:p>
          <a:p>
            <a:pPr algn="ctr"/>
            <a:r>
              <a:rPr lang="ro-RO" sz="2400" dirty="0">
                <a:solidFill>
                  <a:schemeClr val="bg1"/>
                </a:solidFill>
              </a:rPr>
              <a:t>de Licuța Pântia</a:t>
            </a:r>
          </a:p>
        </p:txBody>
      </p:sp>
    </p:spTree>
    <p:extLst>
      <p:ext uri="{BB962C8B-B14F-4D97-AF65-F5344CB8AC3E}">
        <p14:creationId xmlns:p14="http://schemas.microsoft.com/office/powerpoint/2010/main" val="1560008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0C907F-56D3-4E8A-873F-5CFE7B065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12038723"/>
            <a:ext cx="7197726" cy="369332"/>
          </a:xfrm>
          <a:prstGeom prst="rect">
            <a:avLst/>
          </a:prstGeom>
          <a:solidFill>
            <a:srgbClr val="F6F8F5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B9774B0-A6DF-4779-B9C6-F8AA5232534C}"/>
              </a:ext>
            </a:extLst>
          </p:cNvPr>
          <p:cNvSpPr/>
          <p:nvPr/>
        </p:nvSpPr>
        <p:spPr>
          <a:xfrm>
            <a:off x="-4343400" y="1792944"/>
            <a:ext cx="7645400" cy="95377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94B945F4-F57D-4B50-86E1-4CCFB4161E80}"/>
              </a:ext>
            </a:extLst>
          </p:cNvPr>
          <p:cNvSpPr/>
          <p:nvPr/>
        </p:nvSpPr>
        <p:spPr>
          <a:xfrm rot="10800000">
            <a:off x="9762067" y="-5365390"/>
            <a:ext cx="7645400" cy="95377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091D5B-576A-4DE3-9385-27EFDA7C92E9}"/>
              </a:ext>
            </a:extLst>
          </p:cNvPr>
          <p:cNvSpPr txBox="1"/>
          <p:nvPr/>
        </p:nvSpPr>
        <p:spPr>
          <a:xfrm>
            <a:off x="0" y="788659"/>
            <a:ext cx="12192000" cy="5773135"/>
          </a:xfrm>
          <a:prstGeom prst="rect">
            <a:avLst/>
          </a:prstGeom>
          <a:noFill/>
        </p:spPr>
        <p:txBody>
          <a:bodyPr wrap="square" numCol="4" spcCol="0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Maine-i ziua lui Craciun,</a:t>
            </a:r>
          </a:p>
          <a:p>
            <a:r>
              <a:rPr lang="ro-RO" dirty="0">
                <a:solidFill>
                  <a:schemeClr val="bg1"/>
                </a:solidFill>
              </a:rPr>
              <a:t>Cand s'a nascut Dumnezeu.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Mititel, desfasetel,</a:t>
            </a:r>
          </a:p>
          <a:p>
            <a:r>
              <a:rPr lang="ro-RO" dirty="0">
                <a:solidFill>
                  <a:schemeClr val="bg1"/>
                </a:solidFill>
              </a:rPr>
              <a:t>'Nvaluit in flori de mar.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Cu scutec de usenel,</a:t>
            </a:r>
          </a:p>
          <a:p>
            <a:r>
              <a:rPr lang="ro-RO" dirty="0">
                <a:solidFill>
                  <a:schemeClr val="bg1"/>
                </a:solidFill>
              </a:rPr>
              <a:t>Fase verde de matas’.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Cand s'a nascut Dumnezeu,</a:t>
            </a:r>
          </a:p>
          <a:p>
            <a:r>
              <a:rPr lang="ro-RO" dirty="0">
                <a:solidFill>
                  <a:schemeClr val="bg1"/>
                </a:solidFill>
              </a:rPr>
              <a:t>Canep parlit</a:t>
            </a:r>
          </a:p>
          <a:p>
            <a:r>
              <a:rPr lang="ro-RO" dirty="0">
                <a:solidFill>
                  <a:schemeClr val="bg1"/>
                </a:solidFill>
              </a:rPr>
              <a:t>Mi-a otavit.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Crang uscat,</a:t>
            </a:r>
          </a:p>
          <a:p>
            <a:r>
              <a:rPr lang="ro-RO" dirty="0">
                <a:solidFill>
                  <a:schemeClr val="bg1"/>
                </a:solidFill>
              </a:rPr>
              <a:t>Frunza mi-a dat,</a:t>
            </a:r>
          </a:p>
          <a:p>
            <a:r>
              <a:rPr lang="ro-RO" dirty="0">
                <a:solidFill>
                  <a:schemeClr val="bg1"/>
                </a:solidFill>
              </a:rPr>
              <a:t>Fantani seci mi-a isvorat.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Caini de jidovi mi-au de-aflat;</a:t>
            </a:r>
          </a:p>
          <a:p>
            <a:r>
              <a:rPr lang="ro-RO" dirty="0">
                <a:solidFill>
                  <a:schemeClr val="bg1"/>
                </a:solidFill>
              </a:rPr>
              <a:t>Sovai, prinsu-a mi-L cata.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tot din vad in vad,</a:t>
            </a:r>
          </a:p>
          <a:p>
            <a:r>
              <a:rPr lang="ro-RO" dirty="0">
                <a:solidFill>
                  <a:schemeClr val="bg1"/>
                </a:solidFill>
              </a:rPr>
              <a:t>Sovai tot din sat in sal.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tot din casa 'n casa,</a:t>
            </a:r>
          </a:p>
          <a:p>
            <a:r>
              <a:rPr lang="ro-RO" dirty="0">
                <a:solidFill>
                  <a:schemeClr val="bg1"/>
                </a:solidFill>
              </a:rPr>
              <a:t>Sovai si din masa 'n masa.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Maica Maria</a:t>
            </a:r>
          </a:p>
          <a:p>
            <a:r>
              <a:rPr lang="ro-RO" dirty="0">
                <a:solidFill>
                  <a:schemeClr val="bg1"/>
                </a:solidFill>
              </a:rPr>
              <a:t>Ea de veste ca prindea,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Pruncu'in braj'ca-si lua,</a:t>
            </a:r>
          </a:p>
          <a:p>
            <a:r>
              <a:rPr lang="ro-RO" dirty="0">
                <a:solidFill>
                  <a:schemeClr val="bg1"/>
                </a:solidFill>
              </a:rPr>
              <a:t>Cararuia-si de-apuca: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Cararuia drept la munti,</a:t>
            </a:r>
          </a:p>
          <a:p>
            <a:r>
              <a:rPr lang="ro-RO" dirty="0">
                <a:solidFill>
                  <a:schemeClr val="bg1"/>
                </a:solidFill>
              </a:rPr>
              <a:t>Drept la munji, la munti carunti.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Urca-si munte, urca-si doi;</a:t>
            </a:r>
          </a:p>
          <a:p>
            <a:r>
              <a:rPr lang="ro-RO" dirty="0">
                <a:solidFill>
                  <a:schemeClr val="bg1"/>
                </a:solidFill>
              </a:rPr>
              <a:t>Cand fu munte de-al treilea.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Puse jos sa odihneasca.</a:t>
            </a:r>
          </a:p>
          <a:p>
            <a:r>
              <a:rPr lang="ro-RO" dirty="0">
                <a:solidFill>
                  <a:schemeClr val="bg1"/>
                </a:solidFill>
              </a:rPr>
              <a:t>Pruncul sa si-1 primeneasca.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Cand ochi negri-si de-arunca,</a:t>
            </a:r>
          </a:p>
          <a:p>
            <a:r>
              <a:rPr lang="ro-RO" dirty="0">
                <a:solidFill>
                  <a:schemeClr val="bg1"/>
                </a:solidFill>
              </a:rPr>
              <a:t>In urma ei ce-mi vedea?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Tare vine si loan.</a:t>
            </a:r>
          </a:p>
          <a:p>
            <a:r>
              <a:rPr lang="ro-RO" dirty="0">
                <a:solidFill>
                  <a:schemeClr val="bg1"/>
                </a:solidFill>
              </a:rPr>
              <a:t>Si loan, si sfant Ioan;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Vine tare'n fuga mare</a:t>
            </a:r>
          </a:p>
          <a:p>
            <a:r>
              <a:rPr lang="ro-RO" dirty="0">
                <a:solidFill>
                  <a:schemeClr val="bg1"/>
                </a:solidFill>
              </a:rPr>
              <a:t>Si-mi striga'n gurita mare: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Ia, mai stai, Maica Marie,</a:t>
            </a:r>
          </a:p>
          <a:p>
            <a:r>
              <a:rPr lang="ro-RO" dirty="0">
                <a:solidFill>
                  <a:schemeClr val="bg1"/>
                </a:solidFill>
              </a:rPr>
              <a:t>Sa mergem mai inainte.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Mai nainte 'n varf de munte,</a:t>
            </a:r>
          </a:p>
          <a:p>
            <a:r>
              <a:rPr lang="ro-RO" dirty="0">
                <a:solidFill>
                  <a:schemeClr val="bg1"/>
                </a:solidFill>
              </a:rPr>
              <a:t>Ca eu stiu trei raurele: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Rau de vin, si-altu-i de mir,</a:t>
            </a:r>
          </a:p>
          <a:p>
            <a:r>
              <a:rPr lang="ro-RO" dirty="0">
                <a:solidFill>
                  <a:schemeClr val="bg1"/>
                </a:solidFill>
              </a:rPr>
              <a:t>S'altu-i apa limpejoara.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In bun vin sa mi-L scaldam,</a:t>
            </a:r>
          </a:p>
          <a:p>
            <a:r>
              <a:rPr lang="ro-RO" dirty="0">
                <a:solidFill>
                  <a:schemeClr val="bg1"/>
                </a:solidFill>
              </a:rPr>
              <a:t>In apa sa-L limpezim.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Cu bun mir sa-L miruim</a:t>
            </a:r>
          </a:p>
          <a:p>
            <a:endParaRPr lang="ro-RO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’</a:t>
            </a:r>
            <a:r>
              <a:rPr lang="ro-RO" dirty="0">
                <a:solidFill>
                  <a:schemeClr val="bg1"/>
                </a:solidFill>
              </a:rPr>
              <a:t>vestmant alb sa-L primenim.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bun nume sa-I punem,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Bunul Dumnezeu.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Bunul Dumnezeu.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Bun stapan de cer.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cer sa stapanesti,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norod sa miruiesti.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Sovai ici in ceasta casainsasi fie'n cruci frumoase.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Iarasi noi intru multi ani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 </a:t>
            </a:r>
            <a:r>
              <a:rPr lang="ro-RO" dirty="0">
                <a:solidFill>
                  <a:schemeClr val="bg1"/>
                </a:solidFill>
              </a:rPr>
              <a:t>cu totii impreuna!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A4F48-D8D8-4006-8066-4F7A58C72B8A}"/>
              </a:ext>
            </a:extLst>
          </p:cNvPr>
          <p:cNvSpPr txBox="1"/>
          <p:nvPr/>
        </p:nvSpPr>
        <p:spPr>
          <a:xfrm>
            <a:off x="3981450" y="93348"/>
            <a:ext cx="422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200" b="1" dirty="0">
                <a:solidFill>
                  <a:schemeClr val="bg1"/>
                </a:solidFill>
              </a:rPr>
              <a:t>Astă seară-i seară mare</a:t>
            </a:r>
          </a:p>
        </p:txBody>
      </p:sp>
    </p:spTree>
    <p:extLst>
      <p:ext uri="{BB962C8B-B14F-4D97-AF65-F5344CB8AC3E}">
        <p14:creationId xmlns:p14="http://schemas.microsoft.com/office/powerpoint/2010/main" val="3616029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F740F3-410D-4966-8A29-8F2BD2FA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596540"/>
            <a:ext cx="12192000" cy="80510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C7A47A-83A6-46CF-8970-7D2DAC2BFD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9A6C6-38C9-4453-B045-8EAC2DEAF914}"/>
              </a:ext>
            </a:extLst>
          </p:cNvPr>
          <p:cNvSpPr txBox="1"/>
          <p:nvPr/>
        </p:nvSpPr>
        <p:spPr>
          <a:xfrm>
            <a:off x="-6931026" y="0"/>
            <a:ext cx="3512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o-RO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0C907F-56D3-4E8A-873F-5CFE7B065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5" y="3724095"/>
            <a:ext cx="7197726" cy="369332"/>
          </a:xfrm>
          <a:prstGeom prst="rect">
            <a:avLst/>
          </a:prstGeom>
          <a:solidFill>
            <a:srgbClr val="F6F8F5">
              <a:alpha val="0"/>
            </a:srgbClr>
          </a:solidFill>
          <a:ln>
            <a:noFill/>
          </a:ln>
          <a:effectLst/>
        </p:spPr>
        <p:txBody>
          <a:bodyPr vert="horz" wrap="square" lIns="0" tIns="0" rIns="0" bIns="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6938E80A-C7FA-49B8-9362-7875C9E5F86F}"/>
              </a:ext>
            </a:extLst>
          </p:cNvPr>
          <p:cNvSpPr/>
          <p:nvPr/>
        </p:nvSpPr>
        <p:spPr>
          <a:xfrm>
            <a:off x="-581025" y="-1044755"/>
            <a:ext cx="7645400" cy="95377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FB972F81-4AFB-4E9F-888A-65C810E73C8C}"/>
              </a:ext>
            </a:extLst>
          </p:cNvPr>
          <p:cNvSpPr/>
          <p:nvPr/>
        </p:nvSpPr>
        <p:spPr>
          <a:xfrm rot="10800000">
            <a:off x="6717242" y="-1068451"/>
            <a:ext cx="7645400" cy="95377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B9E654-7193-4B29-BC6B-A34458CA51F6}"/>
              </a:ext>
            </a:extLst>
          </p:cNvPr>
          <p:cNvSpPr txBox="1"/>
          <p:nvPr/>
        </p:nvSpPr>
        <p:spPr>
          <a:xfrm>
            <a:off x="3182937" y="2054537"/>
            <a:ext cx="58261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VĂ MULȚUMIM PENTRU ATENȚIE!</a:t>
            </a:r>
          </a:p>
        </p:txBody>
      </p:sp>
    </p:spTree>
    <p:extLst>
      <p:ext uri="{BB962C8B-B14F-4D97-AF65-F5344CB8AC3E}">
        <p14:creationId xmlns:p14="http://schemas.microsoft.com/office/powerpoint/2010/main" val="2656834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3791</Words>
  <Application>Microsoft Office PowerPoint</Application>
  <PresentationFormat>Widescreen</PresentationFormat>
  <Paragraphs>646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Matei</dc:creator>
  <cp:lastModifiedBy>Matei</cp:lastModifiedBy>
  <cp:revision>16</cp:revision>
  <dcterms:created xsi:type="dcterms:W3CDTF">2024-12-17T18:40:20Z</dcterms:created>
  <dcterms:modified xsi:type="dcterms:W3CDTF">2024-12-18T08:51:37Z</dcterms:modified>
</cp:coreProperties>
</file>