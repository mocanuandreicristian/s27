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1" r:id="rId6"/>
    <p:sldId id="257" r:id="rId7"/>
    <p:sldId id="258" r:id="rId8"/>
    <p:sldId id="259" r:id="rId9"/>
    <p:sldId id="260" r:id="rId10"/>
    <p:sldId id="272" r:id="rId11"/>
    <p:sldId id="261" r:id="rId12"/>
    <p:sldId id="273" r:id="rId13"/>
    <p:sldId id="264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1E3"/>
    <a:srgbClr val="2E3841"/>
    <a:srgbClr val="2D3C4C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3593A-2A23-196F-BD9F-5BA902951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76A9E-F89B-42A3-39BA-B4FC817A3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E234F-D4EB-4E1F-5C38-845AD29C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6294C-C259-E399-4508-BB82B362A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7F1E3-CF0A-BAFC-23F9-FA33D41C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7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1015-3C00-3B67-7788-A3509B9E8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0D456-F22E-C331-7CAF-ACD49428A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5567A-5429-4C45-B1A5-52D91792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B089C-68C6-14FA-193B-E0FE32CA7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5A4BC-613E-1C45-6F89-A998B132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2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9476-231E-F1CC-82CD-945816D85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19BC4-F8A3-347D-7402-6F447E345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BCE4B-F3B1-E0F7-FC40-FD313C85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88806-B33F-C606-5C0B-00BABC26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81E7E-1675-2B53-8208-D2C020F5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9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1E6A-E358-5516-A4E6-851F5EEE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A318A-7549-05B7-A523-24A79051B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6C84A-72EB-2269-01B1-DB20D8464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4001B-5661-82A7-DC63-3B5A8CFA5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AD718-C4DA-024B-D407-C420F11E6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8F4AA-A77B-C367-5412-3066C575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52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B65F-7470-12CA-7D09-F467F20F8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3B6B3-E964-2AA5-4D23-96CBB79E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90E52-B013-AAAB-E88D-2CD0E24E4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76601-E70D-5AF5-E324-B98C9DEAF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BB1E0-6C64-459B-8CD6-A845A4C1B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663263-3ACD-8D4B-3E69-9CDD4D42D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427BDC-77B4-C630-4643-3C05011D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2AAF1-A174-73CA-CD7D-61491E76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0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CBB0-EC46-78AB-E114-4203B8A1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10C5D-267E-B665-B21D-107BF24D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E2068-B0A8-F263-8E09-CFF6182C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840ED-EAE8-1425-4553-6979592B3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7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6CE50F-B889-38AB-17AC-3D518F7C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E2BD2-46AF-4934-21CF-69FB34647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3E87D-1C4A-CB75-27B5-247CAA73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5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377D-F1B5-517F-2DA3-997814182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0BA8-9E8B-4EFB-C2B7-559463A61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674B2-ACDE-0FDC-EDA7-6E54C892E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4CAA2-F186-C898-EAD1-4616F5BD6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3A7A5-5C8E-D766-302F-E5846D65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69FAC-E02E-D31C-DDA8-FA3BE5CDF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4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655D-EB6A-AA4E-30F9-35C32A2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D892D0-AA56-2281-F0CA-9589DC44B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ADD2D-1424-C92F-717F-B36E82BDA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0F6E3-17FF-064E-A2B0-C11E2368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23ACC-AFF6-9AC1-654C-41375CEF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01586-5E08-8AAE-1F8E-AC483C83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7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7743D-59D0-AE67-28DE-961BB544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08E88-7DF4-2F04-72A3-4EEE1CD7C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9BFD1-916E-CF3B-A3C7-B05B2E46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231A6-FBFF-803B-9E86-974DF8FAE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6E28C-9D92-568E-0981-F3B4DD19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9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80DC84-BDA2-BE13-936D-D751E147F6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583DD-9979-F790-A2A6-3F22F6FC3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F4118-D095-133E-FDB5-DD5906717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3ADE8-64EB-F204-BFCB-44C2DF45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8A046-2FBA-D934-9F84-001AA6EF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02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3B48F-A0F2-6D82-C67E-785E1110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DE08C-EA6F-DD02-6374-D1179B81B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BAE0-E5BC-C26A-82F5-0F1A64D01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933C2-84EC-41AF-BC14-A6A0000DFF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9ABA9-76D6-2524-1617-ADB53866A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1ADF-6CC9-C1DE-61A5-E1FC62F4B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DEDA6-7B08-4D26-8770-957B71AD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0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pital.ro/romania-lider-in-ue-la-costul-energiei-electrice-raportat-la-puterea-de-cumparare-nivelul-preturilor-este-disproportionat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ro.wikipedia.org/wiki/Inginerie_electronic%C4%83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E9D1B0-22AF-6CD9-43DE-CEB4633F84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B515AAB-17B0-53B2-B52F-FB597053A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Image 0" descr="https://kimi-web-img.moonshot.cn/img/static.vecteezy.com/00ff00ba64a87073935a07497ab0fde981a88e9b.jpeg">
            <a:extLst>
              <a:ext uri="{FF2B5EF4-FFF2-40B4-BE49-F238E27FC236}">
                <a16:creationId xmlns:a16="http://schemas.microsoft.com/office/drawing/2014/main" id="{882E3C7E-C5BF-8D9E-86B6-3477708B9B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222" r="22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593A4EB1-F284-B4B9-08FA-6F8C0A2BBA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D1D1F">
                  <a:alpha val="90000"/>
                </a:srgbClr>
              </a:gs>
              <a:gs pos="50000">
                <a:srgbClr val="1D1D1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D252FB53-8CFB-9E8B-9AA6-3877565832B2}"/>
              </a:ext>
            </a:extLst>
          </p:cNvPr>
          <p:cNvSpPr/>
          <p:nvPr/>
        </p:nvSpPr>
        <p:spPr>
          <a:xfrm>
            <a:off x="381000" y="4762500"/>
            <a:ext cx="5600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01F47E32-E824-D6AF-2367-76EA06931996}"/>
              </a:ext>
            </a:extLst>
          </p:cNvPr>
          <p:cNvSpPr/>
          <p:nvPr/>
        </p:nvSpPr>
        <p:spPr>
          <a:xfrm>
            <a:off x="381000" y="56007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Proiect realizat de:</a:t>
            </a:r>
            <a:endParaRPr lang="en-US" sz="1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CEFE22F-CFC4-3073-6D57-A6B35FA1EB6D}"/>
              </a:ext>
            </a:extLst>
          </p:cNvPr>
          <p:cNvSpPr/>
          <p:nvPr/>
        </p:nvSpPr>
        <p:spPr>
          <a:xfrm>
            <a:off x="381000" y="5867400"/>
            <a:ext cx="3457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Petrescu Matei &amp; Mocanu Andrei Cristian</a:t>
            </a:r>
            <a:endParaRPr lang="en-US" sz="16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90A9BDF4-D1C6-EF1C-BED3-83B74E2A08E3}"/>
              </a:ext>
            </a:extLst>
          </p:cNvPr>
          <p:cNvSpPr/>
          <p:nvPr/>
        </p:nvSpPr>
        <p:spPr>
          <a:xfrm>
            <a:off x="381000" y="1790700"/>
            <a:ext cx="12242802" cy="247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400" b="1" kern="0" spc="-180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Energia și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400" b="1" kern="0" spc="-180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Puterea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400" b="1" kern="0" spc="-180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Electrică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85994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438EC8-D0C6-EC13-DB32-98F663C92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48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1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A5AF08-7060-2840-A442-8E033A5E0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0" r="190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72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40B9CE-1DD2-A5C6-83FE-336E1B071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7" r="677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2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https://kimi-web-img.moonshot.cn/img/images.stockcake.com/84dd43f45a11a28cc7ea9280aefc96f227ee55b5.jpg">
            <a:extLst>
              <a:ext uri="{FF2B5EF4-FFF2-40B4-BE49-F238E27FC236}">
                <a16:creationId xmlns:a16="http://schemas.microsoft.com/office/drawing/2014/main" id="{1151989E-A144-598E-B856-C827DC18A5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14" name="Shape 0">
            <a:extLst>
              <a:ext uri="{FF2B5EF4-FFF2-40B4-BE49-F238E27FC236}">
                <a16:creationId xmlns:a16="http://schemas.microsoft.com/office/drawing/2014/main" id="{2D12CE67-5439-F2D5-8F07-EED196270C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50000">
                <a:srgbClr val="1D1D1F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9EAEA74-2FFD-0A0A-8861-CF3B9198B9DD}"/>
              </a:ext>
            </a:extLst>
          </p:cNvPr>
          <p:cNvSpPr/>
          <p:nvPr/>
        </p:nvSpPr>
        <p:spPr>
          <a:xfrm>
            <a:off x="381000" y="2005013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Energia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Electrică</a:t>
            </a:r>
            <a:endParaRPr lang="en-US" sz="16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B51E6253-2E72-8C90-B72C-5E4B9431482F}"/>
              </a:ext>
            </a:extLst>
          </p:cNvPr>
          <p:cNvSpPr/>
          <p:nvPr/>
        </p:nvSpPr>
        <p:spPr>
          <a:xfrm>
            <a:off x="381000" y="3948112"/>
            <a:ext cx="6515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Înțelegerea conceptului fundamental de energie electrică și a modului în care aceasta măsoară lucrul mecanic efectuat de o sursă</a:t>
            </a:r>
            <a:endParaRPr lang="en-US" sz="16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8F1D0B06-BB9C-E69C-FA33-C54F737387CB}"/>
              </a:ext>
            </a:extLst>
          </p:cNvPr>
          <p:cNvSpPr/>
          <p:nvPr/>
        </p:nvSpPr>
        <p:spPr>
          <a:xfrm>
            <a:off x="381000" y="551973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5538D30B-B08E-BA45-A209-22040C983F44}"/>
              </a:ext>
            </a:extLst>
          </p:cNvPr>
          <p:cNvSpPr/>
          <p:nvPr/>
        </p:nvSpPr>
        <p:spPr>
          <a:xfrm>
            <a:off x="609600" y="551973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B0CE2D1D-47B2-1BA2-7633-EC58943BEF3D}"/>
              </a:ext>
            </a:extLst>
          </p:cNvPr>
          <p:cNvSpPr/>
          <p:nvPr/>
        </p:nvSpPr>
        <p:spPr>
          <a:xfrm>
            <a:off x="838200" y="551973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9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>
            <a:extLst>
              <a:ext uri="{FF2B5EF4-FFF2-40B4-BE49-F238E27FC236}">
                <a16:creationId xmlns:a16="http://schemas.microsoft.com/office/drawing/2014/main" id="{DD6638A4-55A9-4E4B-049D-272AE76F0043}"/>
              </a:ext>
            </a:extLst>
          </p:cNvPr>
          <p:cNvSpPr/>
          <p:nvPr/>
        </p:nvSpPr>
        <p:spPr>
          <a:xfrm>
            <a:off x="295275" y="283368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ENERGIA ELECTRICĂ (W)</a:t>
            </a:r>
            <a:endParaRPr lang="en-US" sz="1600" dirty="0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C40672E-6ADF-2736-1F31-C3EC3B026C60}"/>
              </a:ext>
            </a:extLst>
          </p:cNvPr>
          <p:cNvSpPr/>
          <p:nvPr/>
        </p:nvSpPr>
        <p:spPr>
          <a:xfrm>
            <a:off x="295275" y="588168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 este Energia Electrică?</a:t>
            </a:r>
            <a:endParaRPr lang="en-US" sz="1600" dirty="0"/>
          </a:p>
        </p:txBody>
      </p:sp>
      <p:sp>
        <p:nvSpPr>
          <p:cNvPr id="67" name="Shape 2">
            <a:extLst>
              <a:ext uri="{FF2B5EF4-FFF2-40B4-BE49-F238E27FC236}">
                <a16:creationId xmlns:a16="http://schemas.microsoft.com/office/drawing/2014/main" id="{95F9F83B-ABCA-349B-B49E-A5B4FD69368D}"/>
              </a:ext>
            </a:extLst>
          </p:cNvPr>
          <p:cNvSpPr/>
          <p:nvPr/>
        </p:nvSpPr>
        <p:spPr>
          <a:xfrm>
            <a:off x="300038" y="1078705"/>
            <a:ext cx="11596687" cy="1952626"/>
          </a:xfrm>
          <a:custGeom>
            <a:avLst/>
            <a:gdLst/>
            <a:ahLst/>
            <a:cxnLst/>
            <a:rect l="l" t="t" r="r" b="b"/>
            <a:pathLst>
              <a:path w="8067675" h="1828800">
                <a:moveTo>
                  <a:pt x="228600" y="0"/>
                </a:moveTo>
                <a:lnTo>
                  <a:pt x="7839075" y="0"/>
                </a:lnTo>
                <a:cubicBezTo>
                  <a:pt x="7965243" y="0"/>
                  <a:pt x="8067675" y="102432"/>
                  <a:pt x="8067675" y="228600"/>
                </a:cubicBezTo>
                <a:lnTo>
                  <a:pt x="8067675" y="1600200"/>
                </a:lnTo>
                <a:cubicBezTo>
                  <a:pt x="8067675" y="1726368"/>
                  <a:pt x="7965243" y="1828800"/>
                  <a:pt x="7839075" y="1828800"/>
                </a:cubicBezTo>
                <a:lnTo>
                  <a:pt x="228600" y="1828800"/>
                </a:lnTo>
                <a:cubicBezTo>
                  <a:pt x="102432" y="1828800"/>
                  <a:pt x="0" y="1726368"/>
                  <a:pt x="0" y="16002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3">
            <a:extLst>
              <a:ext uri="{FF2B5EF4-FFF2-40B4-BE49-F238E27FC236}">
                <a16:creationId xmlns:a16="http://schemas.microsoft.com/office/drawing/2014/main" id="{1D6A75F0-1A66-70E8-1ADC-9796CEF9819E}"/>
              </a:ext>
            </a:extLst>
          </p:cNvPr>
          <p:cNvSpPr/>
          <p:nvPr/>
        </p:nvSpPr>
        <p:spPr>
          <a:xfrm>
            <a:off x="609600" y="151209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C7BE"/>
              </a:gs>
            </a:gsLst>
            <a:lin ang="270000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089AEE1B-EADE-A4D0-0188-79A95A930C36}"/>
              </a:ext>
            </a:extLst>
          </p:cNvPr>
          <p:cNvSpPr/>
          <p:nvPr/>
        </p:nvSpPr>
        <p:spPr>
          <a:xfrm>
            <a:off x="809625" y="167401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40FC26A6-18AC-6EF9-5769-38CE5527BFE9}"/>
              </a:ext>
            </a:extLst>
          </p:cNvPr>
          <p:cNvSpPr/>
          <p:nvPr/>
        </p:nvSpPr>
        <p:spPr>
          <a:xfrm>
            <a:off x="1409700" y="1512093"/>
            <a:ext cx="6762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Definiție</a:t>
            </a:r>
            <a:endParaRPr lang="en-US" sz="1600" dirty="0"/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353BC4E4-D53C-AF4B-9E65-F6CA321E9C2F}"/>
              </a:ext>
            </a:extLst>
          </p:cNvPr>
          <p:cNvSpPr/>
          <p:nvPr/>
        </p:nvSpPr>
        <p:spPr>
          <a:xfrm>
            <a:off x="1409700" y="1931193"/>
            <a:ext cx="90709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Energia electrică măsoară </a:t>
            </a: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lucrul mecanic efectuat de o sursă</a:t>
            </a: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pentru a deplasa sarcina electrică (q) printr-un circuit.</a:t>
            </a:r>
            <a:endParaRPr lang="en-US" sz="1600" dirty="0"/>
          </a:p>
        </p:txBody>
      </p:sp>
      <p:sp>
        <p:nvSpPr>
          <p:cNvPr id="72" name="Shape 7">
            <a:extLst>
              <a:ext uri="{FF2B5EF4-FFF2-40B4-BE49-F238E27FC236}">
                <a16:creationId xmlns:a16="http://schemas.microsoft.com/office/drawing/2014/main" id="{83DC25C1-AAB3-F13C-DC19-14A41D1C4A20}"/>
              </a:ext>
            </a:extLst>
          </p:cNvPr>
          <p:cNvSpPr/>
          <p:nvPr/>
        </p:nvSpPr>
        <p:spPr>
          <a:xfrm>
            <a:off x="352425" y="3259931"/>
            <a:ext cx="11269436" cy="3314700"/>
          </a:xfrm>
          <a:custGeom>
            <a:avLst/>
            <a:gdLst/>
            <a:ahLst/>
            <a:cxnLst/>
            <a:rect l="l" t="t" r="r" b="b"/>
            <a:pathLst>
              <a:path w="8058150" h="3314700">
                <a:moveTo>
                  <a:pt x="38100" y="0"/>
                </a:moveTo>
                <a:lnTo>
                  <a:pt x="7829535" y="0"/>
                </a:lnTo>
                <a:cubicBezTo>
                  <a:pt x="7955796" y="0"/>
                  <a:pt x="8058150" y="102354"/>
                  <a:pt x="8058150" y="228615"/>
                </a:cubicBezTo>
                <a:lnTo>
                  <a:pt x="8058150" y="3086085"/>
                </a:lnTo>
                <a:cubicBezTo>
                  <a:pt x="8058150" y="3212346"/>
                  <a:pt x="7955796" y="3314700"/>
                  <a:pt x="7829535" y="3314700"/>
                </a:cubicBezTo>
                <a:lnTo>
                  <a:pt x="38100" y="3314700"/>
                </a:lnTo>
                <a:cubicBezTo>
                  <a:pt x="17072" y="3314700"/>
                  <a:pt x="0" y="3297628"/>
                  <a:pt x="0" y="3276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8000"/>
                </a:srgbClr>
              </a:gs>
              <a:gs pos="100000">
                <a:srgbClr val="0071E3">
                  <a:alpha val="2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8">
            <a:extLst>
              <a:ext uri="{FF2B5EF4-FFF2-40B4-BE49-F238E27FC236}">
                <a16:creationId xmlns:a16="http://schemas.microsoft.com/office/drawing/2014/main" id="{C6A0D6E8-3548-818B-AB2B-36CF4AA39281}"/>
              </a:ext>
            </a:extLst>
          </p:cNvPr>
          <p:cNvSpPr/>
          <p:nvPr/>
        </p:nvSpPr>
        <p:spPr>
          <a:xfrm>
            <a:off x="314325" y="3259931"/>
            <a:ext cx="38100" cy="3314700"/>
          </a:xfrm>
          <a:custGeom>
            <a:avLst/>
            <a:gdLst/>
            <a:ahLst/>
            <a:cxnLst/>
            <a:rect l="l" t="t" r="r" b="b"/>
            <a:pathLst>
              <a:path w="38100" h="3314700">
                <a:moveTo>
                  <a:pt x="38100" y="0"/>
                </a:moveTo>
                <a:lnTo>
                  <a:pt x="38100" y="0"/>
                </a:lnTo>
                <a:lnTo>
                  <a:pt x="38100" y="3314700"/>
                </a:lnTo>
                <a:lnTo>
                  <a:pt x="38100" y="3314700"/>
                </a:lnTo>
                <a:cubicBezTo>
                  <a:pt x="17072" y="3314700"/>
                  <a:pt x="0" y="3297628"/>
                  <a:pt x="0" y="3276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9">
            <a:extLst>
              <a:ext uri="{FF2B5EF4-FFF2-40B4-BE49-F238E27FC236}">
                <a16:creationId xmlns:a16="http://schemas.microsoft.com/office/drawing/2014/main" id="{BA9F78BC-21E0-CD82-3CBD-A6D4989BC153}"/>
              </a:ext>
            </a:extLst>
          </p:cNvPr>
          <p:cNvSpPr/>
          <p:nvPr/>
        </p:nvSpPr>
        <p:spPr>
          <a:xfrm>
            <a:off x="638175" y="3564730"/>
            <a:ext cx="754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 de Bază</a:t>
            </a:r>
            <a:endParaRPr lang="en-US" sz="1600" dirty="0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957816D-F6F9-E601-5CC5-E8AE6252D330}"/>
              </a:ext>
            </a:extLst>
          </p:cNvPr>
          <p:cNvGrpSpPr/>
          <p:nvPr/>
        </p:nvGrpSpPr>
        <p:grpSpPr>
          <a:xfrm>
            <a:off x="3371190" y="3555042"/>
            <a:ext cx="4575997" cy="762000"/>
            <a:chOff x="3137892" y="4098131"/>
            <a:chExt cx="4575997" cy="762000"/>
          </a:xfrm>
        </p:grpSpPr>
        <p:sp>
          <p:nvSpPr>
            <p:cNvPr id="75" name="Text 10">
              <a:extLst>
                <a:ext uri="{FF2B5EF4-FFF2-40B4-BE49-F238E27FC236}">
                  <a16:creationId xmlns:a16="http://schemas.microsoft.com/office/drawing/2014/main" id="{98C8F499-1162-0938-50D7-362C07F748B4}"/>
                </a:ext>
              </a:extLst>
            </p:cNvPr>
            <p:cNvSpPr/>
            <p:nvPr/>
          </p:nvSpPr>
          <p:spPr>
            <a:xfrm>
              <a:off x="3137892" y="4098131"/>
              <a:ext cx="4575997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500" b="1" dirty="0">
                  <a:solidFill>
                    <a:srgbClr val="0071E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W = E · q</a:t>
              </a:r>
              <a:endParaRPr lang="en-US" sz="1600" dirty="0"/>
            </a:p>
          </p:txBody>
        </p:sp>
        <p:sp>
          <p:nvSpPr>
            <p:cNvPr id="76" name="Shape 11">
              <a:extLst>
                <a:ext uri="{FF2B5EF4-FFF2-40B4-BE49-F238E27FC236}">
                  <a16:creationId xmlns:a16="http://schemas.microsoft.com/office/drawing/2014/main" id="{BA0B32AB-2781-D1A6-263A-340C511384B7}"/>
                </a:ext>
              </a:extLst>
            </p:cNvPr>
            <p:cNvSpPr/>
            <p:nvPr/>
          </p:nvSpPr>
          <p:spPr>
            <a:xfrm>
              <a:off x="3280767" y="4783931"/>
              <a:ext cx="4286250" cy="76200"/>
            </a:xfrm>
            <a:custGeom>
              <a:avLst/>
              <a:gdLst/>
              <a:ahLst/>
              <a:cxnLst/>
              <a:rect l="l" t="t" r="r" b="b"/>
              <a:pathLst>
                <a:path w="2143125" h="38100">
                  <a:moveTo>
                    <a:pt x="0" y="0"/>
                  </a:moveTo>
                  <a:lnTo>
                    <a:pt x="2143125" y="0"/>
                  </a:lnTo>
                  <a:lnTo>
                    <a:pt x="214312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71E3"/>
                </a:gs>
                <a:gs pos="100000">
                  <a:srgbClr val="000000">
                    <a:alpha val="0"/>
                  </a:srgbClr>
                </a:gs>
              </a:gsLst>
              <a:lin ang="0" scaled="1"/>
            </a:gra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34C48B8-F43D-73CB-718A-AE1B85CEA2F4}"/>
              </a:ext>
            </a:extLst>
          </p:cNvPr>
          <p:cNvGrpSpPr/>
          <p:nvPr/>
        </p:nvGrpSpPr>
        <p:grpSpPr>
          <a:xfrm>
            <a:off x="600074" y="4669631"/>
            <a:ext cx="3476297" cy="1600200"/>
            <a:chOff x="685800" y="5262563"/>
            <a:chExt cx="2400300" cy="1104900"/>
          </a:xfrm>
        </p:grpSpPr>
        <p:sp>
          <p:nvSpPr>
            <p:cNvPr id="88" name="Shape 12">
              <a:extLst>
                <a:ext uri="{FF2B5EF4-FFF2-40B4-BE49-F238E27FC236}">
                  <a16:creationId xmlns:a16="http://schemas.microsoft.com/office/drawing/2014/main" id="{8A177E78-116D-8A0C-D0D0-48778D259A71}"/>
                </a:ext>
              </a:extLst>
            </p:cNvPr>
            <p:cNvSpPr/>
            <p:nvPr/>
          </p:nvSpPr>
          <p:spPr>
            <a:xfrm>
              <a:off x="1619250" y="5262563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 13">
              <a:extLst>
                <a:ext uri="{FF2B5EF4-FFF2-40B4-BE49-F238E27FC236}">
                  <a16:creationId xmlns:a16="http://schemas.microsoft.com/office/drawing/2014/main" id="{0CF2867A-E01C-D380-AD29-F01BB49C5CE1}"/>
                </a:ext>
              </a:extLst>
            </p:cNvPr>
            <p:cNvSpPr/>
            <p:nvPr/>
          </p:nvSpPr>
          <p:spPr>
            <a:xfrm>
              <a:off x="1705124" y="5376863"/>
              <a:ext cx="3619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W</a:t>
              </a:r>
              <a:endParaRPr lang="en-US" sz="1600" dirty="0"/>
            </a:p>
          </p:txBody>
        </p:sp>
        <p:sp>
          <p:nvSpPr>
            <p:cNvPr id="90" name="Text 14">
              <a:extLst>
                <a:ext uri="{FF2B5EF4-FFF2-40B4-BE49-F238E27FC236}">
                  <a16:creationId xmlns:a16="http://schemas.microsoft.com/office/drawing/2014/main" id="{00A42A21-E38F-94D3-2922-7B9FD52E3D7A}"/>
                </a:ext>
              </a:extLst>
            </p:cNvPr>
            <p:cNvSpPr/>
            <p:nvPr/>
          </p:nvSpPr>
          <p:spPr>
            <a:xfrm>
              <a:off x="685800" y="5910263"/>
              <a:ext cx="24003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Energia electrică</a:t>
              </a:r>
              <a:endParaRPr lang="en-US" sz="1600" dirty="0"/>
            </a:p>
          </p:txBody>
        </p:sp>
        <p:sp>
          <p:nvSpPr>
            <p:cNvPr id="91" name="Text 15">
              <a:extLst>
                <a:ext uri="{FF2B5EF4-FFF2-40B4-BE49-F238E27FC236}">
                  <a16:creationId xmlns:a16="http://schemas.microsoft.com/office/drawing/2014/main" id="{A44DDE7F-7B29-8291-EA61-7034595633CC}"/>
                </a:ext>
              </a:extLst>
            </p:cNvPr>
            <p:cNvSpPr/>
            <p:nvPr/>
          </p:nvSpPr>
          <p:spPr>
            <a:xfrm>
              <a:off x="690563" y="6176963"/>
              <a:ext cx="23907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Măsurată în Jouli (J)</a:t>
              </a:r>
              <a:endParaRPr lang="en-US" sz="160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CEC32E9-A197-5311-689E-7F083A193BBD}"/>
              </a:ext>
            </a:extLst>
          </p:cNvPr>
          <p:cNvGrpSpPr/>
          <p:nvPr/>
        </p:nvGrpSpPr>
        <p:grpSpPr>
          <a:xfrm>
            <a:off x="4069474" y="4669631"/>
            <a:ext cx="3683219" cy="1695450"/>
            <a:chOff x="3238500" y="5262563"/>
            <a:chExt cx="2400300" cy="1104900"/>
          </a:xfrm>
        </p:grpSpPr>
        <p:sp>
          <p:nvSpPr>
            <p:cNvPr id="84" name="Shape 16">
              <a:extLst>
                <a:ext uri="{FF2B5EF4-FFF2-40B4-BE49-F238E27FC236}">
                  <a16:creationId xmlns:a16="http://schemas.microsoft.com/office/drawing/2014/main" id="{186ABCF4-379E-85A9-6E03-EF12FDE9245E}"/>
                </a:ext>
              </a:extLst>
            </p:cNvPr>
            <p:cNvSpPr/>
            <p:nvPr/>
          </p:nvSpPr>
          <p:spPr>
            <a:xfrm>
              <a:off x="4171950" y="5262563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17">
              <a:extLst>
                <a:ext uri="{FF2B5EF4-FFF2-40B4-BE49-F238E27FC236}">
                  <a16:creationId xmlns:a16="http://schemas.microsoft.com/office/drawing/2014/main" id="{8F2DBC62-D656-B17F-92F2-9B3B5204A306}"/>
                </a:ext>
              </a:extLst>
            </p:cNvPr>
            <p:cNvSpPr/>
            <p:nvPr/>
          </p:nvSpPr>
          <p:spPr>
            <a:xfrm>
              <a:off x="4321820" y="5376863"/>
              <a:ext cx="238125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</a:t>
              </a:r>
              <a:endParaRPr lang="en-US" sz="1600" dirty="0"/>
            </a:p>
          </p:txBody>
        </p:sp>
        <p:sp>
          <p:nvSpPr>
            <p:cNvPr id="86" name="Text 18">
              <a:extLst>
                <a:ext uri="{FF2B5EF4-FFF2-40B4-BE49-F238E27FC236}">
                  <a16:creationId xmlns:a16="http://schemas.microsoft.com/office/drawing/2014/main" id="{D91BE951-4CE2-17EC-9402-F1B8693D6F54}"/>
                </a:ext>
              </a:extLst>
            </p:cNvPr>
            <p:cNvSpPr/>
            <p:nvPr/>
          </p:nvSpPr>
          <p:spPr>
            <a:xfrm>
              <a:off x="3238500" y="5910263"/>
              <a:ext cx="24003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Tensiunea electromotoare</a:t>
              </a:r>
              <a:endParaRPr lang="en-US" sz="1600" dirty="0"/>
            </a:p>
          </p:txBody>
        </p:sp>
        <p:sp>
          <p:nvSpPr>
            <p:cNvPr id="87" name="Text 19">
              <a:extLst>
                <a:ext uri="{FF2B5EF4-FFF2-40B4-BE49-F238E27FC236}">
                  <a16:creationId xmlns:a16="http://schemas.microsoft.com/office/drawing/2014/main" id="{882170F4-5417-D04E-1F7B-6F1F0DB6C9AA}"/>
                </a:ext>
              </a:extLst>
            </p:cNvPr>
            <p:cNvSpPr/>
            <p:nvPr/>
          </p:nvSpPr>
          <p:spPr>
            <a:xfrm>
              <a:off x="3243263" y="6176963"/>
              <a:ext cx="23907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t.e.m. (Volți)</a:t>
              </a:r>
              <a:endParaRPr lang="en-US" sz="1600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D2A47B1-E6C4-3F40-FFDA-444F8E99AF12}"/>
              </a:ext>
            </a:extLst>
          </p:cNvPr>
          <p:cNvGrpSpPr/>
          <p:nvPr/>
        </p:nvGrpSpPr>
        <p:grpSpPr>
          <a:xfrm>
            <a:off x="8000850" y="4669631"/>
            <a:ext cx="3683219" cy="1695450"/>
            <a:chOff x="5791200" y="5262563"/>
            <a:chExt cx="2400300" cy="1104900"/>
          </a:xfrm>
        </p:grpSpPr>
        <p:sp>
          <p:nvSpPr>
            <p:cNvPr id="80" name="Shape 20">
              <a:extLst>
                <a:ext uri="{FF2B5EF4-FFF2-40B4-BE49-F238E27FC236}">
                  <a16:creationId xmlns:a16="http://schemas.microsoft.com/office/drawing/2014/main" id="{97DCC407-F251-52BB-72FE-92EDDECD8DF7}"/>
                </a:ext>
              </a:extLst>
            </p:cNvPr>
            <p:cNvSpPr/>
            <p:nvPr/>
          </p:nvSpPr>
          <p:spPr>
            <a:xfrm>
              <a:off x="6724650" y="5262563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114302" y="0"/>
                  </a:moveTo>
                  <a:lnTo>
                    <a:pt x="419098" y="0"/>
                  </a:lnTo>
                  <a:cubicBezTo>
                    <a:pt x="482183" y="0"/>
                    <a:pt x="533400" y="51217"/>
                    <a:pt x="533400" y="114302"/>
                  </a:cubicBezTo>
                  <a:lnTo>
                    <a:pt x="533400" y="419098"/>
                  </a:lnTo>
                  <a:cubicBezTo>
                    <a:pt x="533400" y="482183"/>
                    <a:pt x="482183" y="533400"/>
                    <a:pt x="419098" y="533400"/>
                  </a:cubicBezTo>
                  <a:lnTo>
                    <a:pt x="114302" y="533400"/>
                  </a:lnTo>
                  <a:cubicBezTo>
                    <a:pt x="51217" y="533400"/>
                    <a:pt x="0" y="482183"/>
                    <a:pt x="0" y="419098"/>
                  </a:cubicBezTo>
                  <a:lnTo>
                    <a:pt x="0" y="114302"/>
                  </a:lnTo>
                  <a:cubicBezTo>
                    <a:pt x="0" y="51217"/>
                    <a:pt x="51217" y="0"/>
                    <a:pt x="114302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 21">
              <a:extLst>
                <a:ext uri="{FF2B5EF4-FFF2-40B4-BE49-F238E27FC236}">
                  <a16:creationId xmlns:a16="http://schemas.microsoft.com/office/drawing/2014/main" id="{82552F4A-1EF8-D228-B0DC-80EDAFCD73D8}"/>
                </a:ext>
              </a:extLst>
            </p:cNvPr>
            <p:cNvSpPr/>
            <p:nvPr/>
          </p:nvSpPr>
          <p:spPr>
            <a:xfrm>
              <a:off x="6868418" y="5376863"/>
              <a:ext cx="24765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800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q</a:t>
              </a:r>
              <a:endParaRPr lang="en-US" sz="1600" dirty="0"/>
            </a:p>
          </p:txBody>
        </p:sp>
        <p:sp>
          <p:nvSpPr>
            <p:cNvPr id="82" name="Text 22">
              <a:extLst>
                <a:ext uri="{FF2B5EF4-FFF2-40B4-BE49-F238E27FC236}">
                  <a16:creationId xmlns:a16="http://schemas.microsoft.com/office/drawing/2014/main" id="{29F8FD51-53F5-8B6E-E11F-1F7BBCFC0862}"/>
                </a:ext>
              </a:extLst>
            </p:cNvPr>
            <p:cNvSpPr/>
            <p:nvPr/>
          </p:nvSpPr>
          <p:spPr>
            <a:xfrm>
              <a:off x="5791200" y="5910263"/>
              <a:ext cx="24003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Sarcina electrică</a:t>
              </a:r>
              <a:endParaRPr lang="en-US" sz="1600" dirty="0"/>
            </a:p>
          </p:txBody>
        </p:sp>
        <p:sp>
          <p:nvSpPr>
            <p:cNvPr id="83" name="Text 23">
              <a:extLst>
                <a:ext uri="{FF2B5EF4-FFF2-40B4-BE49-F238E27FC236}">
                  <a16:creationId xmlns:a16="http://schemas.microsoft.com/office/drawing/2014/main" id="{F294456D-23EC-AAEE-CC5A-72035AD1F7C8}"/>
                </a:ext>
              </a:extLst>
            </p:cNvPr>
            <p:cNvSpPr/>
            <p:nvPr/>
          </p:nvSpPr>
          <p:spPr>
            <a:xfrm>
              <a:off x="5795963" y="6176963"/>
              <a:ext cx="23907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05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Măsurată în Coulombi (C)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5640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D8ABA06-C871-6012-2166-35A8347688D4}"/>
              </a:ext>
            </a:extLst>
          </p:cNvPr>
          <p:cNvGrpSpPr/>
          <p:nvPr/>
        </p:nvGrpSpPr>
        <p:grpSpPr>
          <a:xfrm>
            <a:off x="313532" y="317500"/>
            <a:ext cx="11703843" cy="9088438"/>
            <a:chOff x="313532" y="317500"/>
            <a:chExt cx="11703843" cy="9088438"/>
          </a:xfrm>
        </p:grpSpPr>
        <p:pic>
          <p:nvPicPr>
            <p:cNvPr id="9" name="Image 0" descr="https://kimi-web-img.moonshot.cn/img/images.pexels.com/5b78074fe44f09c2cbd2eae4b18dc6659cddf094.jpeg">
              <a:extLst>
                <a:ext uri="{FF2B5EF4-FFF2-40B4-BE49-F238E27FC236}">
                  <a16:creationId xmlns:a16="http://schemas.microsoft.com/office/drawing/2014/main" id="{E08771E8-EF32-E217-98F9-D31E727B9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313532" y="928688"/>
              <a:ext cx="5651500" cy="8477250"/>
            </a:xfrm>
            <a:prstGeom prst="roundRect">
              <a:avLst>
                <a:gd name="adj" fmla="val 3371"/>
              </a:avLst>
            </a:prstGeom>
          </p:spPr>
        </p:pic>
        <p:sp>
          <p:nvSpPr>
            <p:cNvPr id="10" name="Text 0">
              <a:extLst>
                <a:ext uri="{FF2B5EF4-FFF2-40B4-BE49-F238E27FC236}">
                  <a16:creationId xmlns:a16="http://schemas.microsoft.com/office/drawing/2014/main" id="{34E034B6-6F4C-2E8D-8F76-095215D6BEF4}"/>
                </a:ext>
              </a:extLst>
            </p:cNvPr>
            <p:cNvSpPr/>
            <p:nvPr/>
          </p:nvSpPr>
          <p:spPr>
            <a:xfrm>
              <a:off x="317500" y="317500"/>
              <a:ext cx="116205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b="1" kern="0" spc="50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CONEXIUNI FUNDAMENTALE</a:t>
              </a:r>
              <a:endParaRPr lang="en-US" sz="1600" dirty="0"/>
            </a:p>
          </p:txBody>
        </p:sp>
        <p:sp>
          <p:nvSpPr>
            <p:cNvPr id="11" name="Text 1">
              <a:extLst>
                <a:ext uri="{FF2B5EF4-FFF2-40B4-BE49-F238E27FC236}">
                  <a16:creationId xmlns:a16="http://schemas.microsoft.com/office/drawing/2014/main" id="{0C5E4AF9-2E84-C0F0-17A7-0E89DD242A0D}"/>
                </a:ext>
              </a:extLst>
            </p:cNvPr>
            <p:cNvSpPr/>
            <p:nvPr/>
          </p:nvSpPr>
          <p:spPr>
            <a:xfrm>
              <a:off x="317500" y="571500"/>
              <a:ext cx="11699875" cy="317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90000"/>
                </a:lnSpc>
              </a:pPr>
              <a:r>
                <a:rPr lang="en-US" sz="2250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Legătura dintre Sarcină și Intensitate</a:t>
              </a:r>
              <a:endParaRPr lang="en-US" sz="1600" dirty="0"/>
            </a:p>
          </p:txBody>
        </p:sp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8FF0DBF9-EB48-114C-1D39-1F82E568B581}"/>
                </a:ext>
              </a:extLst>
            </p:cNvPr>
            <p:cNvSpPr/>
            <p:nvPr/>
          </p:nvSpPr>
          <p:spPr>
            <a:xfrm>
              <a:off x="321469" y="1083469"/>
              <a:ext cx="5643563" cy="3579813"/>
            </a:xfrm>
            <a:custGeom>
              <a:avLst/>
              <a:gdLst/>
              <a:ahLst/>
              <a:cxnLst/>
              <a:rect l="l" t="t" r="r" b="b"/>
              <a:pathLst>
                <a:path w="5643563" h="3579813">
                  <a:moveTo>
                    <a:pt x="190518" y="0"/>
                  </a:moveTo>
                  <a:lnTo>
                    <a:pt x="5453045" y="0"/>
                  </a:lnTo>
                  <a:cubicBezTo>
                    <a:pt x="5558265" y="0"/>
                    <a:pt x="5643563" y="85298"/>
                    <a:pt x="5643563" y="190518"/>
                  </a:cubicBezTo>
                  <a:lnTo>
                    <a:pt x="5643563" y="3389295"/>
                  </a:lnTo>
                  <a:cubicBezTo>
                    <a:pt x="5643563" y="3494515"/>
                    <a:pt x="5558265" y="3579813"/>
                    <a:pt x="5453045" y="3579813"/>
                  </a:cubicBezTo>
                  <a:lnTo>
                    <a:pt x="190518" y="3579813"/>
                  </a:lnTo>
                  <a:cubicBezTo>
                    <a:pt x="85298" y="3579813"/>
                    <a:pt x="0" y="3494515"/>
                    <a:pt x="0" y="3389295"/>
                  </a:cubicBezTo>
                  <a:lnTo>
                    <a:pt x="0" y="190518"/>
                  </a:lnTo>
                  <a:cubicBezTo>
                    <a:pt x="0" y="85368"/>
                    <a:pt x="85368" y="0"/>
                    <a:pt x="190518" y="0"/>
                  </a:cubicBezTo>
                  <a:close/>
                </a:path>
              </a:pathLst>
            </a:custGeom>
            <a:solidFill>
              <a:srgbClr val="FFFFFF">
                <a:alpha val="85098"/>
              </a:srgbClr>
            </a:solidFill>
            <a:ln w="12700">
              <a:solidFill>
                <a:srgbClr val="FFFFFF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D53734CD-F65B-9545-74D7-B95D03CA3C6B}"/>
                </a:ext>
              </a:extLst>
            </p:cNvPr>
            <p:cNvSpPr/>
            <p:nvPr/>
          </p:nvSpPr>
          <p:spPr>
            <a:xfrm>
              <a:off x="579438" y="1341438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126998" y="0"/>
                  </a:moveTo>
                  <a:lnTo>
                    <a:pt x="317502" y="0"/>
                  </a:lnTo>
                  <a:cubicBezTo>
                    <a:pt x="387641" y="0"/>
                    <a:pt x="444500" y="56859"/>
                    <a:pt x="444500" y="126998"/>
                  </a:cubicBezTo>
                  <a:lnTo>
                    <a:pt x="444500" y="317502"/>
                  </a:lnTo>
                  <a:cubicBezTo>
                    <a:pt x="444500" y="387641"/>
                    <a:pt x="387641" y="444500"/>
                    <a:pt x="317502" y="444500"/>
                  </a:cubicBezTo>
                  <a:lnTo>
                    <a:pt x="126998" y="444500"/>
                  </a:lnTo>
                  <a:cubicBezTo>
                    <a:pt x="56859" y="444500"/>
                    <a:pt x="0" y="387641"/>
                    <a:pt x="0" y="317502"/>
                  </a:cubicBezTo>
                  <a:lnTo>
                    <a:pt x="0" y="126998"/>
                  </a:lnTo>
                  <a:cubicBezTo>
                    <a:pt x="0" y="56906"/>
                    <a:pt x="56906" y="0"/>
                    <a:pt x="12699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71E3"/>
                </a:gs>
                <a:gs pos="100000">
                  <a:srgbClr val="00C7BE"/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1E7354AC-741A-9B05-1EE6-0745CA70B6C1}"/>
                </a:ext>
              </a:extLst>
            </p:cNvPr>
            <p:cNvSpPr/>
            <p:nvPr/>
          </p:nvSpPr>
          <p:spPr>
            <a:xfrm>
              <a:off x="706438" y="146843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29766"/>
                  </a:moveTo>
                  <a:cubicBezTo>
                    <a:pt x="0" y="19906"/>
                    <a:pt x="8000" y="11906"/>
                    <a:pt x="17859" y="11906"/>
                  </a:cubicBezTo>
                  <a:lnTo>
                    <a:pt x="53578" y="11906"/>
                  </a:lnTo>
                  <a:cubicBezTo>
                    <a:pt x="63438" y="11906"/>
                    <a:pt x="71438" y="19906"/>
                    <a:pt x="71438" y="29766"/>
                  </a:cubicBezTo>
                  <a:lnTo>
                    <a:pt x="71438" y="35719"/>
                  </a:lnTo>
                  <a:lnTo>
                    <a:pt x="119063" y="35719"/>
                  </a:lnTo>
                  <a:lnTo>
                    <a:pt x="119063" y="29766"/>
                  </a:lnTo>
                  <a:cubicBezTo>
                    <a:pt x="119063" y="19906"/>
                    <a:pt x="127062" y="11906"/>
                    <a:pt x="136922" y="11906"/>
                  </a:cubicBezTo>
                  <a:lnTo>
                    <a:pt x="172641" y="11906"/>
                  </a:lnTo>
                  <a:cubicBezTo>
                    <a:pt x="182500" y="11906"/>
                    <a:pt x="190500" y="19906"/>
                    <a:pt x="190500" y="29766"/>
                  </a:cubicBezTo>
                  <a:lnTo>
                    <a:pt x="190500" y="65484"/>
                  </a:lnTo>
                  <a:cubicBezTo>
                    <a:pt x="190500" y="75344"/>
                    <a:pt x="182500" y="83344"/>
                    <a:pt x="172641" y="83344"/>
                  </a:cubicBezTo>
                  <a:lnTo>
                    <a:pt x="136922" y="83344"/>
                  </a:lnTo>
                  <a:cubicBezTo>
                    <a:pt x="127062" y="83344"/>
                    <a:pt x="119063" y="75344"/>
                    <a:pt x="119063" y="65484"/>
                  </a:cubicBezTo>
                  <a:lnTo>
                    <a:pt x="119063" y="59531"/>
                  </a:lnTo>
                  <a:lnTo>
                    <a:pt x="71438" y="59531"/>
                  </a:lnTo>
                  <a:lnTo>
                    <a:pt x="71438" y="65484"/>
                  </a:lnTo>
                  <a:cubicBezTo>
                    <a:pt x="71438" y="68200"/>
                    <a:pt x="70805" y="70805"/>
                    <a:pt x="69726" y="73112"/>
                  </a:cubicBezTo>
                  <a:lnTo>
                    <a:pt x="95250" y="107156"/>
                  </a:lnTo>
                  <a:lnTo>
                    <a:pt x="125016" y="107156"/>
                  </a:lnTo>
                  <a:cubicBezTo>
                    <a:pt x="134875" y="107156"/>
                    <a:pt x="142875" y="115156"/>
                    <a:pt x="142875" y="125016"/>
                  </a:cubicBezTo>
                  <a:lnTo>
                    <a:pt x="142875" y="160734"/>
                  </a:lnTo>
                  <a:cubicBezTo>
                    <a:pt x="142875" y="170594"/>
                    <a:pt x="134875" y="178594"/>
                    <a:pt x="125016" y="178594"/>
                  </a:cubicBezTo>
                  <a:lnTo>
                    <a:pt x="89297" y="178594"/>
                  </a:lnTo>
                  <a:cubicBezTo>
                    <a:pt x="79437" y="178594"/>
                    <a:pt x="71438" y="170594"/>
                    <a:pt x="71438" y="160734"/>
                  </a:cubicBezTo>
                  <a:lnTo>
                    <a:pt x="71438" y="125016"/>
                  </a:lnTo>
                  <a:cubicBezTo>
                    <a:pt x="71438" y="122300"/>
                    <a:pt x="72070" y="119695"/>
                    <a:pt x="73149" y="117388"/>
                  </a:cubicBezTo>
                  <a:lnTo>
                    <a:pt x="47625" y="83344"/>
                  </a:lnTo>
                  <a:lnTo>
                    <a:pt x="17859" y="83344"/>
                  </a:lnTo>
                  <a:cubicBezTo>
                    <a:pt x="8000" y="83344"/>
                    <a:pt x="0" y="75344"/>
                    <a:pt x="0" y="65484"/>
                  </a:cubicBezTo>
                  <a:lnTo>
                    <a:pt x="0" y="29766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3F39D6F5-85BB-6670-6638-C95F5287B72B}"/>
                </a:ext>
              </a:extLst>
            </p:cNvPr>
            <p:cNvSpPr/>
            <p:nvPr/>
          </p:nvSpPr>
          <p:spPr>
            <a:xfrm>
              <a:off x="1150938" y="1436688"/>
              <a:ext cx="170656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0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Formula Intensității</a:t>
              </a:r>
              <a:endParaRPr lang="en-US" sz="1600" dirty="0"/>
            </a:p>
          </p:txBody>
        </p:sp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B1EE8E45-67DE-E7A2-86DE-F614E89746F4}"/>
                </a:ext>
              </a:extLst>
            </p:cNvPr>
            <p:cNvSpPr/>
            <p:nvPr/>
          </p:nvSpPr>
          <p:spPr>
            <a:xfrm>
              <a:off x="595313" y="1976438"/>
              <a:ext cx="5111750" cy="873125"/>
            </a:xfrm>
            <a:custGeom>
              <a:avLst/>
              <a:gdLst/>
              <a:ahLst/>
              <a:cxnLst/>
              <a:rect l="l" t="t" r="r" b="b"/>
              <a:pathLst>
                <a:path w="5111750" h="873125">
                  <a:moveTo>
                    <a:pt x="31750" y="0"/>
                  </a:moveTo>
                  <a:lnTo>
                    <a:pt x="4984754" y="0"/>
                  </a:lnTo>
                  <a:cubicBezTo>
                    <a:pt x="5054892" y="0"/>
                    <a:pt x="5111750" y="56858"/>
                    <a:pt x="5111750" y="126996"/>
                  </a:cubicBezTo>
                  <a:lnTo>
                    <a:pt x="5111750" y="746129"/>
                  </a:lnTo>
                  <a:cubicBezTo>
                    <a:pt x="5111750" y="816267"/>
                    <a:pt x="5054892" y="873125"/>
                    <a:pt x="4984754" y="873125"/>
                  </a:cubicBezTo>
                  <a:lnTo>
                    <a:pt x="31750" y="873125"/>
                  </a:lnTo>
                  <a:cubicBezTo>
                    <a:pt x="14215" y="873125"/>
                    <a:pt x="0" y="858910"/>
                    <a:pt x="0" y="841375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71E3">
                    <a:alpha val="8000"/>
                  </a:srgbClr>
                </a:gs>
                <a:gs pos="100000">
                  <a:srgbClr val="0071E3">
                    <a:alpha val="200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3DDE6F41-DD68-39BE-07F6-84223CA79502}"/>
                </a:ext>
              </a:extLst>
            </p:cNvPr>
            <p:cNvSpPr/>
            <p:nvPr/>
          </p:nvSpPr>
          <p:spPr>
            <a:xfrm>
              <a:off x="595313" y="1976438"/>
              <a:ext cx="31750" cy="873125"/>
            </a:xfrm>
            <a:custGeom>
              <a:avLst/>
              <a:gdLst/>
              <a:ahLst/>
              <a:cxnLst/>
              <a:rect l="l" t="t" r="r" b="b"/>
              <a:pathLst>
                <a:path w="31750" h="873125">
                  <a:moveTo>
                    <a:pt x="31750" y="0"/>
                  </a:moveTo>
                  <a:lnTo>
                    <a:pt x="31750" y="0"/>
                  </a:lnTo>
                  <a:lnTo>
                    <a:pt x="31750" y="873125"/>
                  </a:lnTo>
                  <a:lnTo>
                    <a:pt x="31750" y="873125"/>
                  </a:lnTo>
                  <a:cubicBezTo>
                    <a:pt x="14227" y="873125"/>
                    <a:pt x="0" y="858898"/>
                    <a:pt x="0" y="841375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CB27C220-AE35-99D8-925C-F91CAA512347}"/>
                </a:ext>
              </a:extLst>
            </p:cNvPr>
            <p:cNvSpPr/>
            <p:nvPr/>
          </p:nvSpPr>
          <p:spPr>
            <a:xfrm>
              <a:off x="706438" y="2166938"/>
              <a:ext cx="49053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3000" b="1" dirty="0">
                  <a:solidFill>
                    <a:srgbClr val="0071E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q = I · Δt</a:t>
              </a:r>
              <a:endParaRPr lang="en-US" sz="1600" dirty="0"/>
            </a:p>
          </p:txBody>
        </p:sp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D62B4E7F-D47C-F7C0-AA71-D14117C3449D}"/>
                </a:ext>
              </a:extLst>
            </p:cNvPr>
            <p:cNvSpPr/>
            <p:nvPr/>
          </p:nvSpPr>
          <p:spPr>
            <a:xfrm>
              <a:off x="2651125" y="2643188"/>
              <a:ext cx="1016000" cy="15875"/>
            </a:xfrm>
            <a:custGeom>
              <a:avLst/>
              <a:gdLst/>
              <a:ahLst/>
              <a:cxnLst/>
              <a:rect l="l" t="t" r="r" b="b"/>
              <a:pathLst>
                <a:path w="1016000" h="15875">
                  <a:moveTo>
                    <a:pt x="0" y="0"/>
                  </a:moveTo>
                  <a:lnTo>
                    <a:pt x="1016000" y="0"/>
                  </a:lnTo>
                  <a:lnTo>
                    <a:pt x="1016000" y="15875"/>
                  </a:lnTo>
                  <a:lnTo>
                    <a:pt x="0" y="15875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71E3"/>
                </a:gs>
                <a:gs pos="100000">
                  <a:srgbClr val="000000">
                    <a:alpha val="0"/>
                  </a:srgbClr>
                </a:gs>
              </a:gsLst>
              <a:lin ang="0" scaled="1"/>
            </a:gra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AFC17167-D73D-C427-3C1A-DDE5675CE73D}"/>
                </a:ext>
              </a:extLst>
            </p:cNvPr>
            <p:cNvSpPr/>
            <p:nvPr/>
          </p:nvSpPr>
          <p:spPr>
            <a:xfrm>
              <a:off x="579438" y="3040063"/>
              <a:ext cx="5127625" cy="635000"/>
            </a:xfrm>
            <a:custGeom>
              <a:avLst/>
              <a:gdLst/>
              <a:ahLst/>
              <a:cxnLst/>
              <a:rect l="l" t="t" r="r" b="b"/>
              <a:pathLst>
                <a:path w="5127625" h="635000">
                  <a:moveTo>
                    <a:pt x="95250" y="0"/>
                  </a:moveTo>
                  <a:lnTo>
                    <a:pt x="5032375" y="0"/>
                  </a:lnTo>
                  <a:cubicBezTo>
                    <a:pt x="5084945" y="0"/>
                    <a:pt x="5127625" y="42680"/>
                    <a:pt x="5127625" y="95250"/>
                  </a:cubicBezTo>
                  <a:lnTo>
                    <a:pt x="5127625" y="539750"/>
                  </a:lnTo>
                  <a:cubicBezTo>
                    <a:pt x="5127625" y="592320"/>
                    <a:pt x="5084945" y="635000"/>
                    <a:pt x="5032375" y="635000"/>
                  </a:cubicBezTo>
                  <a:lnTo>
                    <a:pt x="95250" y="635000"/>
                  </a:lnTo>
                  <a:cubicBezTo>
                    <a:pt x="42680" y="635000"/>
                    <a:pt x="0" y="592320"/>
                    <a:pt x="0" y="539750"/>
                  </a:cubicBezTo>
                  <a:lnTo>
                    <a:pt x="0" y="95250"/>
                  </a:lnTo>
                  <a:cubicBezTo>
                    <a:pt x="0" y="42680"/>
                    <a:pt x="42680" y="0"/>
                    <a:pt x="95250" y="0"/>
                  </a:cubicBezTo>
                  <a:close/>
                </a:path>
              </a:pathLst>
            </a:custGeom>
            <a:solidFill>
              <a:srgbClr val="0071E3">
                <a:alpha val="5098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1">
              <a:extLst>
                <a:ext uri="{FF2B5EF4-FFF2-40B4-BE49-F238E27FC236}">
                  <a16:creationId xmlns:a16="http://schemas.microsoft.com/office/drawing/2014/main" id="{6E08E5E4-EB8B-C7ED-BC23-12A731E2AC14}"/>
                </a:ext>
              </a:extLst>
            </p:cNvPr>
            <p:cNvSpPr/>
            <p:nvPr/>
          </p:nvSpPr>
          <p:spPr>
            <a:xfrm>
              <a:off x="706438" y="316706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95250" y="0"/>
                  </a:moveTo>
                  <a:lnTo>
                    <a:pt x="285750" y="0"/>
                  </a:lnTo>
                  <a:cubicBezTo>
                    <a:pt x="338320" y="0"/>
                    <a:pt x="381000" y="42680"/>
                    <a:pt x="381000" y="95250"/>
                  </a:cubicBezTo>
                  <a:lnTo>
                    <a:pt x="381000" y="285750"/>
                  </a:lnTo>
                  <a:cubicBezTo>
                    <a:pt x="381000" y="338320"/>
                    <a:pt x="338320" y="381000"/>
                    <a:pt x="285750" y="381000"/>
                  </a:cubicBezTo>
                  <a:lnTo>
                    <a:pt x="95250" y="381000"/>
                  </a:lnTo>
                  <a:cubicBezTo>
                    <a:pt x="42680" y="381000"/>
                    <a:pt x="0" y="338320"/>
                    <a:pt x="0" y="285750"/>
                  </a:cubicBezTo>
                  <a:lnTo>
                    <a:pt x="0" y="95250"/>
                  </a:lnTo>
                  <a:cubicBezTo>
                    <a:pt x="0" y="42680"/>
                    <a:pt x="42680" y="0"/>
                    <a:pt x="9525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78AFCD9E-37D4-2841-416A-E2DF6DB64C1F}"/>
                </a:ext>
              </a:extLst>
            </p:cNvPr>
            <p:cNvSpPr/>
            <p:nvPr/>
          </p:nvSpPr>
          <p:spPr>
            <a:xfrm>
              <a:off x="875233" y="3246438"/>
              <a:ext cx="119063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0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</a:t>
              </a:r>
              <a:endParaRPr lang="en-US" sz="1600" dirty="0"/>
            </a:p>
          </p:txBody>
        </p:sp>
        <p:sp>
          <p:nvSpPr>
            <p:cNvPr id="23" name="Text 13">
              <a:extLst>
                <a:ext uri="{FF2B5EF4-FFF2-40B4-BE49-F238E27FC236}">
                  <a16:creationId xmlns:a16="http://schemas.microsoft.com/office/drawing/2014/main" id="{1D6EDE82-9818-2DA9-8C61-DAC068C6D236}"/>
                </a:ext>
              </a:extLst>
            </p:cNvPr>
            <p:cNvSpPr/>
            <p:nvPr/>
          </p:nvSpPr>
          <p:spPr>
            <a:xfrm>
              <a:off x="1214438" y="3182938"/>
              <a:ext cx="17145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Intensitatea curentului electric</a:t>
              </a:r>
              <a:endParaRPr lang="en-US" sz="1600" dirty="0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138B5C31-1B6F-32B5-2362-35E570B51BEB}"/>
                </a:ext>
              </a:extLst>
            </p:cNvPr>
            <p:cNvSpPr/>
            <p:nvPr/>
          </p:nvSpPr>
          <p:spPr>
            <a:xfrm>
              <a:off x="1214438" y="3373438"/>
              <a:ext cx="1706563" cy="158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875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Măsurată în Amperi (A)</a:t>
              </a:r>
              <a:endParaRPr lang="en-US" sz="1600" dirty="0"/>
            </a:p>
          </p:txBody>
        </p:sp>
        <p:sp>
          <p:nvSpPr>
            <p:cNvPr id="25" name="Shape 15">
              <a:extLst>
                <a:ext uri="{FF2B5EF4-FFF2-40B4-BE49-F238E27FC236}">
                  <a16:creationId xmlns:a16="http://schemas.microsoft.com/office/drawing/2014/main" id="{CAEBFC45-2778-28C2-45A3-1486F0C8E046}"/>
                </a:ext>
              </a:extLst>
            </p:cNvPr>
            <p:cNvSpPr/>
            <p:nvPr/>
          </p:nvSpPr>
          <p:spPr>
            <a:xfrm>
              <a:off x="579438" y="3770313"/>
              <a:ext cx="5127625" cy="635000"/>
            </a:xfrm>
            <a:custGeom>
              <a:avLst/>
              <a:gdLst/>
              <a:ahLst/>
              <a:cxnLst/>
              <a:rect l="l" t="t" r="r" b="b"/>
              <a:pathLst>
                <a:path w="5127625" h="635000">
                  <a:moveTo>
                    <a:pt x="95250" y="0"/>
                  </a:moveTo>
                  <a:lnTo>
                    <a:pt x="5032375" y="0"/>
                  </a:lnTo>
                  <a:cubicBezTo>
                    <a:pt x="5084945" y="0"/>
                    <a:pt x="5127625" y="42680"/>
                    <a:pt x="5127625" y="95250"/>
                  </a:cubicBezTo>
                  <a:lnTo>
                    <a:pt x="5127625" y="539750"/>
                  </a:lnTo>
                  <a:cubicBezTo>
                    <a:pt x="5127625" y="592320"/>
                    <a:pt x="5084945" y="635000"/>
                    <a:pt x="5032375" y="635000"/>
                  </a:cubicBezTo>
                  <a:lnTo>
                    <a:pt x="95250" y="635000"/>
                  </a:lnTo>
                  <a:cubicBezTo>
                    <a:pt x="42680" y="635000"/>
                    <a:pt x="0" y="592320"/>
                    <a:pt x="0" y="539750"/>
                  </a:cubicBezTo>
                  <a:lnTo>
                    <a:pt x="0" y="95250"/>
                  </a:lnTo>
                  <a:cubicBezTo>
                    <a:pt x="0" y="42680"/>
                    <a:pt x="42680" y="0"/>
                    <a:pt x="95250" y="0"/>
                  </a:cubicBezTo>
                  <a:close/>
                </a:path>
              </a:pathLst>
            </a:custGeom>
            <a:solidFill>
              <a:srgbClr val="0071E3">
                <a:alpha val="5098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46391CAF-BFB8-46C8-59DC-894DE6226627}"/>
                </a:ext>
              </a:extLst>
            </p:cNvPr>
            <p:cNvSpPr/>
            <p:nvPr/>
          </p:nvSpPr>
          <p:spPr>
            <a:xfrm>
              <a:off x="706438" y="389731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95250" y="0"/>
                  </a:moveTo>
                  <a:lnTo>
                    <a:pt x="285750" y="0"/>
                  </a:lnTo>
                  <a:cubicBezTo>
                    <a:pt x="338320" y="0"/>
                    <a:pt x="381000" y="42680"/>
                    <a:pt x="381000" y="95250"/>
                  </a:cubicBezTo>
                  <a:lnTo>
                    <a:pt x="381000" y="285750"/>
                  </a:lnTo>
                  <a:cubicBezTo>
                    <a:pt x="381000" y="338320"/>
                    <a:pt x="338320" y="381000"/>
                    <a:pt x="285750" y="381000"/>
                  </a:cubicBezTo>
                  <a:lnTo>
                    <a:pt x="95250" y="381000"/>
                  </a:lnTo>
                  <a:cubicBezTo>
                    <a:pt x="42680" y="381000"/>
                    <a:pt x="0" y="338320"/>
                    <a:pt x="0" y="285750"/>
                  </a:cubicBezTo>
                  <a:lnTo>
                    <a:pt x="0" y="95250"/>
                  </a:lnTo>
                  <a:cubicBezTo>
                    <a:pt x="0" y="42680"/>
                    <a:pt x="42680" y="0"/>
                    <a:pt x="9525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785EF4BB-966F-F886-9D6F-3053ABF75117}"/>
                </a:ext>
              </a:extLst>
            </p:cNvPr>
            <p:cNvSpPr/>
            <p:nvPr/>
          </p:nvSpPr>
          <p:spPr>
            <a:xfrm>
              <a:off x="814958" y="3976687"/>
              <a:ext cx="246063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50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Δt</a:t>
              </a:r>
              <a:endParaRPr lang="en-US" sz="1600" dirty="0"/>
            </a:p>
          </p:txBody>
        </p:sp>
        <p:sp>
          <p:nvSpPr>
            <p:cNvPr id="28" name="Text 18">
              <a:extLst>
                <a:ext uri="{FF2B5EF4-FFF2-40B4-BE49-F238E27FC236}">
                  <a16:creationId xmlns:a16="http://schemas.microsoft.com/office/drawing/2014/main" id="{5EFF5906-3FFA-15B4-9A6E-1E22C2934D66}"/>
                </a:ext>
              </a:extLst>
            </p:cNvPr>
            <p:cNvSpPr/>
            <p:nvPr/>
          </p:nvSpPr>
          <p:spPr>
            <a:xfrm>
              <a:off x="1214438" y="3913188"/>
              <a:ext cx="11509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Intervalul de timp</a:t>
              </a:r>
              <a:endParaRPr lang="en-US" sz="1600" dirty="0"/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9278BC7D-C688-9F39-6E43-940218C6A6E6}"/>
                </a:ext>
              </a:extLst>
            </p:cNvPr>
            <p:cNvSpPr/>
            <p:nvPr/>
          </p:nvSpPr>
          <p:spPr>
            <a:xfrm>
              <a:off x="1214438" y="4103688"/>
              <a:ext cx="1143000" cy="158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875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Măsurat în secunde (s)</a:t>
              </a:r>
              <a:endParaRPr lang="en-US" sz="1600" dirty="0"/>
            </a:p>
          </p:txBody>
        </p:sp>
        <p:sp>
          <p:nvSpPr>
            <p:cNvPr id="30" name="Shape 20">
              <a:extLst>
                <a:ext uri="{FF2B5EF4-FFF2-40B4-BE49-F238E27FC236}">
                  <a16:creationId xmlns:a16="http://schemas.microsoft.com/office/drawing/2014/main" id="{10444EC6-FFF9-B6BF-C076-4549244E4254}"/>
                </a:ext>
              </a:extLst>
            </p:cNvPr>
            <p:cNvSpPr/>
            <p:nvPr/>
          </p:nvSpPr>
          <p:spPr>
            <a:xfrm>
              <a:off x="6226969" y="1083469"/>
              <a:ext cx="5643563" cy="5203031"/>
            </a:xfrm>
            <a:custGeom>
              <a:avLst/>
              <a:gdLst/>
              <a:ahLst/>
              <a:cxnLst/>
              <a:rect l="l" t="t" r="r" b="b"/>
              <a:pathLst>
                <a:path w="5643563" h="10961688">
                  <a:moveTo>
                    <a:pt x="190527" y="0"/>
                  </a:moveTo>
                  <a:lnTo>
                    <a:pt x="5453036" y="0"/>
                  </a:lnTo>
                  <a:cubicBezTo>
                    <a:pt x="5558261" y="0"/>
                    <a:pt x="5643563" y="85302"/>
                    <a:pt x="5643563" y="190527"/>
                  </a:cubicBezTo>
                  <a:lnTo>
                    <a:pt x="5643563" y="10771161"/>
                  </a:lnTo>
                  <a:cubicBezTo>
                    <a:pt x="5643563" y="10876386"/>
                    <a:pt x="5558261" y="10961687"/>
                    <a:pt x="5453036" y="10961688"/>
                  </a:cubicBezTo>
                  <a:lnTo>
                    <a:pt x="190527" y="10961688"/>
                  </a:lnTo>
                  <a:cubicBezTo>
                    <a:pt x="85302" y="10961688"/>
                    <a:pt x="0" y="10876386"/>
                    <a:pt x="0" y="10771161"/>
                  </a:cubicBezTo>
                  <a:lnTo>
                    <a:pt x="0" y="190527"/>
                  </a:lnTo>
                  <a:cubicBezTo>
                    <a:pt x="0" y="85372"/>
                    <a:pt x="85372" y="0"/>
                    <a:pt x="190527" y="0"/>
                  </a:cubicBezTo>
                  <a:close/>
                </a:path>
              </a:pathLst>
            </a:custGeom>
            <a:solidFill>
              <a:srgbClr val="FFFFFF">
                <a:alpha val="85098"/>
              </a:srgbClr>
            </a:solidFill>
            <a:ln w="12700">
              <a:solidFill>
                <a:srgbClr val="FFFFFF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1">
              <a:extLst>
                <a:ext uri="{FF2B5EF4-FFF2-40B4-BE49-F238E27FC236}">
                  <a16:creationId xmlns:a16="http://schemas.microsoft.com/office/drawing/2014/main" id="{603F3878-1651-D41E-88A3-788B1D758155}"/>
                </a:ext>
              </a:extLst>
            </p:cNvPr>
            <p:cNvSpPr/>
            <p:nvPr/>
          </p:nvSpPr>
          <p:spPr>
            <a:xfrm>
              <a:off x="6484938" y="1341438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126998" y="0"/>
                  </a:moveTo>
                  <a:lnTo>
                    <a:pt x="317502" y="0"/>
                  </a:lnTo>
                  <a:cubicBezTo>
                    <a:pt x="387641" y="0"/>
                    <a:pt x="444500" y="56859"/>
                    <a:pt x="444500" y="126998"/>
                  </a:cubicBezTo>
                  <a:lnTo>
                    <a:pt x="444500" y="317502"/>
                  </a:lnTo>
                  <a:cubicBezTo>
                    <a:pt x="444500" y="387641"/>
                    <a:pt x="387641" y="444500"/>
                    <a:pt x="317502" y="444500"/>
                  </a:cubicBezTo>
                  <a:lnTo>
                    <a:pt x="126998" y="444500"/>
                  </a:lnTo>
                  <a:cubicBezTo>
                    <a:pt x="56859" y="444500"/>
                    <a:pt x="0" y="387641"/>
                    <a:pt x="0" y="317502"/>
                  </a:cubicBezTo>
                  <a:lnTo>
                    <a:pt x="0" y="126998"/>
                  </a:lnTo>
                  <a:cubicBezTo>
                    <a:pt x="0" y="56906"/>
                    <a:pt x="56906" y="0"/>
                    <a:pt x="12699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71E3"/>
                </a:gs>
                <a:gs pos="100000">
                  <a:srgbClr val="00C7BE"/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22">
              <a:extLst>
                <a:ext uri="{FF2B5EF4-FFF2-40B4-BE49-F238E27FC236}">
                  <a16:creationId xmlns:a16="http://schemas.microsoft.com/office/drawing/2014/main" id="{EB3A688F-D613-3C08-EF6D-A78B6979C159}"/>
                </a:ext>
              </a:extLst>
            </p:cNvPr>
            <p:cNvSpPr/>
            <p:nvPr/>
          </p:nvSpPr>
          <p:spPr>
            <a:xfrm>
              <a:off x="6611938" y="146843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87003" y="103659"/>
                  </a:moveTo>
                  <a:cubicBezTo>
                    <a:pt x="191653" y="99008"/>
                    <a:pt x="191653" y="91455"/>
                    <a:pt x="187003" y="86804"/>
                  </a:cubicBezTo>
                  <a:lnTo>
                    <a:pt x="127471" y="27273"/>
                  </a:lnTo>
                  <a:cubicBezTo>
                    <a:pt x="122820" y="22622"/>
                    <a:pt x="115267" y="22622"/>
                    <a:pt x="110617" y="27273"/>
                  </a:cubicBezTo>
                  <a:cubicBezTo>
                    <a:pt x="105966" y="31924"/>
                    <a:pt x="105966" y="39477"/>
                    <a:pt x="110617" y="44128"/>
                  </a:cubicBezTo>
                  <a:lnTo>
                    <a:pt x="149833" y="83344"/>
                  </a:lnTo>
                  <a:lnTo>
                    <a:pt x="11906" y="83344"/>
                  </a:lnTo>
                  <a:cubicBezTo>
                    <a:pt x="5321" y="83344"/>
                    <a:pt x="0" y="88664"/>
                    <a:pt x="0" y="95250"/>
                  </a:cubicBezTo>
                  <a:cubicBezTo>
                    <a:pt x="0" y="101836"/>
                    <a:pt x="5321" y="107156"/>
                    <a:pt x="11906" y="107156"/>
                  </a:cubicBezTo>
                  <a:lnTo>
                    <a:pt x="149833" y="107156"/>
                  </a:lnTo>
                  <a:lnTo>
                    <a:pt x="110617" y="146372"/>
                  </a:lnTo>
                  <a:cubicBezTo>
                    <a:pt x="105966" y="151023"/>
                    <a:pt x="105966" y="158576"/>
                    <a:pt x="110617" y="163227"/>
                  </a:cubicBezTo>
                  <a:cubicBezTo>
                    <a:pt x="115267" y="167878"/>
                    <a:pt x="122820" y="167878"/>
                    <a:pt x="127471" y="163227"/>
                  </a:cubicBezTo>
                  <a:lnTo>
                    <a:pt x="187003" y="103696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3">
              <a:extLst>
                <a:ext uri="{FF2B5EF4-FFF2-40B4-BE49-F238E27FC236}">
                  <a16:creationId xmlns:a16="http://schemas.microsoft.com/office/drawing/2014/main" id="{83570409-B987-9FA5-EA88-A55A437AF3F7}"/>
                </a:ext>
              </a:extLst>
            </p:cNvPr>
            <p:cNvSpPr/>
            <p:nvPr/>
          </p:nvSpPr>
          <p:spPr>
            <a:xfrm>
              <a:off x="7056438" y="1436688"/>
              <a:ext cx="2460625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500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Înlocuire în Formula Energiei</a:t>
              </a:r>
              <a:endParaRPr lang="en-US" sz="1600" dirty="0"/>
            </a:p>
          </p:txBody>
        </p:sp>
        <p:sp>
          <p:nvSpPr>
            <p:cNvPr id="34" name="Shape 24">
              <a:extLst>
                <a:ext uri="{FF2B5EF4-FFF2-40B4-BE49-F238E27FC236}">
                  <a16:creationId xmlns:a16="http://schemas.microsoft.com/office/drawing/2014/main" id="{B14E7F55-A5A8-EBCD-2695-4215A336B3AA}"/>
                </a:ext>
              </a:extLst>
            </p:cNvPr>
            <p:cNvSpPr/>
            <p:nvPr/>
          </p:nvSpPr>
          <p:spPr>
            <a:xfrm>
              <a:off x="6484938" y="1976438"/>
              <a:ext cx="5127625" cy="857250"/>
            </a:xfrm>
            <a:custGeom>
              <a:avLst/>
              <a:gdLst/>
              <a:ahLst/>
              <a:cxnLst/>
              <a:rect l="l" t="t" r="r" b="b"/>
              <a:pathLst>
                <a:path w="5127625" h="857250">
                  <a:moveTo>
                    <a:pt x="127002" y="0"/>
                  </a:moveTo>
                  <a:lnTo>
                    <a:pt x="5000623" y="0"/>
                  </a:lnTo>
                  <a:cubicBezTo>
                    <a:pt x="5070764" y="0"/>
                    <a:pt x="5127625" y="56861"/>
                    <a:pt x="5127625" y="127002"/>
                  </a:cubicBezTo>
                  <a:lnTo>
                    <a:pt x="5127625" y="730248"/>
                  </a:lnTo>
                  <a:cubicBezTo>
                    <a:pt x="5127625" y="800389"/>
                    <a:pt x="5070764" y="857250"/>
                    <a:pt x="5000623" y="857250"/>
                  </a:cubicBezTo>
                  <a:lnTo>
                    <a:pt x="127002" y="857250"/>
                  </a:lnTo>
                  <a:cubicBezTo>
                    <a:pt x="56861" y="857250"/>
                    <a:pt x="0" y="800389"/>
                    <a:pt x="0" y="730248"/>
                  </a:cubicBezTo>
                  <a:lnTo>
                    <a:pt x="0" y="127002"/>
                  </a:lnTo>
                  <a:cubicBezTo>
                    <a:pt x="0" y="56908"/>
                    <a:pt x="56908" y="0"/>
                    <a:pt x="127002" y="0"/>
                  </a:cubicBezTo>
                  <a:close/>
                </a:path>
              </a:pathLst>
            </a:custGeom>
            <a:solidFill>
              <a:srgbClr val="86868B">
                <a:alpha val="5098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5">
              <a:extLst>
                <a:ext uri="{FF2B5EF4-FFF2-40B4-BE49-F238E27FC236}">
                  <a16:creationId xmlns:a16="http://schemas.microsoft.com/office/drawing/2014/main" id="{5B7C57AD-2B5E-972E-3DD7-AFBC01787CED}"/>
                </a:ext>
              </a:extLst>
            </p:cNvPr>
            <p:cNvSpPr/>
            <p:nvPr/>
          </p:nvSpPr>
          <p:spPr>
            <a:xfrm>
              <a:off x="6643688" y="2135188"/>
              <a:ext cx="4873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Formula inițială:</a:t>
              </a:r>
              <a:endParaRPr lang="en-US" sz="1600" dirty="0"/>
            </a:p>
          </p:txBody>
        </p:sp>
        <p:sp>
          <p:nvSpPr>
            <p:cNvPr id="36" name="Text 26">
              <a:extLst>
                <a:ext uri="{FF2B5EF4-FFF2-40B4-BE49-F238E27FC236}">
                  <a16:creationId xmlns:a16="http://schemas.microsoft.com/office/drawing/2014/main" id="{51C9EA01-CE33-8C7F-0AD9-84781B581B96}"/>
                </a:ext>
              </a:extLst>
            </p:cNvPr>
            <p:cNvSpPr/>
            <p:nvPr/>
          </p:nvSpPr>
          <p:spPr>
            <a:xfrm>
              <a:off x="6643688" y="2389188"/>
              <a:ext cx="4929188" cy="285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875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W = E · q</a:t>
              </a:r>
              <a:endParaRPr lang="en-US" sz="1600" dirty="0"/>
            </a:p>
          </p:txBody>
        </p:sp>
        <p:sp>
          <p:nvSpPr>
            <p:cNvPr id="37" name="Shape 27">
              <a:extLst>
                <a:ext uri="{FF2B5EF4-FFF2-40B4-BE49-F238E27FC236}">
                  <a16:creationId xmlns:a16="http://schemas.microsoft.com/office/drawing/2014/main" id="{E1F1ED4F-F6AF-F3C7-7B47-B381C0362226}"/>
                </a:ext>
              </a:extLst>
            </p:cNvPr>
            <p:cNvSpPr/>
            <p:nvPr/>
          </p:nvSpPr>
          <p:spPr>
            <a:xfrm>
              <a:off x="8961438" y="3024188"/>
              <a:ext cx="178594" cy="238125"/>
            </a:xfrm>
            <a:custGeom>
              <a:avLst/>
              <a:gdLst/>
              <a:ahLst/>
              <a:cxnLst/>
              <a:rect l="l" t="t" r="r" b="b"/>
              <a:pathLst>
                <a:path w="178594" h="238125">
                  <a:moveTo>
                    <a:pt x="78786" y="233753"/>
                  </a:moveTo>
                  <a:cubicBezTo>
                    <a:pt x="84599" y="239567"/>
                    <a:pt x="94041" y="239567"/>
                    <a:pt x="99854" y="233753"/>
                  </a:cubicBezTo>
                  <a:lnTo>
                    <a:pt x="174268" y="159339"/>
                  </a:lnTo>
                  <a:cubicBezTo>
                    <a:pt x="180082" y="153526"/>
                    <a:pt x="180082" y="144084"/>
                    <a:pt x="174268" y="138271"/>
                  </a:cubicBezTo>
                  <a:cubicBezTo>
                    <a:pt x="168455" y="132457"/>
                    <a:pt x="159014" y="132457"/>
                    <a:pt x="153200" y="138271"/>
                  </a:cubicBezTo>
                  <a:lnTo>
                    <a:pt x="104180" y="187291"/>
                  </a:lnTo>
                  <a:lnTo>
                    <a:pt x="104180" y="14883"/>
                  </a:lnTo>
                  <a:cubicBezTo>
                    <a:pt x="104180" y="6651"/>
                    <a:pt x="97529" y="0"/>
                    <a:pt x="89297" y="0"/>
                  </a:cubicBezTo>
                  <a:cubicBezTo>
                    <a:pt x="81065" y="0"/>
                    <a:pt x="74414" y="6651"/>
                    <a:pt x="74414" y="14883"/>
                  </a:cubicBezTo>
                  <a:lnTo>
                    <a:pt x="74414" y="187291"/>
                  </a:lnTo>
                  <a:lnTo>
                    <a:pt x="25394" y="138271"/>
                  </a:lnTo>
                  <a:cubicBezTo>
                    <a:pt x="19580" y="132457"/>
                    <a:pt x="10139" y="132457"/>
                    <a:pt x="4325" y="138271"/>
                  </a:cubicBezTo>
                  <a:cubicBezTo>
                    <a:pt x="-1488" y="144084"/>
                    <a:pt x="-1488" y="153526"/>
                    <a:pt x="4325" y="159339"/>
                  </a:cubicBezTo>
                  <a:lnTo>
                    <a:pt x="78739" y="233753"/>
                  </a:ln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28">
              <a:extLst>
                <a:ext uri="{FF2B5EF4-FFF2-40B4-BE49-F238E27FC236}">
                  <a16:creationId xmlns:a16="http://schemas.microsoft.com/office/drawing/2014/main" id="{2D3E6D9F-D0B2-069E-A382-E3AF80B77FAB}"/>
                </a:ext>
              </a:extLst>
            </p:cNvPr>
            <p:cNvSpPr/>
            <p:nvPr/>
          </p:nvSpPr>
          <p:spPr>
            <a:xfrm>
              <a:off x="6484938" y="3452813"/>
              <a:ext cx="5127625" cy="857250"/>
            </a:xfrm>
            <a:custGeom>
              <a:avLst/>
              <a:gdLst/>
              <a:ahLst/>
              <a:cxnLst/>
              <a:rect l="l" t="t" r="r" b="b"/>
              <a:pathLst>
                <a:path w="5127625" h="857250">
                  <a:moveTo>
                    <a:pt x="127002" y="0"/>
                  </a:moveTo>
                  <a:lnTo>
                    <a:pt x="5000623" y="0"/>
                  </a:lnTo>
                  <a:cubicBezTo>
                    <a:pt x="5070764" y="0"/>
                    <a:pt x="5127625" y="56861"/>
                    <a:pt x="5127625" y="127002"/>
                  </a:cubicBezTo>
                  <a:lnTo>
                    <a:pt x="5127625" y="730248"/>
                  </a:lnTo>
                  <a:cubicBezTo>
                    <a:pt x="5127625" y="800389"/>
                    <a:pt x="5070764" y="857250"/>
                    <a:pt x="5000623" y="857250"/>
                  </a:cubicBezTo>
                  <a:lnTo>
                    <a:pt x="127002" y="857250"/>
                  </a:lnTo>
                  <a:cubicBezTo>
                    <a:pt x="56861" y="857250"/>
                    <a:pt x="0" y="800389"/>
                    <a:pt x="0" y="730248"/>
                  </a:cubicBezTo>
                  <a:lnTo>
                    <a:pt x="0" y="127002"/>
                  </a:lnTo>
                  <a:cubicBezTo>
                    <a:pt x="0" y="56908"/>
                    <a:pt x="56908" y="0"/>
                    <a:pt x="127002" y="0"/>
                  </a:cubicBezTo>
                  <a:close/>
                </a:path>
              </a:pathLst>
            </a:custGeom>
            <a:solidFill>
              <a:srgbClr val="86868B">
                <a:alpha val="5098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29">
              <a:extLst>
                <a:ext uri="{FF2B5EF4-FFF2-40B4-BE49-F238E27FC236}">
                  <a16:creationId xmlns:a16="http://schemas.microsoft.com/office/drawing/2014/main" id="{BC86924E-3399-B56A-1CE2-1FB878C274C8}"/>
                </a:ext>
              </a:extLst>
            </p:cNvPr>
            <p:cNvSpPr/>
            <p:nvPr/>
          </p:nvSpPr>
          <p:spPr>
            <a:xfrm>
              <a:off x="6643688" y="3611563"/>
              <a:ext cx="4873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Înlocuim q = I · Δt:</a:t>
              </a:r>
              <a:endParaRPr lang="en-US" sz="1600" dirty="0"/>
            </a:p>
          </p:txBody>
        </p:sp>
        <p:sp>
          <p:nvSpPr>
            <p:cNvPr id="40" name="Text 30">
              <a:extLst>
                <a:ext uri="{FF2B5EF4-FFF2-40B4-BE49-F238E27FC236}">
                  <a16:creationId xmlns:a16="http://schemas.microsoft.com/office/drawing/2014/main" id="{637591ED-E791-FA57-782E-ED2371A8F47D}"/>
                </a:ext>
              </a:extLst>
            </p:cNvPr>
            <p:cNvSpPr/>
            <p:nvPr/>
          </p:nvSpPr>
          <p:spPr>
            <a:xfrm>
              <a:off x="6643688" y="3865563"/>
              <a:ext cx="4929188" cy="285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875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W = E · I · Δt</a:t>
              </a:r>
              <a:endParaRPr lang="en-US" sz="1600" dirty="0"/>
            </a:p>
          </p:txBody>
        </p:sp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8B1C2955-E384-C131-88F6-7E66A2DF3CFF}"/>
                </a:ext>
              </a:extLst>
            </p:cNvPr>
            <p:cNvSpPr/>
            <p:nvPr/>
          </p:nvSpPr>
          <p:spPr>
            <a:xfrm>
              <a:off x="6500813" y="4500563"/>
              <a:ext cx="5111750" cy="1127125"/>
            </a:xfrm>
            <a:custGeom>
              <a:avLst/>
              <a:gdLst/>
              <a:ahLst/>
              <a:cxnLst/>
              <a:rect l="l" t="t" r="r" b="b"/>
              <a:pathLst>
                <a:path w="5111750" h="1127125">
                  <a:moveTo>
                    <a:pt x="31750" y="0"/>
                  </a:moveTo>
                  <a:lnTo>
                    <a:pt x="4984746" y="0"/>
                  </a:lnTo>
                  <a:cubicBezTo>
                    <a:pt x="5054888" y="0"/>
                    <a:pt x="5111750" y="56862"/>
                    <a:pt x="5111750" y="127004"/>
                  </a:cubicBezTo>
                  <a:lnTo>
                    <a:pt x="5111750" y="1000121"/>
                  </a:lnTo>
                  <a:cubicBezTo>
                    <a:pt x="5111750" y="1070263"/>
                    <a:pt x="5054888" y="1127125"/>
                    <a:pt x="4984746" y="1127125"/>
                  </a:cubicBezTo>
                  <a:lnTo>
                    <a:pt x="31750" y="1127125"/>
                  </a:lnTo>
                  <a:cubicBezTo>
                    <a:pt x="14227" y="1127125"/>
                    <a:pt x="0" y="1112898"/>
                    <a:pt x="0" y="1095375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71E3">
                    <a:alpha val="8000"/>
                  </a:srgbClr>
                </a:gs>
                <a:gs pos="100000">
                  <a:srgbClr val="0071E3">
                    <a:alpha val="200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32">
              <a:extLst>
                <a:ext uri="{FF2B5EF4-FFF2-40B4-BE49-F238E27FC236}">
                  <a16:creationId xmlns:a16="http://schemas.microsoft.com/office/drawing/2014/main" id="{01441C43-7A44-5A77-E906-E8FC2655B535}"/>
                </a:ext>
              </a:extLst>
            </p:cNvPr>
            <p:cNvSpPr/>
            <p:nvPr/>
          </p:nvSpPr>
          <p:spPr>
            <a:xfrm>
              <a:off x="6500813" y="4500563"/>
              <a:ext cx="31750" cy="1127125"/>
            </a:xfrm>
            <a:custGeom>
              <a:avLst/>
              <a:gdLst/>
              <a:ahLst/>
              <a:cxnLst/>
              <a:rect l="l" t="t" r="r" b="b"/>
              <a:pathLst>
                <a:path w="31750" h="1127125">
                  <a:moveTo>
                    <a:pt x="31750" y="0"/>
                  </a:moveTo>
                  <a:lnTo>
                    <a:pt x="31750" y="0"/>
                  </a:lnTo>
                  <a:lnTo>
                    <a:pt x="31750" y="1127125"/>
                  </a:lnTo>
                  <a:lnTo>
                    <a:pt x="31750" y="1127125"/>
                  </a:lnTo>
                  <a:cubicBezTo>
                    <a:pt x="14227" y="1127125"/>
                    <a:pt x="0" y="1112898"/>
                    <a:pt x="0" y="1095375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33">
              <a:extLst>
                <a:ext uri="{FF2B5EF4-FFF2-40B4-BE49-F238E27FC236}">
                  <a16:creationId xmlns:a16="http://schemas.microsoft.com/office/drawing/2014/main" id="{184E21EE-466A-51ED-91AF-BEF7F5972A52}"/>
                </a:ext>
              </a:extLst>
            </p:cNvPr>
            <p:cNvSpPr/>
            <p:nvPr/>
          </p:nvSpPr>
          <p:spPr>
            <a:xfrm>
              <a:off x="6707188" y="4691063"/>
              <a:ext cx="477837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Formula finală:</a:t>
              </a:r>
              <a:endParaRPr lang="en-US" sz="1600" dirty="0"/>
            </a:p>
          </p:txBody>
        </p:sp>
        <p:sp>
          <p:nvSpPr>
            <p:cNvPr id="44" name="Text 34">
              <a:extLst>
                <a:ext uri="{FF2B5EF4-FFF2-40B4-BE49-F238E27FC236}">
                  <a16:creationId xmlns:a16="http://schemas.microsoft.com/office/drawing/2014/main" id="{235A2B07-2BA0-8E39-835D-0A2AE70A6B5D}"/>
                </a:ext>
              </a:extLst>
            </p:cNvPr>
            <p:cNvSpPr/>
            <p:nvPr/>
          </p:nvSpPr>
          <p:spPr>
            <a:xfrm>
              <a:off x="6611938" y="4976813"/>
              <a:ext cx="4905375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3000" b="1" dirty="0">
                  <a:solidFill>
                    <a:srgbClr val="0071E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W = E · I · Δt</a:t>
              </a:r>
              <a:endParaRPr lang="en-US" sz="1600" dirty="0"/>
            </a:p>
          </p:txBody>
        </p:sp>
        <p:sp>
          <p:nvSpPr>
            <p:cNvPr id="45" name="Shape 35">
              <a:extLst>
                <a:ext uri="{FF2B5EF4-FFF2-40B4-BE49-F238E27FC236}">
                  <a16:creationId xmlns:a16="http://schemas.microsoft.com/office/drawing/2014/main" id="{BC3CD883-46FD-A782-C5E4-D7C6A02330A4}"/>
                </a:ext>
              </a:extLst>
            </p:cNvPr>
            <p:cNvSpPr/>
            <p:nvPr/>
          </p:nvSpPr>
          <p:spPr>
            <a:xfrm>
              <a:off x="8429625" y="5421313"/>
              <a:ext cx="1270000" cy="15875"/>
            </a:xfrm>
            <a:custGeom>
              <a:avLst/>
              <a:gdLst/>
              <a:ahLst/>
              <a:cxnLst/>
              <a:rect l="l" t="t" r="r" b="b"/>
              <a:pathLst>
                <a:path w="1270000" h="15875">
                  <a:moveTo>
                    <a:pt x="0" y="0"/>
                  </a:moveTo>
                  <a:lnTo>
                    <a:pt x="1270000" y="0"/>
                  </a:lnTo>
                  <a:lnTo>
                    <a:pt x="1270000" y="15875"/>
                  </a:lnTo>
                  <a:lnTo>
                    <a:pt x="0" y="15875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71E3"/>
                </a:gs>
                <a:gs pos="100000">
                  <a:srgbClr val="000000">
                    <a:alpha val="0"/>
                  </a:srgbClr>
                </a:gs>
              </a:gsLst>
              <a:lin ang="0" scaled="1"/>
            </a:gradFill>
            <a:ln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8842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47A87CB-18C3-D711-F40E-279AB5EFC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219"/>
            <a:ext cx="12192000" cy="430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12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Freeform: Shape 2064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C75BC-D8FF-791C-F28A-DDE138D0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Caracterizarea energiei electrice ca mărime fizică: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C6A6F4E-5284-3948-5085-FA70D23D81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87792" y="2354239"/>
            <a:ext cx="8016416" cy="394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72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B15E261-8DCD-8B9F-D6A7-7AB5B501C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6457"/>
            <a:ext cx="12192000" cy="6845085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3B89716C-C548-9EA7-4FBE-F73A47348701}"/>
              </a:ext>
            </a:extLst>
          </p:cNvPr>
          <p:cNvSpPr/>
          <p:nvPr/>
        </p:nvSpPr>
        <p:spPr>
          <a:xfrm>
            <a:off x="0" y="645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50000">
                <a:srgbClr val="1D1D1F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C4DC0036-EB63-D3B5-40C1-0643AB7C5CB8}"/>
              </a:ext>
            </a:extLst>
          </p:cNvPr>
          <p:cNvSpPr/>
          <p:nvPr/>
        </p:nvSpPr>
        <p:spPr>
          <a:xfrm>
            <a:off x="381000" y="2190750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Puterea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Electrică</a:t>
            </a:r>
            <a:endParaRPr lang="en-US" sz="16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13795DC-0AFA-34A2-35A7-DF665E1453F1}"/>
              </a:ext>
            </a:extLst>
          </p:cNvPr>
          <p:cNvSpPr/>
          <p:nvPr/>
        </p:nvSpPr>
        <p:spPr>
          <a:xfrm>
            <a:off x="381000" y="413385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Explorarea vitezei de transfer a energiei electrice și a modului în care puterea caracterizează eficiența unui circuit</a:t>
            </a:r>
            <a:endParaRPr lang="en-US" sz="16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4AD9527-8B61-35C0-24DB-3D519BC219F8}"/>
              </a:ext>
            </a:extLst>
          </p:cNvPr>
          <p:cNvSpPr/>
          <p:nvPr/>
        </p:nvSpPr>
        <p:spPr>
          <a:xfrm>
            <a:off x="381000" y="5334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D39EB6EA-C511-815C-098D-7F6C7164D867}"/>
              </a:ext>
            </a:extLst>
          </p:cNvPr>
          <p:cNvSpPr/>
          <p:nvPr/>
        </p:nvSpPr>
        <p:spPr>
          <a:xfrm>
            <a:off x="609600" y="5334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E345519C-BBEC-FCC0-E5D2-A2EEFE297F72}"/>
              </a:ext>
            </a:extLst>
          </p:cNvPr>
          <p:cNvSpPr/>
          <p:nvPr/>
        </p:nvSpPr>
        <p:spPr>
          <a:xfrm>
            <a:off x="838200" y="5334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BE5652-DC4D-1966-5DBD-E884D54C2C0F}"/>
              </a:ext>
            </a:extLst>
          </p:cNvPr>
          <p:cNvSpPr txBox="1"/>
          <p:nvPr/>
        </p:nvSpPr>
        <p:spPr>
          <a:xfrm>
            <a:off x="0" y="6858000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ro.wikipedia.org/wiki/Inginerie_electronic%C4%83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38366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19EE2A05-3A30-4EB0-EDE7-D9E1573DEB3A}"/>
              </a:ext>
            </a:extLst>
          </p:cNvPr>
          <p:cNvSpPr/>
          <p:nvPr/>
        </p:nvSpPr>
        <p:spPr>
          <a:xfrm>
            <a:off x="354419" y="354419"/>
            <a:ext cx="11554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kern="0" spc="56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PUTEREA ELECTRICĂ (P)</a:t>
            </a:r>
            <a:endParaRPr lang="en-US" sz="16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D864B20-0B6B-7A12-F101-51514F1F94B5}"/>
              </a:ext>
            </a:extLst>
          </p:cNvPr>
          <p:cNvSpPr/>
          <p:nvPr/>
        </p:nvSpPr>
        <p:spPr>
          <a:xfrm>
            <a:off x="354419" y="637953"/>
            <a:ext cx="1164265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Definiția Puterii Electrice</a:t>
            </a:r>
            <a:endParaRPr lang="en-US" sz="16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7641BEB-C763-073A-C8D5-25AB0E6D773B}"/>
              </a:ext>
            </a:extLst>
          </p:cNvPr>
          <p:cNvSpPr/>
          <p:nvPr/>
        </p:nvSpPr>
        <p:spPr>
          <a:xfrm>
            <a:off x="358849" y="1209453"/>
            <a:ext cx="8355419" cy="1701209"/>
          </a:xfrm>
          <a:custGeom>
            <a:avLst/>
            <a:gdLst/>
            <a:ahLst/>
            <a:cxnLst/>
            <a:rect l="l" t="t" r="r" b="b"/>
            <a:pathLst>
              <a:path w="8355419" h="1701209">
                <a:moveTo>
                  <a:pt x="212651" y="0"/>
                </a:moveTo>
                <a:lnTo>
                  <a:pt x="8142767" y="0"/>
                </a:lnTo>
                <a:cubicBezTo>
                  <a:pt x="8260211" y="0"/>
                  <a:pt x="8355419" y="95207"/>
                  <a:pt x="8355419" y="212651"/>
                </a:cubicBezTo>
                <a:lnTo>
                  <a:pt x="8355419" y="1488558"/>
                </a:lnTo>
                <a:cubicBezTo>
                  <a:pt x="8355419" y="1606002"/>
                  <a:pt x="8260211" y="1701209"/>
                  <a:pt x="8142767" y="1701209"/>
                </a:cubicBezTo>
                <a:lnTo>
                  <a:pt x="212651" y="1701209"/>
                </a:lnTo>
                <a:cubicBezTo>
                  <a:pt x="95286" y="1701209"/>
                  <a:pt x="0" y="1605924"/>
                  <a:pt x="0" y="1488558"/>
                </a:cubicBezTo>
                <a:lnTo>
                  <a:pt x="0" y="212651"/>
                </a:lnTo>
                <a:cubicBezTo>
                  <a:pt x="0" y="95286"/>
                  <a:pt x="95286" y="0"/>
                  <a:pt x="212651" y="0"/>
                </a:cubicBezTo>
                <a:close/>
              </a:path>
            </a:pathLst>
          </a:custGeom>
          <a:solidFill>
            <a:srgbClr val="FFFFFF">
              <a:alpha val="85098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0ADAAE73-E79E-2BC7-D943-1FDC95C4AEF6}"/>
              </a:ext>
            </a:extLst>
          </p:cNvPr>
          <p:cNvSpPr/>
          <p:nvPr/>
        </p:nvSpPr>
        <p:spPr>
          <a:xfrm>
            <a:off x="646814" y="1497419"/>
            <a:ext cx="567070" cy="567070"/>
          </a:xfrm>
          <a:custGeom>
            <a:avLst/>
            <a:gdLst/>
            <a:ahLst/>
            <a:cxnLst/>
            <a:rect l="l" t="t" r="r" b="b"/>
            <a:pathLst>
              <a:path w="567070" h="567070">
                <a:moveTo>
                  <a:pt x="141767" y="0"/>
                </a:moveTo>
                <a:lnTo>
                  <a:pt x="425302" y="0"/>
                </a:lnTo>
                <a:cubicBezTo>
                  <a:pt x="503546" y="0"/>
                  <a:pt x="567070" y="63524"/>
                  <a:pt x="567070" y="141767"/>
                </a:cubicBezTo>
                <a:lnTo>
                  <a:pt x="567070" y="425302"/>
                </a:lnTo>
                <a:cubicBezTo>
                  <a:pt x="567070" y="503546"/>
                  <a:pt x="503546" y="567070"/>
                  <a:pt x="425302" y="567070"/>
                </a:cubicBezTo>
                <a:lnTo>
                  <a:pt x="141767" y="567070"/>
                </a:lnTo>
                <a:cubicBezTo>
                  <a:pt x="63524" y="567070"/>
                  <a:pt x="0" y="503546"/>
                  <a:pt x="0" y="425302"/>
                </a:cubicBezTo>
                <a:lnTo>
                  <a:pt x="0" y="141767"/>
                </a:lnTo>
                <a:cubicBezTo>
                  <a:pt x="0" y="63524"/>
                  <a:pt x="63524" y="0"/>
                  <a:pt x="14176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00C7BE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41B31E4C-D3D2-04C8-AE2E-DABF787A83E1}"/>
              </a:ext>
            </a:extLst>
          </p:cNvPr>
          <p:cNvSpPr/>
          <p:nvPr/>
        </p:nvSpPr>
        <p:spPr>
          <a:xfrm>
            <a:off x="799657" y="1648047"/>
            <a:ext cx="265814" cy="265814"/>
          </a:xfrm>
          <a:custGeom>
            <a:avLst/>
            <a:gdLst/>
            <a:ahLst/>
            <a:cxnLst/>
            <a:rect l="l" t="t" r="r" b="b"/>
            <a:pathLst>
              <a:path w="265814" h="265814">
                <a:moveTo>
                  <a:pt x="0" y="132907"/>
                </a:moveTo>
                <a:cubicBezTo>
                  <a:pt x="0" y="59554"/>
                  <a:pt x="59554" y="0"/>
                  <a:pt x="132907" y="0"/>
                </a:cubicBezTo>
                <a:cubicBezTo>
                  <a:pt x="206260" y="0"/>
                  <a:pt x="265814" y="59554"/>
                  <a:pt x="265814" y="132907"/>
                </a:cubicBezTo>
                <a:cubicBezTo>
                  <a:pt x="265814" y="206260"/>
                  <a:pt x="206260" y="265814"/>
                  <a:pt x="132907" y="265814"/>
                </a:cubicBezTo>
                <a:cubicBezTo>
                  <a:pt x="59554" y="265814"/>
                  <a:pt x="0" y="206260"/>
                  <a:pt x="0" y="132907"/>
                </a:cubicBezTo>
                <a:close/>
                <a:moveTo>
                  <a:pt x="149520" y="49840"/>
                </a:moveTo>
                <a:cubicBezTo>
                  <a:pt x="149520" y="40671"/>
                  <a:pt x="142076" y="33227"/>
                  <a:pt x="132907" y="33227"/>
                </a:cubicBezTo>
                <a:cubicBezTo>
                  <a:pt x="123738" y="33227"/>
                  <a:pt x="116294" y="40671"/>
                  <a:pt x="116294" y="49840"/>
                </a:cubicBezTo>
                <a:cubicBezTo>
                  <a:pt x="116294" y="59009"/>
                  <a:pt x="123738" y="66453"/>
                  <a:pt x="132907" y="66453"/>
                </a:cubicBezTo>
                <a:cubicBezTo>
                  <a:pt x="142076" y="66453"/>
                  <a:pt x="149520" y="59009"/>
                  <a:pt x="149520" y="49840"/>
                </a:cubicBezTo>
                <a:close/>
                <a:moveTo>
                  <a:pt x="132907" y="215974"/>
                </a:moveTo>
                <a:cubicBezTo>
                  <a:pt x="151234" y="215974"/>
                  <a:pt x="166134" y="201074"/>
                  <a:pt x="166134" y="182747"/>
                </a:cubicBezTo>
                <a:cubicBezTo>
                  <a:pt x="166134" y="174337"/>
                  <a:pt x="163019" y="166601"/>
                  <a:pt x="157827" y="160786"/>
                </a:cubicBezTo>
                <a:lnTo>
                  <a:pt x="193909" y="88674"/>
                </a:lnTo>
                <a:cubicBezTo>
                  <a:pt x="196972" y="82496"/>
                  <a:pt x="194480" y="75020"/>
                  <a:pt x="188354" y="71957"/>
                </a:cubicBezTo>
                <a:cubicBezTo>
                  <a:pt x="182228" y="68894"/>
                  <a:pt x="174700" y="71386"/>
                  <a:pt x="171637" y="77512"/>
                </a:cubicBezTo>
                <a:lnTo>
                  <a:pt x="135555" y="149624"/>
                </a:lnTo>
                <a:cubicBezTo>
                  <a:pt x="134672" y="149572"/>
                  <a:pt x="133790" y="149520"/>
                  <a:pt x="132907" y="149520"/>
                </a:cubicBezTo>
                <a:cubicBezTo>
                  <a:pt x="114580" y="149520"/>
                  <a:pt x="99680" y="164420"/>
                  <a:pt x="99680" y="182747"/>
                </a:cubicBezTo>
                <a:cubicBezTo>
                  <a:pt x="99680" y="201074"/>
                  <a:pt x="114580" y="215974"/>
                  <a:pt x="132907" y="215974"/>
                </a:cubicBezTo>
                <a:close/>
                <a:moveTo>
                  <a:pt x="91374" y="74760"/>
                </a:moveTo>
                <a:cubicBezTo>
                  <a:pt x="91374" y="65591"/>
                  <a:pt x="83929" y="58147"/>
                  <a:pt x="74760" y="58147"/>
                </a:cubicBezTo>
                <a:cubicBezTo>
                  <a:pt x="65591" y="58147"/>
                  <a:pt x="58147" y="65591"/>
                  <a:pt x="58147" y="74760"/>
                </a:cubicBezTo>
                <a:cubicBezTo>
                  <a:pt x="58147" y="83929"/>
                  <a:pt x="65591" y="91374"/>
                  <a:pt x="74760" y="91374"/>
                </a:cubicBezTo>
                <a:cubicBezTo>
                  <a:pt x="83929" y="91374"/>
                  <a:pt x="91374" y="83929"/>
                  <a:pt x="91374" y="74760"/>
                </a:cubicBezTo>
                <a:close/>
                <a:moveTo>
                  <a:pt x="49840" y="149520"/>
                </a:moveTo>
                <a:cubicBezTo>
                  <a:pt x="59009" y="149520"/>
                  <a:pt x="66453" y="142076"/>
                  <a:pt x="66453" y="132907"/>
                </a:cubicBezTo>
                <a:cubicBezTo>
                  <a:pt x="66453" y="123738"/>
                  <a:pt x="59009" y="116294"/>
                  <a:pt x="49840" y="116294"/>
                </a:cubicBezTo>
                <a:cubicBezTo>
                  <a:pt x="40671" y="116294"/>
                  <a:pt x="33227" y="123738"/>
                  <a:pt x="33227" y="132907"/>
                </a:cubicBezTo>
                <a:cubicBezTo>
                  <a:pt x="33227" y="142076"/>
                  <a:pt x="40671" y="149520"/>
                  <a:pt x="49840" y="149520"/>
                </a:cubicBezTo>
                <a:close/>
                <a:moveTo>
                  <a:pt x="232587" y="132907"/>
                </a:moveTo>
                <a:cubicBezTo>
                  <a:pt x="232587" y="123738"/>
                  <a:pt x="225143" y="116294"/>
                  <a:pt x="215974" y="116294"/>
                </a:cubicBezTo>
                <a:cubicBezTo>
                  <a:pt x="206805" y="116294"/>
                  <a:pt x="199360" y="123738"/>
                  <a:pt x="199360" y="132907"/>
                </a:cubicBezTo>
                <a:cubicBezTo>
                  <a:pt x="199360" y="142076"/>
                  <a:pt x="206805" y="149520"/>
                  <a:pt x="215974" y="149520"/>
                </a:cubicBezTo>
                <a:cubicBezTo>
                  <a:pt x="225143" y="149520"/>
                  <a:pt x="232587" y="142076"/>
                  <a:pt x="232587" y="13290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B7F35A9-46BE-C8DA-8890-BA55910F64E2}"/>
              </a:ext>
            </a:extLst>
          </p:cNvPr>
          <p:cNvSpPr/>
          <p:nvPr/>
        </p:nvSpPr>
        <p:spPr>
          <a:xfrm>
            <a:off x="1391093" y="1497419"/>
            <a:ext cx="7141535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 este Puterea Electrică?</a:t>
            </a:r>
            <a:endParaRPr lang="en-US" sz="1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FFF9FBE-560A-7D01-FE29-3EAF45F9C98D}"/>
              </a:ext>
            </a:extLst>
          </p:cNvPr>
          <p:cNvSpPr/>
          <p:nvPr/>
        </p:nvSpPr>
        <p:spPr>
          <a:xfrm>
            <a:off x="1391093" y="1887279"/>
            <a:ext cx="7114953" cy="52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6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Puterea electrică este o </a:t>
            </a:r>
            <a:r>
              <a:rPr lang="en-US" sz="1256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mărime fizică ce măsoară viteza de transfer a energiei electrice</a:t>
            </a:r>
            <a:r>
              <a:rPr lang="en-US" sz="1256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Ea ne spune cât de rapid energia este transferată sau consumată într-un circuit.</a:t>
            </a:r>
            <a:endParaRPr lang="en-US" sz="16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30E13A96-C385-00A8-354A-DDE382BEBEA4}"/>
              </a:ext>
            </a:extLst>
          </p:cNvPr>
          <p:cNvSpPr/>
          <p:nvPr/>
        </p:nvSpPr>
        <p:spPr>
          <a:xfrm>
            <a:off x="407582" y="3123314"/>
            <a:ext cx="11447720" cy="3739116"/>
          </a:xfrm>
          <a:custGeom>
            <a:avLst/>
            <a:gdLst/>
            <a:ahLst/>
            <a:cxnLst/>
            <a:rect l="l" t="t" r="r" b="b"/>
            <a:pathLst>
              <a:path w="8346558" h="3739116">
                <a:moveTo>
                  <a:pt x="35442" y="0"/>
                </a:moveTo>
                <a:lnTo>
                  <a:pt x="8133915" y="0"/>
                </a:lnTo>
                <a:cubicBezTo>
                  <a:pt x="8251354" y="0"/>
                  <a:pt x="8346558" y="95204"/>
                  <a:pt x="8346558" y="212644"/>
                </a:cubicBezTo>
                <a:lnTo>
                  <a:pt x="8346558" y="3526473"/>
                </a:lnTo>
                <a:cubicBezTo>
                  <a:pt x="8346558" y="3643913"/>
                  <a:pt x="8251354" y="3739116"/>
                  <a:pt x="8133915" y="3739116"/>
                </a:cubicBezTo>
                <a:lnTo>
                  <a:pt x="35442" y="3739116"/>
                </a:lnTo>
                <a:cubicBezTo>
                  <a:pt x="15868" y="3739116"/>
                  <a:pt x="0" y="3723248"/>
                  <a:pt x="0" y="370367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8000"/>
                </a:srgbClr>
              </a:gs>
              <a:gs pos="100000">
                <a:srgbClr val="0071E3">
                  <a:alpha val="2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D0E70541-D498-1E45-1006-84907FED80B0}"/>
              </a:ext>
            </a:extLst>
          </p:cNvPr>
          <p:cNvSpPr/>
          <p:nvPr/>
        </p:nvSpPr>
        <p:spPr>
          <a:xfrm>
            <a:off x="372140" y="3123314"/>
            <a:ext cx="35442" cy="3739116"/>
          </a:xfrm>
          <a:custGeom>
            <a:avLst/>
            <a:gdLst/>
            <a:ahLst/>
            <a:cxnLst/>
            <a:rect l="l" t="t" r="r" b="b"/>
            <a:pathLst>
              <a:path w="35442" h="3739116">
                <a:moveTo>
                  <a:pt x="35442" y="0"/>
                </a:moveTo>
                <a:lnTo>
                  <a:pt x="35442" y="0"/>
                </a:lnTo>
                <a:lnTo>
                  <a:pt x="35442" y="3739116"/>
                </a:lnTo>
                <a:lnTo>
                  <a:pt x="35442" y="3739116"/>
                </a:lnTo>
                <a:cubicBezTo>
                  <a:pt x="15868" y="3739116"/>
                  <a:pt x="0" y="3723248"/>
                  <a:pt x="0" y="370367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EDB220F2-0C40-8CB3-BB42-7B7C36EA8E46}"/>
              </a:ext>
            </a:extLst>
          </p:cNvPr>
          <p:cNvSpPr/>
          <p:nvPr/>
        </p:nvSpPr>
        <p:spPr>
          <a:xfrm>
            <a:off x="673395" y="3406849"/>
            <a:ext cx="7868093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 Generală</a:t>
            </a:r>
            <a:endParaRPr lang="en-US" sz="16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1501A4-AE7A-C05F-7C35-B5514250B559}"/>
              </a:ext>
            </a:extLst>
          </p:cNvPr>
          <p:cNvGrpSpPr/>
          <p:nvPr/>
        </p:nvGrpSpPr>
        <p:grpSpPr>
          <a:xfrm>
            <a:off x="3479801" y="3406849"/>
            <a:ext cx="5327500" cy="939209"/>
            <a:chOff x="3260790" y="3903035"/>
            <a:chExt cx="2587256" cy="708837"/>
          </a:xfrm>
        </p:grpSpPr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80EF1682-AF4B-150D-37A8-AD5ED2ABB88C}"/>
                </a:ext>
              </a:extLst>
            </p:cNvPr>
            <p:cNvSpPr/>
            <p:nvPr/>
          </p:nvSpPr>
          <p:spPr>
            <a:xfrm>
              <a:off x="3260790" y="3903035"/>
              <a:ext cx="2587256" cy="531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186" b="1" dirty="0">
                  <a:solidFill>
                    <a:srgbClr val="0071E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 = W / Δt</a:t>
              </a:r>
              <a:endParaRPr lang="en-US" sz="1600" dirty="0"/>
            </a:p>
          </p:txBody>
        </p:sp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5F093393-1998-158F-186F-5C37C6EAD7AA}"/>
                </a:ext>
              </a:extLst>
            </p:cNvPr>
            <p:cNvSpPr/>
            <p:nvPr/>
          </p:nvSpPr>
          <p:spPr>
            <a:xfrm>
              <a:off x="3393697" y="4576430"/>
              <a:ext cx="2321442" cy="35442"/>
            </a:xfrm>
            <a:custGeom>
              <a:avLst/>
              <a:gdLst/>
              <a:ahLst/>
              <a:cxnLst/>
              <a:rect l="l" t="t" r="r" b="b"/>
              <a:pathLst>
                <a:path w="2321442" h="35442">
                  <a:moveTo>
                    <a:pt x="0" y="0"/>
                  </a:moveTo>
                  <a:lnTo>
                    <a:pt x="2321442" y="0"/>
                  </a:lnTo>
                  <a:lnTo>
                    <a:pt x="2321442" y="35442"/>
                  </a:lnTo>
                  <a:lnTo>
                    <a:pt x="0" y="35442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71E3"/>
                </a:gs>
                <a:gs pos="100000">
                  <a:srgbClr val="000000">
                    <a:alpha val="0"/>
                  </a:srgbClr>
                </a:gs>
              </a:gsLst>
              <a:lin ang="0" scaled="1"/>
            </a:gra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A90D6CC-897B-6F4E-E415-B86A68D68EAC}"/>
              </a:ext>
            </a:extLst>
          </p:cNvPr>
          <p:cNvGrpSpPr/>
          <p:nvPr/>
        </p:nvGrpSpPr>
        <p:grpSpPr>
          <a:xfrm>
            <a:off x="637952" y="4533899"/>
            <a:ext cx="3401443" cy="1389322"/>
            <a:chOff x="637953" y="4895407"/>
            <a:chExt cx="2516372" cy="1027814"/>
          </a:xfrm>
        </p:grpSpPr>
        <p:sp>
          <p:nvSpPr>
            <p:cNvPr id="20" name="Shape 12">
              <a:extLst>
                <a:ext uri="{FF2B5EF4-FFF2-40B4-BE49-F238E27FC236}">
                  <a16:creationId xmlns:a16="http://schemas.microsoft.com/office/drawing/2014/main" id="{341A990A-1DCE-6FB2-C5E2-ECC3FF40E31D}"/>
                </a:ext>
              </a:extLst>
            </p:cNvPr>
            <p:cNvSpPr/>
            <p:nvPr/>
          </p:nvSpPr>
          <p:spPr>
            <a:xfrm>
              <a:off x="1648047" y="4895407"/>
              <a:ext cx="496186" cy="496186"/>
            </a:xfrm>
            <a:custGeom>
              <a:avLst/>
              <a:gdLst/>
              <a:ahLst/>
              <a:cxnLst/>
              <a:rect l="l" t="t" r="r" b="b"/>
              <a:pathLst>
                <a:path w="496186" h="496186">
                  <a:moveTo>
                    <a:pt x="106328" y="0"/>
                  </a:moveTo>
                  <a:lnTo>
                    <a:pt x="389858" y="0"/>
                  </a:lnTo>
                  <a:cubicBezTo>
                    <a:pt x="448582" y="0"/>
                    <a:pt x="496186" y="47605"/>
                    <a:pt x="496186" y="106328"/>
                  </a:cubicBezTo>
                  <a:lnTo>
                    <a:pt x="496186" y="389858"/>
                  </a:lnTo>
                  <a:cubicBezTo>
                    <a:pt x="496186" y="448582"/>
                    <a:pt x="448582" y="496186"/>
                    <a:pt x="389858" y="496186"/>
                  </a:cubicBezTo>
                  <a:lnTo>
                    <a:pt x="106328" y="496186"/>
                  </a:lnTo>
                  <a:cubicBezTo>
                    <a:pt x="47605" y="496186"/>
                    <a:pt x="0" y="448582"/>
                    <a:pt x="0" y="389858"/>
                  </a:cubicBezTo>
                  <a:lnTo>
                    <a:pt x="0" y="106328"/>
                  </a:lnTo>
                  <a:cubicBezTo>
                    <a:pt x="0" y="47644"/>
                    <a:pt x="47644" y="0"/>
                    <a:pt x="106328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3">
              <a:extLst>
                <a:ext uri="{FF2B5EF4-FFF2-40B4-BE49-F238E27FC236}">
                  <a16:creationId xmlns:a16="http://schemas.microsoft.com/office/drawing/2014/main" id="{6B3B10E2-BDF3-C21F-86AA-31B946933DDC}"/>
                </a:ext>
              </a:extLst>
            </p:cNvPr>
            <p:cNvSpPr/>
            <p:nvPr/>
          </p:nvSpPr>
          <p:spPr>
            <a:xfrm>
              <a:off x="1786630" y="5001733"/>
              <a:ext cx="221512" cy="2835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674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</a:t>
              </a:r>
              <a:endParaRPr lang="en-US" sz="1600" dirty="0"/>
            </a:p>
          </p:txBody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5440FE4E-8F7A-6BE6-B04A-8EAC72388113}"/>
                </a:ext>
              </a:extLst>
            </p:cNvPr>
            <p:cNvSpPr/>
            <p:nvPr/>
          </p:nvSpPr>
          <p:spPr>
            <a:xfrm>
              <a:off x="637953" y="5497919"/>
              <a:ext cx="2516372" cy="212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16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Puterea electrică</a:t>
              </a:r>
              <a:endParaRPr lang="en-US" sz="1600" dirty="0"/>
            </a:p>
          </p:txBody>
        </p:sp>
        <p:sp>
          <p:nvSpPr>
            <p:cNvPr id="23" name="Text 15">
              <a:extLst>
                <a:ext uri="{FF2B5EF4-FFF2-40B4-BE49-F238E27FC236}">
                  <a16:creationId xmlns:a16="http://schemas.microsoft.com/office/drawing/2014/main" id="{D0A01AB1-A2E5-6942-DA38-59C0932BC9AC}"/>
                </a:ext>
              </a:extLst>
            </p:cNvPr>
            <p:cNvSpPr/>
            <p:nvPr/>
          </p:nvSpPr>
          <p:spPr>
            <a:xfrm>
              <a:off x="642384" y="5746012"/>
              <a:ext cx="2507512" cy="1772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77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Watt (W)</a:t>
              </a:r>
              <a:endParaRPr lang="en-US" sz="16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47D617E-2DD8-B5B4-1469-EF798C32771F}"/>
              </a:ext>
            </a:extLst>
          </p:cNvPr>
          <p:cNvGrpSpPr/>
          <p:nvPr/>
        </p:nvGrpSpPr>
        <p:grpSpPr>
          <a:xfrm>
            <a:off x="4395278" y="4533899"/>
            <a:ext cx="3401443" cy="1389322"/>
            <a:chOff x="3296093" y="4895407"/>
            <a:chExt cx="2516372" cy="1027814"/>
          </a:xfrm>
        </p:grpSpPr>
        <p:sp>
          <p:nvSpPr>
            <p:cNvPr id="24" name="Shape 16">
              <a:extLst>
                <a:ext uri="{FF2B5EF4-FFF2-40B4-BE49-F238E27FC236}">
                  <a16:creationId xmlns:a16="http://schemas.microsoft.com/office/drawing/2014/main" id="{41FF12F1-ED73-3869-FFB8-EACCE489D63D}"/>
                </a:ext>
              </a:extLst>
            </p:cNvPr>
            <p:cNvSpPr/>
            <p:nvPr/>
          </p:nvSpPr>
          <p:spPr>
            <a:xfrm>
              <a:off x="4306186" y="4895407"/>
              <a:ext cx="496186" cy="496186"/>
            </a:xfrm>
            <a:custGeom>
              <a:avLst/>
              <a:gdLst/>
              <a:ahLst/>
              <a:cxnLst/>
              <a:rect l="l" t="t" r="r" b="b"/>
              <a:pathLst>
                <a:path w="496186" h="496186">
                  <a:moveTo>
                    <a:pt x="106328" y="0"/>
                  </a:moveTo>
                  <a:lnTo>
                    <a:pt x="389858" y="0"/>
                  </a:lnTo>
                  <a:cubicBezTo>
                    <a:pt x="448582" y="0"/>
                    <a:pt x="496186" y="47605"/>
                    <a:pt x="496186" y="106328"/>
                  </a:cubicBezTo>
                  <a:lnTo>
                    <a:pt x="496186" y="389858"/>
                  </a:lnTo>
                  <a:cubicBezTo>
                    <a:pt x="496186" y="448582"/>
                    <a:pt x="448582" y="496186"/>
                    <a:pt x="389858" y="496186"/>
                  </a:cubicBezTo>
                  <a:lnTo>
                    <a:pt x="106328" y="496186"/>
                  </a:lnTo>
                  <a:cubicBezTo>
                    <a:pt x="47605" y="496186"/>
                    <a:pt x="0" y="448582"/>
                    <a:pt x="0" y="389858"/>
                  </a:cubicBezTo>
                  <a:lnTo>
                    <a:pt x="0" y="106328"/>
                  </a:lnTo>
                  <a:cubicBezTo>
                    <a:pt x="0" y="47644"/>
                    <a:pt x="47644" y="0"/>
                    <a:pt x="106328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6BE22563-7D87-EF09-445B-23A00823D171}"/>
                </a:ext>
              </a:extLst>
            </p:cNvPr>
            <p:cNvSpPr/>
            <p:nvPr/>
          </p:nvSpPr>
          <p:spPr>
            <a:xfrm>
              <a:off x="4386069" y="5001733"/>
              <a:ext cx="336698" cy="2835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674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W</a:t>
              </a:r>
              <a:endParaRPr lang="en-US" sz="1600" dirty="0"/>
            </a:p>
          </p:txBody>
        </p: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1E585087-AC68-DBD7-1638-4DAD249D9CC2}"/>
                </a:ext>
              </a:extLst>
            </p:cNvPr>
            <p:cNvSpPr/>
            <p:nvPr/>
          </p:nvSpPr>
          <p:spPr>
            <a:xfrm>
              <a:off x="3296093" y="5497919"/>
              <a:ext cx="2516372" cy="212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16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Energia transferată</a:t>
              </a:r>
              <a:endParaRPr lang="en-US" sz="1600" dirty="0"/>
            </a:p>
          </p:txBody>
        </p:sp>
        <p:sp>
          <p:nvSpPr>
            <p:cNvPr id="27" name="Text 19">
              <a:extLst>
                <a:ext uri="{FF2B5EF4-FFF2-40B4-BE49-F238E27FC236}">
                  <a16:creationId xmlns:a16="http://schemas.microsoft.com/office/drawing/2014/main" id="{77B44011-DBC2-9D81-B700-7C2FB75170CB}"/>
                </a:ext>
              </a:extLst>
            </p:cNvPr>
            <p:cNvSpPr/>
            <p:nvPr/>
          </p:nvSpPr>
          <p:spPr>
            <a:xfrm>
              <a:off x="3300523" y="5746012"/>
              <a:ext cx="2507512" cy="1772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77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Joule (J)</a:t>
              </a:r>
              <a:endParaRPr lang="en-US" sz="16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DC4B4BB-3C47-DFC8-1A7F-4F22AD00E4F0}"/>
              </a:ext>
            </a:extLst>
          </p:cNvPr>
          <p:cNvGrpSpPr/>
          <p:nvPr/>
        </p:nvGrpSpPr>
        <p:grpSpPr>
          <a:xfrm>
            <a:off x="7668733" y="4533899"/>
            <a:ext cx="3742018" cy="1528430"/>
            <a:chOff x="5954233" y="4895407"/>
            <a:chExt cx="2516372" cy="1027814"/>
          </a:xfrm>
        </p:grpSpPr>
        <p:sp>
          <p:nvSpPr>
            <p:cNvPr id="28" name="Shape 20">
              <a:extLst>
                <a:ext uri="{FF2B5EF4-FFF2-40B4-BE49-F238E27FC236}">
                  <a16:creationId xmlns:a16="http://schemas.microsoft.com/office/drawing/2014/main" id="{60DD6D8A-2C9E-A311-6231-632A02A869F0}"/>
                </a:ext>
              </a:extLst>
            </p:cNvPr>
            <p:cNvSpPr/>
            <p:nvPr/>
          </p:nvSpPr>
          <p:spPr>
            <a:xfrm>
              <a:off x="6964326" y="4895407"/>
              <a:ext cx="496186" cy="496186"/>
            </a:xfrm>
            <a:custGeom>
              <a:avLst/>
              <a:gdLst/>
              <a:ahLst/>
              <a:cxnLst/>
              <a:rect l="l" t="t" r="r" b="b"/>
              <a:pathLst>
                <a:path w="496186" h="496186">
                  <a:moveTo>
                    <a:pt x="106328" y="0"/>
                  </a:moveTo>
                  <a:lnTo>
                    <a:pt x="389858" y="0"/>
                  </a:lnTo>
                  <a:cubicBezTo>
                    <a:pt x="448582" y="0"/>
                    <a:pt x="496186" y="47605"/>
                    <a:pt x="496186" y="106328"/>
                  </a:cubicBezTo>
                  <a:lnTo>
                    <a:pt x="496186" y="389858"/>
                  </a:lnTo>
                  <a:cubicBezTo>
                    <a:pt x="496186" y="448582"/>
                    <a:pt x="448582" y="496186"/>
                    <a:pt x="389858" y="496186"/>
                  </a:cubicBezTo>
                  <a:lnTo>
                    <a:pt x="106328" y="496186"/>
                  </a:lnTo>
                  <a:cubicBezTo>
                    <a:pt x="47605" y="496186"/>
                    <a:pt x="0" y="448582"/>
                    <a:pt x="0" y="389858"/>
                  </a:cubicBezTo>
                  <a:lnTo>
                    <a:pt x="0" y="106328"/>
                  </a:lnTo>
                  <a:cubicBezTo>
                    <a:pt x="0" y="47644"/>
                    <a:pt x="47644" y="0"/>
                    <a:pt x="106328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1">
              <a:extLst>
                <a:ext uri="{FF2B5EF4-FFF2-40B4-BE49-F238E27FC236}">
                  <a16:creationId xmlns:a16="http://schemas.microsoft.com/office/drawing/2014/main" id="{F84BCBEF-9EDA-3985-95A9-975439E148FC}"/>
                </a:ext>
              </a:extLst>
            </p:cNvPr>
            <p:cNvSpPr/>
            <p:nvPr/>
          </p:nvSpPr>
          <p:spPr>
            <a:xfrm>
              <a:off x="7049469" y="5001733"/>
              <a:ext cx="327837" cy="2835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1674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Δt</a:t>
              </a:r>
              <a:endParaRPr lang="en-US" sz="1600" dirty="0"/>
            </a:p>
          </p:txBody>
        </p:sp>
        <p:sp>
          <p:nvSpPr>
            <p:cNvPr id="30" name="Text 22">
              <a:extLst>
                <a:ext uri="{FF2B5EF4-FFF2-40B4-BE49-F238E27FC236}">
                  <a16:creationId xmlns:a16="http://schemas.microsoft.com/office/drawing/2014/main" id="{48319352-D110-D039-62E9-E1655E3594C7}"/>
                </a:ext>
              </a:extLst>
            </p:cNvPr>
            <p:cNvSpPr/>
            <p:nvPr/>
          </p:nvSpPr>
          <p:spPr>
            <a:xfrm>
              <a:off x="5954233" y="5497919"/>
              <a:ext cx="2516372" cy="2126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116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Intervalul de timp</a:t>
              </a:r>
              <a:endParaRPr lang="en-US" sz="1600" dirty="0"/>
            </a:p>
          </p:txBody>
        </p:sp>
        <p:sp>
          <p:nvSpPr>
            <p:cNvPr id="31" name="Text 23">
              <a:extLst>
                <a:ext uri="{FF2B5EF4-FFF2-40B4-BE49-F238E27FC236}">
                  <a16:creationId xmlns:a16="http://schemas.microsoft.com/office/drawing/2014/main" id="{0E6AEC96-A224-D471-02C1-58076CF8038C}"/>
                </a:ext>
              </a:extLst>
            </p:cNvPr>
            <p:cNvSpPr/>
            <p:nvPr/>
          </p:nvSpPr>
          <p:spPr>
            <a:xfrm>
              <a:off x="5958663" y="5746012"/>
              <a:ext cx="2507512" cy="1772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977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Secunde (s)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5543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6EE38-099F-2F52-EC82-1B11A6D6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4D8298C3-2E0B-A8D1-8B36-1C4E22806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Freeform: Shape 2064">
            <a:extLst>
              <a:ext uri="{FF2B5EF4-FFF2-40B4-BE49-F238E27FC236}">
                <a16:creationId xmlns:a16="http://schemas.microsoft.com/office/drawing/2014/main" id="{83410A33-CD23-0E34-9605-4253EFA9C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BDB78-5109-E0AE-96B1-7783CEE3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3600" b="1" dirty="0" err="1">
                <a:latin typeface="Liter" panose="020B0604020202020204" charset="0"/>
              </a:rPr>
              <a:t>Caracterizarea</a:t>
            </a:r>
            <a:r>
              <a:rPr lang="en-US" sz="3600" b="1" dirty="0">
                <a:latin typeface="Liter" panose="020B0604020202020204" charset="0"/>
              </a:rPr>
              <a:t> </a:t>
            </a:r>
            <a:r>
              <a:rPr lang="en-US" sz="3600" b="1" dirty="0" err="1">
                <a:latin typeface="Liter" panose="020B0604020202020204" charset="0"/>
              </a:rPr>
              <a:t>puterii</a:t>
            </a:r>
            <a:r>
              <a:rPr lang="en-US" sz="3600" b="1" dirty="0">
                <a:latin typeface="Liter" panose="020B0604020202020204" charset="0"/>
              </a:rPr>
              <a:t> </a:t>
            </a:r>
            <a:r>
              <a:rPr lang="en-US" sz="3600" b="1" dirty="0" err="1">
                <a:latin typeface="Liter" panose="020B0604020202020204" charset="0"/>
              </a:rPr>
              <a:t>electrice</a:t>
            </a:r>
            <a:r>
              <a:rPr lang="en-US" sz="3600" b="1" dirty="0">
                <a:latin typeface="Liter" panose="020B0604020202020204" charset="0"/>
              </a:rPr>
              <a:t> ca </a:t>
            </a:r>
            <a:r>
              <a:rPr lang="en-US" sz="3600" b="1" dirty="0" err="1">
                <a:latin typeface="Liter" panose="020B0604020202020204" charset="0"/>
              </a:rPr>
              <a:t>mărime</a:t>
            </a:r>
            <a:r>
              <a:rPr lang="en-US" sz="3600" b="1" dirty="0">
                <a:latin typeface="Liter" panose="020B0604020202020204" charset="0"/>
              </a:rPr>
              <a:t> </a:t>
            </a:r>
            <a:r>
              <a:rPr lang="en-US" sz="3600" b="1" dirty="0" err="1">
                <a:latin typeface="Liter" panose="020B0604020202020204" charset="0"/>
              </a:rPr>
              <a:t>fizică</a:t>
            </a:r>
            <a:r>
              <a:rPr lang="en-US" sz="3600" b="1" dirty="0">
                <a:latin typeface="Liter" panose="020B0604020202020204" charset="0"/>
              </a:rPr>
              <a:t>:</a:t>
            </a:r>
            <a:endParaRPr lang="en-US" sz="3600" kern="1200" dirty="0">
              <a:solidFill>
                <a:schemeClr val="tx1"/>
              </a:solidFill>
              <a:latin typeface="Liter" panose="020B060402020202020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48EE78C-F687-2941-ED78-A99DCFBA5F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87792" y="2354239"/>
            <a:ext cx="8016416" cy="394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4572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7E3DC26-CF9E-55F4-124D-6B0ECF81A9BC}"/>
              </a:ext>
            </a:extLst>
          </p:cNvPr>
          <p:cNvGrpSpPr/>
          <p:nvPr/>
        </p:nvGrpSpPr>
        <p:grpSpPr>
          <a:xfrm>
            <a:off x="119269" y="247650"/>
            <a:ext cx="12072731" cy="6362700"/>
            <a:chOff x="246063" y="371078"/>
            <a:chExt cx="11699875" cy="6115844"/>
          </a:xfrm>
        </p:grpSpPr>
        <p:sp>
          <p:nvSpPr>
            <p:cNvPr id="58" name="Text 0">
              <a:extLst>
                <a:ext uri="{FF2B5EF4-FFF2-40B4-BE49-F238E27FC236}">
                  <a16:creationId xmlns:a16="http://schemas.microsoft.com/office/drawing/2014/main" id="{BC52B6DC-E116-BCCC-D2D0-FAC8A66A2739}"/>
                </a:ext>
              </a:extLst>
            </p:cNvPr>
            <p:cNvSpPr/>
            <p:nvPr/>
          </p:nvSpPr>
          <p:spPr>
            <a:xfrm>
              <a:off x="246063" y="371078"/>
              <a:ext cx="116205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000" b="1" kern="0" spc="50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APLICAȚII PRACTICE</a:t>
              </a:r>
              <a:endParaRPr lang="en-US" sz="1600" dirty="0"/>
            </a:p>
          </p:txBody>
        </p:sp>
        <p:sp>
          <p:nvSpPr>
            <p:cNvPr id="59" name="Text 1">
              <a:extLst>
                <a:ext uri="{FF2B5EF4-FFF2-40B4-BE49-F238E27FC236}">
                  <a16:creationId xmlns:a16="http://schemas.microsoft.com/office/drawing/2014/main" id="{02830CF2-7FB6-E2F7-E44B-F8B44B0511D5}"/>
                </a:ext>
              </a:extLst>
            </p:cNvPr>
            <p:cNvSpPr/>
            <p:nvPr/>
          </p:nvSpPr>
          <p:spPr>
            <a:xfrm>
              <a:off x="246063" y="625078"/>
              <a:ext cx="11699875" cy="317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250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Valori Nominale</a:t>
              </a:r>
              <a:endParaRPr lang="en-US" sz="1600" dirty="0"/>
            </a:p>
          </p:txBody>
        </p:sp>
        <p:sp>
          <p:nvSpPr>
            <p:cNvPr id="60" name="Text 2">
              <a:extLst>
                <a:ext uri="{FF2B5EF4-FFF2-40B4-BE49-F238E27FC236}">
                  <a16:creationId xmlns:a16="http://schemas.microsoft.com/office/drawing/2014/main" id="{8083EA30-E999-1424-CE95-CDEB57650F7E}"/>
                </a:ext>
              </a:extLst>
            </p:cNvPr>
            <p:cNvSpPr/>
            <p:nvPr/>
          </p:nvSpPr>
          <p:spPr>
            <a:xfrm>
              <a:off x="246063" y="1006078"/>
              <a:ext cx="11636375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sz="125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Inscripționate pe aparatele electrice</a:t>
              </a:r>
              <a:endParaRPr lang="en-US" sz="1600" dirty="0"/>
            </a:p>
          </p:txBody>
        </p:sp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A0F654A2-A69C-CB5C-8C97-4D624ABFA5C3}"/>
                </a:ext>
              </a:extLst>
            </p:cNvPr>
            <p:cNvSpPr/>
            <p:nvPr/>
          </p:nvSpPr>
          <p:spPr>
            <a:xfrm>
              <a:off x="250032" y="1422797"/>
              <a:ext cx="8247062" cy="2889250"/>
            </a:xfrm>
            <a:custGeom>
              <a:avLst/>
              <a:gdLst/>
              <a:ahLst/>
              <a:cxnLst/>
              <a:rect l="l" t="t" r="r" b="b"/>
              <a:pathLst>
                <a:path w="8247062" h="2889250">
                  <a:moveTo>
                    <a:pt x="190488" y="0"/>
                  </a:moveTo>
                  <a:lnTo>
                    <a:pt x="8056574" y="0"/>
                  </a:lnTo>
                  <a:cubicBezTo>
                    <a:pt x="8161778" y="0"/>
                    <a:pt x="8247062" y="85284"/>
                    <a:pt x="8247062" y="190488"/>
                  </a:cubicBezTo>
                  <a:lnTo>
                    <a:pt x="8247062" y="2698762"/>
                  </a:lnTo>
                  <a:cubicBezTo>
                    <a:pt x="8247062" y="2803966"/>
                    <a:pt x="8161778" y="2889250"/>
                    <a:pt x="8056574" y="2889250"/>
                  </a:cubicBezTo>
                  <a:lnTo>
                    <a:pt x="190488" y="2889250"/>
                  </a:lnTo>
                  <a:cubicBezTo>
                    <a:pt x="85284" y="2889250"/>
                    <a:pt x="0" y="2803966"/>
                    <a:pt x="0" y="2698762"/>
                  </a:cubicBezTo>
                  <a:lnTo>
                    <a:pt x="0" y="190488"/>
                  </a:lnTo>
                  <a:cubicBezTo>
                    <a:pt x="0" y="85355"/>
                    <a:pt x="85355" y="0"/>
                    <a:pt x="190488" y="0"/>
                  </a:cubicBezTo>
                  <a:close/>
                </a:path>
              </a:pathLst>
            </a:custGeom>
            <a:solidFill>
              <a:srgbClr val="FFFFFF">
                <a:alpha val="85098"/>
              </a:srgbClr>
            </a:solidFill>
            <a:ln w="12700">
              <a:solidFill>
                <a:srgbClr val="FFFFFF">
                  <a:alpha val="30196"/>
                </a:srgbClr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2" name="Text 4">
              <a:extLst>
                <a:ext uri="{FF2B5EF4-FFF2-40B4-BE49-F238E27FC236}">
                  <a16:creationId xmlns:a16="http://schemas.microsoft.com/office/drawing/2014/main" id="{592609B8-5125-6B5D-14B2-3226DD0A1087}"/>
                </a:ext>
              </a:extLst>
            </p:cNvPr>
            <p:cNvSpPr/>
            <p:nvPr/>
          </p:nvSpPr>
          <p:spPr>
            <a:xfrm>
              <a:off x="508001" y="1680766"/>
              <a:ext cx="7826375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sz="1500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Ce sunt Valorile Nominale?</a:t>
              </a:r>
              <a:endParaRPr lang="en-US" sz="1600" dirty="0"/>
            </a:p>
          </p:txBody>
        </p:sp>
        <p:sp>
          <p:nvSpPr>
            <p:cNvPr id="63" name="Text 5">
              <a:extLst>
                <a:ext uri="{FF2B5EF4-FFF2-40B4-BE49-F238E27FC236}">
                  <a16:creationId xmlns:a16="http://schemas.microsoft.com/office/drawing/2014/main" id="{C8126E59-5CA1-1EE5-FE55-2C0303404F3E}"/>
                </a:ext>
              </a:extLst>
            </p:cNvPr>
            <p:cNvSpPr/>
            <p:nvPr/>
          </p:nvSpPr>
          <p:spPr>
            <a:xfrm>
              <a:off x="508001" y="2125266"/>
              <a:ext cx="7802563" cy="468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40000"/>
                </a:lnSpc>
              </a:pPr>
              <a:r>
                <a:rPr lang="en-US" sz="1125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Pe fiecare aparat electric sunt inscripționate </a:t>
              </a:r>
              <a:r>
                <a:rPr lang="en-US" sz="1125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valorile nominale</a:t>
              </a:r>
              <a:r>
                <a:rPr lang="en-US" sz="1125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– specificațiile tehnice pentru funcționarea optimă și sigură a dispozitivului.</a:t>
              </a:r>
              <a:endParaRPr lang="en-US" sz="1600" dirty="0"/>
            </a:p>
          </p:txBody>
        </p:sp>
        <p:sp>
          <p:nvSpPr>
            <p:cNvPr id="64" name="Shape 6">
              <a:extLst>
                <a:ext uri="{FF2B5EF4-FFF2-40B4-BE49-F238E27FC236}">
                  <a16:creationId xmlns:a16="http://schemas.microsoft.com/office/drawing/2014/main" id="{ECAF5C9C-98B7-CD91-A8E8-5FBE118D96F3}"/>
                </a:ext>
              </a:extLst>
            </p:cNvPr>
            <p:cNvSpPr/>
            <p:nvPr/>
          </p:nvSpPr>
          <p:spPr>
            <a:xfrm>
              <a:off x="523876" y="2780109"/>
              <a:ext cx="2476500" cy="1270000"/>
            </a:xfrm>
            <a:custGeom>
              <a:avLst/>
              <a:gdLst/>
              <a:ahLst/>
              <a:cxnLst/>
              <a:rect l="l" t="t" r="r" b="b"/>
              <a:pathLst>
                <a:path w="2476500" h="1270000">
                  <a:moveTo>
                    <a:pt x="31750" y="0"/>
                  </a:moveTo>
                  <a:lnTo>
                    <a:pt x="2349500" y="0"/>
                  </a:lnTo>
                  <a:cubicBezTo>
                    <a:pt x="2419593" y="0"/>
                    <a:pt x="2476500" y="56907"/>
                    <a:pt x="2476500" y="127000"/>
                  </a:cubicBezTo>
                  <a:lnTo>
                    <a:pt x="2476500" y="1143000"/>
                  </a:lnTo>
                  <a:cubicBezTo>
                    <a:pt x="2476500" y="1213093"/>
                    <a:pt x="2419593" y="1270000"/>
                    <a:pt x="2349500" y="1270000"/>
                  </a:cubicBezTo>
                  <a:lnTo>
                    <a:pt x="31750" y="1270000"/>
                  </a:lnTo>
                  <a:cubicBezTo>
                    <a:pt x="14227" y="1270000"/>
                    <a:pt x="0" y="1255773"/>
                    <a:pt x="0" y="1238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71E3">
                    <a:alpha val="8000"/>
                  </a:srgbClr>
                </a:gs>
                <a:gs pos="100000">
                  <a:srgbClr val="0071E3">
                    <a:alpha val="2000"/>
                  </a:srgbClr>
                </a:gs>
              </a:gsLst>
              <a:lin ang="2700000" scaled="1"/>
            </a:gra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5" name="Shape 7">
              <a:extLst>
                <a:ext uri="{FF2B5EF4-FFF2-40B4-BE49-F238E27FC236}">
                  <a16:creationId xmlns:a16="http://schemas.microsoft.com/office/drawing/2014/main" id="{5FF03B45-96B3-50F7-9CD2-C8603B3EEB3C}"/>
                </a:ext>
              </a:extLst>
            </p:cNvPr>
            <p:cNvSpPr/>
            <p:nvPr/>
          </p:nvSpPr>
          <p:spPr>
            <a:xfrm>
              <a:off x="523876" y="2780109"/>
              <a:ext cx="31750" cy="1270000"/>
            </a:xfrm>
            <a:custGeom>
              <a:avLst/>
              <a:gdLst/>
              <a:ahLst/>
              <a:cxnLst/>
              <a:rect l="l" t="t" r="r" b="b"/>
              <a:pathLst>
                <a:path w="31750" h="1270000">
                  <a:moveTo>
                    <a:pt x="31750" y="0"/>
                  </a:moveTo>
                  <a:lnTo>
                    <a:pt x="31750" y="0"/>
                  </a:lnTo>
                  <a:lnTo>
                    <a:pt x="31750" y="1270000"/>
                  </a:lnTo>
                  <a:lnTo>
                    <a:pt x="31750" y="1270000"/>
                  </a:lnTo>
                  <a:cubicBezTo>
                    <a:pt x="14227" y="1270000"/>
                    <a:pt x="0" y="1255773"/>
                    <a:pt x="0" y="1238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8F6CE40E-E540-CC93-5EF9-3CC1C695E230}"/>
                </a:ext>
              </a:extLst>
            </p:cNvPr>
            <p:cNvSpPr/>
            <p:nvPr/>
          </p:nvSpPr>
          <p:spPr>
            <a:xfrm>
              <a:off x="1547813" y="2938859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95252" y="0"/>
                  </a:moveTo>
                  <a:lnTo>
                    <a:pt x="349248" y="0"/>
                  </a:lnTo>
                  <a:cubicBezTo>
                    <a:pt x="401819" y="0"/>
                    <a:pt x="444500" y="42681"/>
                    <a:pt x="444500" y="95252"/>
                  </a:cubicBezTo>
                  <a:lnTo>
                    <a:pt x="444500" y="349248"/>
                  </a:lnTo>
                  <a:cubicBezTo>
                    <a:pt x="444500" y="401854"/>
                    <a:pt x="401854" y="444500"/>
                    <a:pt x="349248" y="444500"/>
                  </a:cubicBezTo>
                  <a:lnTo>
                    <a:pt x="95252" y="444500"/>
                  </a:lnTo>
                  <a:cubicBezTo>
                    <a:pt x="42681" y="444500"/>
                    <a:pt x="0" y="401819"/>
                    <a:pt x="0" y="349248"/>
                  </a:cubicBezTo>
                  <a:lnTo>
                    <a:pt x="0" y="95252"/>
                  </a:lnTo>
                  <a:cubicBezTo>
                    <a:pt x="0" y="42646"/>
                    <a:pt x="42646" y="0"/>
                    <a:pt x="95252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19C573B8-5E63-B8FB-210E-ECC064B6687C}"/>
                </a:ext>
              </a:extLst>
            </p:cNvPr>
            <p:cNvSpPr/>
            <p:nvPr/>
          </p:nvSpPr>
          <p:spPr>
            <a:xfrm>
              <a:off x="1620119" y="3034109"/>
              <a:ext cx="301625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500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</a:t>
              </a:r>
              <a:r>
                <a:rPr lang="en-US" sz="1200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n</a:t>
              </a:r>
              <a:endParaRPr lang="en-US" sz="1600" dirty="0"/>
            </a:p>
          </p:txBody>
        </p:sp>
        <p:sp>
          <p:nvSpPr>
            <p:cNvPr id="68" name="Text 10">
              <a:extLst>
                <a:ext uri="{FF2B5EF4-FFF2-40B4-BE49-F238E27FC236}">
                  <a16:creationId xmlns:a16="http://schemas.microsoft.com/office/drawing/2014/main" id="{B242DE3A-8598-EB49-7D5B-19A35D430B71}"/>
                </a:ext>
              </a:extLst>
            </p:cNvPr>
            <p:cNvSpPr/>
            <p:nvPr/>
          </p:nvSpPr>
          <p:spPr>
            <a:xfrm>
              <a:off x="662782" y="3478609"/>
              <a:ext cx="2214563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sz="1125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Puterea Nominală</a:t>
              </a:r>
              <a:endParaRPr lang="en-US" sz="1600" dirty="0"/>
            </a:p>
          </p:txBody>
        </p:sp>
        <p:sp>
          <p:nvSpPr>
            <p:cNvPr id="69" name="Text 11">
              <a:extLst>
                <a:ext uri="{FF2B5EF4-FFF2-40B4-BE49-F238E27FC236}">
                  <a16:creationId xmlns:a16="http://schemas.microsoft.com/office/drawing/2014/main" id="{5D079764-12BB-5327-C952-E4C75DBB518D}"/>
                </a:ext>
              </a:extLst>
            </p:cNvPr>
            <p:cNvSpPr/>
            <p:nvPr/>
          </p:nvSpPr>
          <p:spPr>
            <a:xfrm>
              <a:off x="670719" y="3732609"/>
              <a:ext cx="2198688" cy="158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Puterea pentru care aparatul a fost proiectat</a:t>
              </a:r>
              <a:endParaRPr lang="en-US" sz="1600" dirty="0"/>
            </a:p>
          </p:txBody>
        </p:sp>
        <p:sp>
          <p:nvSpPr>
            <p:cNvPr id="70" name="Shape 12">
              <a:extLst>
                <a:ext uri="{FF2B5EF4-FFF2-40B4-BE49-F238E27FC236}">
                  <a16:creationId xmlns:a16="http://schemas.microsoft.com/office/drawing/2014/main" id="{65D129FC-92C0-6CBB-FEFD-6E8676EA59D8}"/>
                </a:ext>
              </a:extLst>
            </p:cNvPr>
            <p:cNvSpPr/>
            <p:nvPr/>
          </p:nvSpPr>
          <p:spPr>
            <a:xfrm>
              <a:off x="3143251" y="2780109"/>
              <a:ext cx="2476500" cy="1270000"/>
            </a:xfrm>
            <a:custGeom>
              <a:avLst/>
              <a:gdLst/>
              <a:ahLst/>
              <a:cxnLst/>
              <a:rect l="l" t="t" r="r" b="b"/>
              <a:pathLst>
                <a:path w="2476500" h="1270000">
                  <a:moveTo>
                    <a:pt x="31750" y="0"/>
                  </a:moveTo>
                  <a:lnTo>
                    <a:pt x="2349500" y="0"/>
                  </a:lnTo>
                  <a:cubicBezTo>
                    <a:pt x="2419593" y="0"/>
                    <a:pt x="2476500" y="56907"/>
                    <a:pt x="2476500" y="127000"/>
                  </a:cubicBezTo>
                  <a:lnTo>
                    <a:pt x="2476500" y="1143000"/>
                  </a:lnTo>
                  <a:cubicBezTo>
                    <a:pt x="2476500" y="1213093"/>
                    <a:pt x="2419593" y="1270000"/>
                    <a:pt x="2349500" y="1270000"/>
                  </a:cubicBezTo>
                  <a:lnTo>
                    <a:pt x="31750" y="1270000"/>
                  </a:lnTo>
                  <a:cubicBezTo>
                    <a:pt x="14227" y="1270000"/>
                    <a:pt x="0" y="1255773"/>
                    <a:pt x="0" y="1238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71E3">
                    <a:alpha val="8000"/>
                  </a:srgbClr>
                </a:gs>
                <a:gs pos="100000">
                  <a:srgbClr val="0071E3">
                    <a:alpha val="2000"/>
                  </a:srgbClr>
                </a:gs>
              </a:gsLst>
              <a:lin ang="2700000" scaled="1"/>
            </a:gra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1" name="Shape 13">
              <a:extLst>
                <a:ext uri="{FF2B5EF4-FFF2-40B4-BE49-F238E27FC236}">
                  <a16:creationId xmlns:a16="http://schemas.microsoft.com/office/drawing/2014/main" id="{1475F2EF-6861-2439-797C-178FB05BCC21}"/>
                </a:ext>
              </a:extLst>
            </p:cNvPr>
            <p:cNvSpPr/>
            <p:nvPr/>
          </p:nvSpPr>
          <p:spPr>
            <a:xfrm>
              <a:off x="3143251" y="2780109"/>
              <a:ext cx="31750" cy="1270000"/>
            </a:xfrm>
            <a:custGeom>
              <a:avLst/>
              <a:gdLst/>
              <a:ahLst/>
              <a:cxnLst/>
              <a:rect l="l" t="t" r="r" b="b"/>
              <a:pathLst>
                <a:path w="31750" h="1270000">
                  <a:moveTo>
                    <a:pt x="31750" y="0"/>
                  </a:moveTo>
                  <a:lnTo>
                    <a:pt x="31750" y="0"/>
                  </a:lnTo>
                  <a:lnTo>
                    <a:pt x="31750" y="1270000"/>
                  </a:lnTo>
                  <a:lnTo>
                    <a:pt x="31750" y="1270000"/>
                  </a:lnTo>
                  <a:cubicBezTo>
                    <a:pt x="14227" y="1270000"/>
                    <a:pt x="0" y="1255773"/>
                    <a:pt x="0" y="1238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2" name="Shape 14">
              <a:extLst>
                <a:ext uri="{FF2B5EF4-FFF2-40B4-BE49-F238E27FC236}">
                  <a16:creationId xmlns:a16="http://schemas.microsoft.com/office/drawing/2014/main" id="{6577A635-75D8-405A-1776-68CCE264C086}"/>
                </a:ext>
              </a:extLst>
            </p:cNvPr>
            <p:cNvSpPr/>
            <p:nvPr/>
          </p:nvSpPr>
          <p:spPr>
            <a:xfrm>
              <a:off x="4167188" y="2938859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95252" y="0"/>
                  </a:moveTo>
                  <a:lnTo>
                    <a:pt x="349248" y="0"/>
                  </a:lnTo>
                  <a:cubicBezTo>
                    <a:pt x="401819" y="0"/>
                    <a:pt x="444500" y="42681"/>
                    <a:pt x="444500" y="95252"/>
                  </a:cubicBezTo>
                  <a:lnTo>
                    <a:pt x="444500" y="349248"/>
                  </a:lnTo>
                  <a:cubicBezTo>
                    <a:pt x="444500" y="401854"/>
                    <a:pt x="401854" y="444500"/>
                    <a:pt x="349248" y="444500"/>
                  </a:cubicBezTo>
                  <a:lnTo>
                    <a:pt x="95252" y="444500"/>
                  </a:lnTo>
                  <a:cubicBezTo>
                    <a:pt x="42681" y="444500"/>
                    <a:pt x="0" y="401819"/>
                    <a:pt x="0" y="349248"/>
                  </a:cubicBezTo>
                  <a:lnTo>
                    <a:pt x="0" y="95252"/>
                  </a:lnTo>
                  <a:cubicBezTo>
                    <a:pt x="0" y="42646"/>
                    <a:pt x="42646" y="0"/>
                    <a:pt x="95252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3" name="Text 15">
              <a:extLst>
                <a:ext uri="{FF2B5EF4-FFF2-40B4-BE49-F238E27FC236}">
                  <a16:creationId xmlns:a16="http://schemas.microsoft.com/office/drawing/2014/main" id="{33C8D252-339A-76A1-B6CE-23408834669E}"/>
                </a:ext>
              </a:extLst>
            </p:cNvPr>
            <p:cNvSpPr/>
            <p:nvPr/>
          </p:nvSpPr>
          <p:spPr>
            <a:xfrm>
              <a:off x="4263802" y="3034109"/>
              <a:ext cx="25400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500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In</a:t>
              </a:r>
              <a:endParaRPr lang="en-US" sz="1600" dirty="0"/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C0C13005-8748-239C-B7AF-EA3AC766BD6E}"/>
                </a:ext>
              </a:extLst>
            </p:cNvPr>
            <p:cNvSpPr/>
            <p:nvPr/>
          </p:nvSpPr>
          <p:spPr>
            <a:xfrm>
              <a:off x="3282157" y="3478609"/>
              <a:ext cx="2214563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sz="1125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Intensitatea Nominală</a:t>
              </a:r>
              <a:endParaRPr lang="en-US" sz="1600" dirty="0"/>
            </a:p>
          </p:txBody>
        </p:sp>
        <p:sp>
          <p:nvSpPr>
            <p:cNvPr id="75" name="Text 17">
              <a:extLst>
                <a:ext uri="{FF2B5EF4-FFF2-40B4-BE49-F238E27FC236}">
                  <a16:creationId xmlns:a16="http://schemas.microsoft.com/office/drawing/2014/main" id="{CCE3E638-8D6D-748E-144E-D7B2373F97EF}"/>
                </a:ext>
              </a:extLst>
            </p:cNvPr>
            <p:cNvSpPr/>
            <p:nvPr/>
          </p:nvSpPr>
          <p:spPr>
            <a:xfrm>
              <a:off x="3290094" y="3732609"/>
              <a:ext cx="2198688" cy="158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Curentul maxim recomandat</a:t>
              </a:r>
              <a:endParaRPr lang="en-US" sz="1600" dirty="0"/>
            </a:p>
          </p:txBody>
        </p:sp>
        <p:sp>
          <p:nvSpPr>
            <p:cNvPr id="76" name="Shape 18">
              <a:extLst>
                <a:ext uri="{FF2B5EF4-FFF2-40B4-BE49-F238E27FC236}">
                  <a16:creationId xmlns:a16="http://schemas.microsoft.com/office/drawing/2014/main" id="{FBF50D92-8741-6938-21AE-30E2C468324A}"/>
                </a:ext>
              </a:extLst>
            </p:cNvPr>
            <p:cNvSpPr/>
            <p:nvPr/>
          </p:nvSpPr>
          <p:spPr>
            <a:xfrm>
              <a:off x="5762626" y="2780109"/>
              <a:ext cx="2476500" cy="1270000"/>
            </a:xfrm>
            <a:custGeom>
              <a:avLst/>
              <a:gdLst/>
              <a:ahLst/>
              <a:cxnLst/>
              <a:rect l="l" t="t" r="r" b="b"/>
              <a:pathLst>
                <a:path w="2476500" h="1270000">
                  <a:moveTo>
                    <a:pt x="31750" y="0"/>
                  </a:moveTo>
                  <a:lnTo>
                    <a:pt x="2349500" y="0"/>
                  </a:lnTo>
                  <a:cubicBezTo>
                    <a:pt x="2419593" y="0"/>
                    <a:pt x="2476500" y="56907"/>
                    <a:pt x="2476500" y="127000"/>
                  </a:cubicBezTo>
                  <a:lnTo>
                    <a:pt x="2476500" y="1143000"/>
                  </a:lnTo>
                  <a:cubicBezTo>
                    <a:pt x="2476500" y="1213093"/>
                    <a:pt x="2419593" y="1270000"/>
                    <a:pt x="2349500" y="1270000"/>
                  </a:cubicBezTo>
                  <a:lnTo>
                    <a:pt x="31750" y="1270000"/>
                  </a:lnTo>
                  <a:cubicBezTo>
                    <a:pt x="14227" y="1270000"/>
                    <a:pt x="0" y="1255773"/>
                    <a:pt x="0" y="1238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71E3">
                    <a:alpha val="8000"/>
                  </a:srgbClr>
                </a:gs>
                <a:gs pos="100000">
                  <a:srgbClr val="0071E3">
                    <a:alpha val="2000"/>
                  </a:srgbClr>
                </a:gs>
              </a:gsLst>
              <a:lin ang="2700000" scaled="1"/>
            </a:gra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7" name="Shape 19">
              <a:extLst>
                <a:ext uri="{FF2B5EF4-FFF2-40B4-BE49-F238E27FC236}">
                  <a16:creationId xmlns:a16="http://schemas.microsoft.com/office/drawing/2014/main" id="{518A4776-70F5-3C6D-09A6-1DDC8C4D42D7}"/>
                </a:ext>
              </a:extLst>
            </p:cNvPr>
            <p:cNvSpPr/>
            <p:nvPr/>
          </p:nvSpPr>
          <p:spPr>
            <a:xfrm>
              <a:off x="5762626" y="2780109"/>
              <a:ext cx="31750" cy="1270000"/>
            </a:xfrm>
            <a:custGeom>
              <a:avLst/>
              <a:gdLst/>
              <a:ahLst/>
              <a:cxnLst/>
              <a:rect l="l" t="t" r="r" b="b"/>
              <a:pathLst>
                <a:path w="31750" h="1270000">
                  <a:moveTo>
                    <a:pt x="31750" y="0"/>
                  </a:moveTo>
                  <a:lnTo>
                    <a:pt x="31750" y="0"/>
                  </a:lnTo>
                  <a:lnTo>
                    <a:pt x="31750" y="1270000"/>
                  </a:lnTo>
                  <a:lnTo>
                    <a:pt x="31750" y="1270000"/>
                  </a:lnTo>
                  <a:cubicBezTo>
                    <a:pt x="14227" y="1270000"/>
                    <a:pt x="0" y="1255773"/>
                    <a:pt x="0" y="12382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8" name="Shape 20">
              <a:extLst>
                <a:ext uri="{FF2B5EF4-FFF2-40B4-BE49-F238E27FC236}">
                  <a16:creationId xmlns:a16="http://schemas.microsoft.com/office/drawing/2014/main" id="{7CD39885-03F6-E346-CCA5-71A7227977BA}"/>
                </a:ext>
              </a:extLst>
            </p:cNvPr>
            <p:cNvSpPr/>
            <p:nvPr/>
          </p:nvSpPr>
          <p:spPr>
            <a:xfrm>
              <a:off x="6786563" y="2938859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95252" y="0"/>
                  </a:moveTo>
                  <a:lnTo>
                    <a:pt x="349248" y="0"/>
                  </a:lnTo>
                  <a:cubicBezTo>
                    <a:pt x="401819" y="0"/>
                    <a:pt x="444500" y="42681"/>
                    <a:pt x="444500" y="95252"/>
                  </a:cubicBezTo>
                  <a:lnTo>
                    <a:pt x="444500" y="349248"/>
                  </a:lnTo>
                  <a:cubicBezTo>
                    <a:pt x="444500" y="401854"/>
                    <a:pt x="401854" y="444500"/>
                    <a:pt x="349248" y="444500"/>
                  </a:cubicBezTo>
                  <a:lnTo>
                    <a:pt x="95252" y="444500"/>
                  </a:lnTo>
                  <a:cubicBezTo>
                    <a:pt x="42681" y="444500"/>
                    <a:pt x="0" y="401819"/>
                    <a:pt x="0" y="349248"/>
                  </a:cubicBezTo>
                  <a:lnTo>
                    <a:pt x="0" y="95252"/>
                  </a:lnTo>
                  <a:cubicBezTo>
                    <a:pt x="0" y="42646"/>
                    <a:pt x="42646" y="0"/>
                    <a:pt x="95252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9" name="Text 21">
              <a:extLst>
                <a:ext uri="{FF2B5EF4-FFF2-40B4-BE49-F238E27FC236}">
                  <a16:creationId xmlns:a16="http://schemas.microsoft.com/office/drawing/2014/main" id="{3B1CD3BE-AF72-87B5-822F-DCE4E53305CB}"/>
                </a:ext>
              </a:extLst>
            </p:cNvPr>
            <p:cNvSpPr/>
            <p:nvPr/>
          </p:nvSpPr>
          <p:spPr>
            <a:xfrm>
              <a:off x="6843738" y="3034109"/>
              <a:ext cx="333375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500" b="1" dirty="0">
                  <a:solidFill>
                    <a:srgbClr val="0071E3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Un</a:t>
              </a:r>
              <a:endParaRPr lang="en-US" sz="1600" dirty="0"/>
            </a:p>
          </p:txBody>
        </p:sp>
        <p:sp>
          <p:nvSpPr>
            <p:cNvPr id="80" name="Text 22">
              <a:extLst>
                <a:ext uri="{FF2B5EF4-FFF2-40B4-BE49-F238E27FC236}">
                  <a16:creationId xmlns:a16="http://schemas.microsoft.com/office/drawing/2014/main" id="{AA0E1DC5-CAF0-60FF-E3A8-68E4B9CBDA70}"/>
                </a:ext>
              </a:extLst>
            </p:cNvPr>
            <p:cNvSpPr/>
            <p:nvPr/>
          </p:nvSpPr>
          <p:spPr>
            <a:xfrm>
              <a:off x="5901532" y="3478609"/>
              <a:ext cx="2214563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sz="1125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Tensiunea Nominală</a:t>
              </a:r>
              <a:endParaRPr lang="en-US" sz="1600" dirty="0"/>
            </a:p>
          </p:txBody>
        </p:sp>
        <p:sp>
          <p:nvSpPr>
            <p:cNvPr id="81" name="Text 23">
              <a:extLst>
                <a:ext uri="{FF2B5EF4-FFF2-40B4-BE49-F238E27FC236}">
                  <a16:creationId xmlns:a16="http://schemas.microsoft.com/office/drawing/2014/main" id="{B36F41BA-B175-C14E-2FA5-E83B5D6CB177}"/>
                </a:ext>
              </a:extLst>
            </p:cNvPr>
            <p:cNvSpPr/>
            <p:nvPr/>
          </p:nvSpPr>
          <p:spPr>
            <a:xfrm>
              <a:off x="5909469" y="3732609"/>
              <a:ext cx="2198688" cy="158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sz="875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Tensiunea optimă de funcționare</a:t>
              </a:r>
              <a:endParaRPr lang="en-US" sz="1600" dirty="0"/>
            </a:p>
          </p:txBody>
        </p:sp>
        <p:sp>
          <p:nvSpPr>
            <p:cNvPr id="82" name="Shape 24">
              <a:extLst>
                <a:ext uri="{FF2B5EF4-FFF2-40B4-BE49-F238E27FC236}">
                  <a16:creationId xmlns:a16="http://schemas.microsoft.com/office/drawing/2014/main" id="{6F987C6E-E5E4-7703-1FC6-5BAB0BF50A79}"/>
                </a:ext>
              </a:extLst>
            </p:cNvPr>
            <p:cNvSpPr/>
            <p:nvPr/>
          </p:nvSpPr>
          <p:spPr>
            <a:xfrm>
              <a:off x="261938" y="4502547"/>
              <a:ext cx="8239125" cy="1984375"/>
            </a:xfrm>
            <a:custGeom>
              <a:avLst/>
              <a:gdLst/>
              <a:ahLst/>
              <a:cxnLst/>
              <a:rect l="l" t="t" r="r" b="b"/>
              <a:pathLst>
                <a:path w="8239125" h="1984375">
                  <a:moveTo>
                    <a:pt x="31750" y="0"/>
                  </a:moveTo>
                  <a:lnTo>
                    <a:pt x="8048625" y="0"/>
                  </a:lnTo>
                  <a:cubicBezTo>
                    <a:pt x="8153765" y="0"/>
                    <a:pt x="8239125" y="85360"/>
                    <a:pt x="8239125" y="190500"/>
                  </a:cubicBezTo>
                  <a:lnTo>
                    <a:pt x="8239125" y="1793875"/>
                  </a:lnTo>
                  <a:cubicBezTo>
                    <a:pt x="8239125" y="1899015"/>
                    <a:pt x="8153765" y="1984375"/>
                    <a:pt x="8048625" y="1984375"/>
                  </a:cubicBezTo>
                  <a:lnTo>
                    <a:pt x="31750" y="1984375"/>
                  </a:lnTo>
                  <a:cubicBezTo>
                    <a:pt x="14227" y="1984375"/>
                    <a:pt x="0" y="1970148"/>
                    <a:pt x="0" y="1952625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71E3">
                    <a:alpha val="8000"/>
                  </a:srgbClr>
                </a:gs>
                <a:gs pos="100000">
                  <a:srgbClr val="0071E3">
                    <a:alpha val="2000"/>
                  </a:srgbClr>
                </a:gs>
              </a:gsLst>
              <a:lin ang="2700000" scaled="1"/>
            </a:gra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3" name="Shape 25">
              <a:extLst>
                <a:ext uri="{FF2B5EF4-FFF2-40B4-BE49-F238E27FC236}">
                  <a16:creationId xmlns:a16="http://schemas.microsoft.com/office/drawing/2014/main" id="{6BB58FDD-74F5-F13E-BE00-6FD4EF2B3DCF}"/>
                </a:ext>
              </a:extLst>
            </p:cNvPr>
            <p:cNvSpPr/>
            <p:nvPr/>
          </p:nvSpPr>
          <p:spPr>
            <a:xfrm>
              <a:off x="261938" y="4502547"/>
              <a:ext cx="31750" cy="1984375"/>
            </a:xfrm>
            <a:custGeom>
              <a:avLst/>
              <a:gdLst/>
              <a:ahLst/>
              <a:cxnLst/>
              <a:rect l="l" t="t" r="r" b="b"/>
              <a:pathLst>
                <a:path w="31750" h="1984375">
                  <a:moveTo>
                    <a:pt x="31750" y="0"/>
                  </a:moveTo>
                  <a:lnTo>
                    <a:pt x="31750" y="0"/>
                  </a:lnTo>
                  <a:lnTo>
                    <a:pt x="31750" y="1984375"/>
                  </a:lnTo>
                  <a:lnTo>
                    <a:pt x="31750" y="1984375"/>
                  </a:lnTo>
                  <a:cubicBezTo>
                    <a:pt x="14227" y="1984375"/>
                    <a:pt x="0" y="1970148"/>
                    <a:pt x="0" y="1952625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4" name="Text 26">
              <a:extLst>
                <a:ext uri="{FF2B5EF4-FFF2-40B4-BE49-F238E27FC236}">
                  <a16:creationId xmlns:a16="http://schemas.microsoft.com/office/drawing/2014/main" id="{757B19ED-9C7C-D262-EF33-33527390050F}"/>
                </a:ext>
              </a:extLst>
            </p:cNvPr>
            <p:cNvSpPr/>
            <p:nvPr/>
          </p:nvSpPr>
          <p:spPr>
            <a:xfrm>
              <a:off x="484188" y="4756547"/>
              <a:ext cx="781050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500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Relația Fundamentală</a:t>
              </a:r>
              <a:endParaRPr lang="en-US" sz="1600" dirty="0"/>
            </a:p>
          </p:txBody>
        </p:sp>
        <p:sp>
          <p:nvSpPr>
            <p:cNvPr id="85" name="Text 27">
              <a:extLst>
                <a:ext uri="{FF2B5EF4-FFF2-40B4-BE49-F238E27FC236}">
                  <a16:creationId xmlns:a16="http://schemas.microsoft.com/office/drawing/2014/main" id="{AB6C2ACE-7F6C-A935-BEA8-CB8AD3EC182A}"/>
                </a:ext>
              </a:extLst>
            </p:cNvPr>
            <p:cNvSpPr/>
            <p:nvPr/>
          </p:nvSpPr>
          <p:spPr>
            <a:xfrm>
              <a:off x="2749551" y="5201047"/>
              <a:ext cx="2905299" cy="476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3750" b="1" dirty="0">
                  <a:solidFill>
                    <a:srgbClr val="0071E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P</a:t>
              </a:r>
              <a:r>
                <a:rPr lang="en-US" sz="2400" b="1" dirty="0">
                  <a:solidFill>
                    <a:srgbClr val="0071E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n</a:t>
              </a:r>
              <a:r>
                <a:rPr lang="en-US" sz="3750" b="1" dirty="0">
                  <a:solidFill>
                    <a:srgbClr val="0071E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= U</a:t>
              </a:r>
              <a:r>
                <a:rPr lang="en-US" sz="2400" b="1" dirty="0">
                  <a:solidFill>
                    <a:srgbClr val="0071E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n</a:t>
              </a:r>
              <a:r>
                <a:rPr lang="en-US" sz="3750" b="1" dirty="0">
                  <a:solidFill>
                    <a:srgbClr val="0071E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 · I</a:t>
              </a:r>
              <a:r>
                <a:rPr lang="en-US" sz="2400" b="1" dirty="0">
                  <a:solidFill>
                    <a:srgbClr val="0071E3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n</a:t>
              </a:r>
              <a:endParaRPr lang="en-US" sz="1600" dirty="0"/>
            </a:p>
          </p:txBody>
        </p:sp>
        <p:sp>
          <p:nvSpPr>
            <p:cNvPr id="86" name="Shape 28">
              <a:extLst>
                <a:ext uri="{FF2B5EF4-FFF2-40B4-BE49-F238E27FC236}">
                  <a16:creationId xmlns:a16="http://schemas.microsoft.com/office/drawing/2014/main" id="{F293FAFC-CACF-E504-68F9-B1F31C2AC694}"/>
                </a:ext>
              </a:extLst>
            </p:cNvPr>
            <p:cNvSpPr/>
            <p:nvPr/>
          </p:nvSpPr>
          <p:spPr>
            <a:xfrm>
              <a:off x="3241849" y="5804297"/>
              <a:ext cx="2293938" cy="31750"/>
            </a:xfrm>
            <a:custGeom>
              <a:avLst/>
              <a:gdLst/>
              <a:ahLst/>
              <a:cxnLst/>
              <a:rect l="l" t="t" r="r" b="b"/>
              <a:pathLst>
                <a:path w="2293938" h="31750">
                  <a:moveTo>
                    <a:pt x="0" y="0"/>
                  </a:moveTo>
                  <a:lnTo>
                    <a:pt x="2293938" y="0"/>
                  </a:lnTo>
                  <a:lnTo>
                    <a:pt x="2293938" y="31750"/>
                  </a:lnTo>
                  <a:lnTo>
                    <a:pt x="0" y="317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71E3"/>
                </a:gs>
                <a:gs pos="100000">
                  <a:srgbClr val="000000">
                    <a:alpha val="0"/>
                  </a:srgbClr>
                </a:gs>
              </a:gsLst>
              <a:lin ang="0" scaled="1"/>
            </a:gra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7" name="Text 29">
              <a:extLst>
                <a:ext uri="{FF2B5EF4-FFF2-40B4-BE49-F238E27FC236}">
                  <a16:creationId xmlns:a16="http://schemas.microsoft.com/office/drawing/2014/main" id="{EE8DDB94-2726-38DD-7601-45B61CE75F84}"/>
                </a:ext>
              </a:extLst>
            </p:cNvPr>
            <p:cNvSpPr/>
            <p:nvPr/>
          </p:nvSpPr>
          <p:spPr>
            <a:xfrm>
              <a:off x="500063" y="6026547"/>
              <a:ext cx="7778750" cy="2063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40000"/>
                </a:lnSpc>
              </a:pP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Această relație leagă cele trei valori nominale și este esențială pentru proiectarea și utilizarea sigură a aparatelor electrice.</a:t>
              </a:r>
              <a:endParaRPr lang="en-US" sz="1600" dirty="0"/>
            </a:p>
          </p:txBody>
        </p:sp>
        <p:sp>
          <p:nvSpPr>
            <p:cNvPr id="88" name="Shape 30">
              <a:extLst>
                <a:ext uri="{FF2B5EF4-FFF2-40B4-BE49-F238E27FC236}">
                  <a16:creationId xmlns:a16="http://schemas.microsoft.com/office/drawing/2014/main" id="{E11960AF-E75D-A788-7C84-4DEE5EE17419}"/>
                </a:ext>
              </a:extLst>
            </p:cNvPr>
            <p:cNvSpPr/>
            <p:nvPr/>
          </p:nvSpPr>
          <p:spPr>
            <a:xfrm>
              <a:off x="8759032" y="1422797"/>
              <a:ext cx="3040063" cy="4833938"/>
            </a:xfrm>
            <a:custGeom>
              <a:avLst/>
              <a:gdLst/>
              <a:ahLst/>
              <a:cxnLst/>
              <a:rect l="l" t="t" r="r" b="b"/>
              <a:pathLst>
                <a:path w="3040063" h="4833938">
                  <a:moveTo>
                    <a:pt x="190490" y="0"/>
                  </a:moveTo>
                  <a:lnTo>
                    <a:pt x="2849572" y="0"/>
                  </a:lnTo>
                  <a:cubicBezTo>
                    <a:pt x="2954777" y="0"/>
                    <a:pt x="3040063" y="85285"/>
                    <a:pt x="3040063" y="190490"/>
                  </a:cubicBezTo>
                  <a:lnTo>
                    <a:pt x="3040063" y="4643447"/>
                  </a:lnTo>
                  <a:cubicBezTo>
                    <a:pt x="3040062" y="4748652"/>
                    <a:pt x="2954777" y="4833938"/>
                    <a:pt x="2849572" y="4833938"/>
                  </a:cubicBezTo>
                  <a:lnTo>
                    <a:pt x="190490" y="4833938"/>
                  </a:lnTo>
                  <a:cubicBezTo>
                    <a:pt x="85285" y="4833938"/>
                    <a:pt x="0" y="4748652"/>
                    <a:pt x="0" y="4643447"/>
                  </a:cubicBezTo>
                  <a:lnTo>
                    <a:pt x="0" y="190490"/>
                  </a:lnTo>
                  <a:cubicBezTo>
                    <a:pt x="0" y="85356"/>
                    <a:pt x="85356" y="0"/>
                    <a:pt x="190490" y="0"/>
                  </a:cubicBezTo>
                  <a:close/>
                </a:path>
              </a:pathLst>
            </a:custGeom>
            <a:solidFill>
              <a:srgbClr val="FFFFFF">
                <a:alpha val="85098"/>
              </a:srgbClr>
            </a:solidFill>
            <a:ln w="12700">
              <a:solidFill>
                <a:srgbClr val="FFFFFF">
                  <a:alpha val="30196"/>
                </a:srgbClr>
              </a:solidFill>
              <a:prstDash val="solid"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9" name="Text 31">
              <a:extLst>
                <a:ext uri="{FF2B5EF4-FFF2-40B4-BE49-F238E27FC236}">
                  <a16:creationId xmlns:a16="http://schemas.microsoft.com/office/drawing/2014/main" id="{D080E992-6792-3D86-F298-B09547A139A4}"/>
                </a:ext>
              </a:extLst>
            </p:cNvPr>
            <p:cNvSpPr/>
            <p:nvPr/>
          </p:nvSpPr>
          <p:spPr>
            <a:xfrm>
              <a:off x="8953501" y="1617266"/>
              <a:ext cx="2730500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sz="1250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Exemple Practice</a:t>
              </a:r>
              <a:endParaRPr lang="en-US" sz="1600" dirty="0"/>
            </a:p>
          </p:txBody>
        </p:sp>
        <p:sp>
          <p:nvSpPr>
            <p:cNvPr id="90" name="Shape 32">
              <a:extLst>
                <a:ext uri="{FF2B5EF4-FFF2-40B4-BE49-F238E27FC236}">
                  <a16:creationId xmlns:a16="http://schemas.microsoft.com/office/drawing/2014/main" id="{A20320F0-7D3B-B69F-E42C-EFD904D47CDA}"/>
                </a:ext>
              </a:extLst>
            </p:cNvPr>
            <p:cNvSpPr/>
            <p:nvPr/>
          </p:nvSpPr>
          <p:spPr>
            <a:xfrm>
              <a:off x="8953501" y="1998266"/>
              <a:ext cx="2651125" cy="1270000"/>
            </a:xfrm>
            <a:custGeom>
              <a:avLst/>
              <a:gdLst/>
              <a:ahLst/>
              <a:cxnLst/>
              <a:rect l="l" t="t" r="r" b="b"/>
              <a:pathLst>
                <a:path w="2651125" h="1270000">
                  <a:moveTo>
                    <a:pt x="127000" y="0"/>
                  </a:moveTo>
                  <a:lnTo>
                    <a:pt x="2524125" y="0"/>
                  </a:lnTo>
                  <a:cubicBezTo>
                    <a:pt x="2594218" y="0"/>
                    <a:pt x="2651125" y="56907"/>
                    <a:pt x="2651125" y="127000"/>
                  </a:cubicBezTo>
                  <a:lnTo>
                    <a:pt x="2651125" y="1143000"/>
                  </a:lnTo>
                  <a:cubicBezTo>
                    <a:pt x="2651125" y="1213093"/>
                    <a:pt x="2594218" y="1270000"/>
                    <a:pt x="2524125" y="1270000"/>
                  </a:cubicBezTo>
                  <a:lnTo>
                    <a:pt x="127000" y="1270000"/>
                  </a:lnTo>
                  <a:cubicBezTo>
                    <a:pt x="56907" y="1270000"/>
                    <a:pt x="0" y="1213093"/>
                    <a:pt x="0" y="1143000"/>
                  </a:cubicBezTo>
                  <a:lnTo>
                    <a:pt x="0" y="127000"/>
                  </a:lnTo>
                  <a:cubicBezTo>
                    <a:pt x="0" y="56907"/>
                    <a:pt x="56907" y="0"/>
                    <a:pt x="127000" y="0"/>
                  </a:cubicBezTo>
                  <a:close/>
                </a:path>
              </a:pathLst>
            </a:custGeom>
            <a:solidFill>
              <a:srgbClr val="0071E3">
                <a:alpha val="5098"/>
              </a:srgbClr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1" name="Shape 33">
              <a:extLst>
                <a:ext uri="{FF2B5EF4-FFF2-40B4-BE49-F238E27FC236}">
                  <a16:creationId xmlns:a16="http://schemas.microsoft.com/office/drawing/2014/main" id="{25948808-F985-FE7B-F92F-BA5B91E8ECD9}"/>
                </a:ext>
              </a:extLst>
            </p:cNvPr>
            <p:cNvSpPr/>
            <p:nvPr/>
          </p:nvSpPr>
          <p:spPr>
            <a:xfrm>
              <a:off x="9120188" y="2157016"/>
              <a:ext cx="119063" cy="158750"/>
            </a:xfrm>
            <a:custGeom>
              <a:avLst/>
              <a:gdLst/>
              <a:ahLst/>
              <a:cxnLst/>
              <a:rect l="l" t="t" r="r" b="b"/>
              <a:pathLst>
                <a:path w="119063" h="158750">
                  <a:moveTo>
                    <a:pt x="90816" y="119062"/>
                  </a:moveTo>
                  <a:cubicBezTo>
                    <a:pt x="93080" y="112148"/>
                    <a:pt x="97606" y="105885"/>
                    <a:pt x="102722" y="100490"/>
                  </a:cubicBezTo>
                  <a:cubicBezTo>
                    <a:pt x="112861" y="89824"/>
                    <a:pt x="119062" y="75406"/>
                    <a:pt x="119062" y="59531"/>
                  </a:cubicBezTo>
                  <a:cubicBezTo>
                    <a:pt x="119062" y="26665"/>
                    <a:pt x="92397" y="0"/>
                    <a:pt x="59531" y="0"/>
                  </a:cubicBezTo>
                  <a:cubicBezTo>
                    <a:pt x="26665" y="0"/>
                    <a:pt x="0" y="26665"/>
                    <a:pt x="0" y="59531"/>
                  </a:cubicBezTo>
                  <a:cubicBezTo>
                    <a:pt x="0" y="75406"/>
                    <a:pt x="6201" y="89824"/>
                    <a:pt x="16340" y="100490"/>
                  </a:cubicBezTo>
                  <a:cubicBezTo>
                    <a:pt x="21456" y="105885"/>
                    <a:pt x="26014" y="112148"/>
                    <a:pt x="28246" y="119062"/>
                  </a:cubicBezTo>
                  <a:lnTo>
                    <a:pt x="90785" y="119062"/>
                  </a:lnTo>
                  <a:close/>
                  <a:moveTo>
                    <a:pt x="89297" y="133945"/>
                  </a:moveTo>
                  <a:lnTo>
                    <a:pt x="29766" y="133945"/>
                  </a:lnTo>
                  <a:lnTo>
                    <a:pt x="29766" y="138906"/>
                  </a:lnTo>
                  <a:cubicBezTo>
                    <a:pt x="29766" y="152611"/>
                    <a:pt x="40866" y="163711"/>
                    <a:pt x="54570" y="163711"/>
                  </a:cubicBezTo>
                  <a:lnTo>
                    <a:pt x="64492" y="163711"/>
                  </a:lnTo>
                  <a:cubicBezTo>
                    <a:pt x="78197" y="163711"/>
                    <a:pt x="89297" y="152611"/>
                    <a:pt x="89297" y="138906"/>
                  </a:cubicBezTo>
                  <a:lnTo>
                    <a:pt x="89297" y="133945"/>
                  </a:lnTo>
                  <a:close/>
                  <a:moveTo>
                    <a:pt x="57051" y="34727"/>
                  </a:moveTo>
                  <a:cubicBezTo>
                    <a:pt x="44710" y="34727"/>
                    <a:pt x="34727" y="44710"/>
                    <a:pt x="34727" y="57051"/>
                  </a:cubicBezTo>
                  <a:cubicBezTo>
                    <a:pt x="34727" y="61175"/>
                    <a:pt x="31409" y="64492"/>
                    <a:pt x="27285" y="64492"/>
                  </a:cubicBezTo>
                  <a:cubicBezTo>
                    <a:pt x="23161" y="64492"/>
                    <a:pt x="19844" y="61175"/>
                    <a:pt x="19844" y="57051"/>
                  </a:cubicBezTo>
                  <a:cubicBezTo>
                    <a:pt x="19844" y="36494"/>
                    <a:pt x="36494" y="19844"/>
                    <a:pt x="57051" y="19844"/>
                  </a:cubicBezTo>
                  <a:cubicBezTo>
                    <a:pt x="61175" y="19844"/>
                    <a:pt x="64492" y="23161"/>
                    <a:pt x="64492" y="27285"/>
                  </a:cubicBezTo>
                  <a:cubicBezTo>
                    <a:pt x="64492" y="31409"/>
                    <a:pt x="61175" y="34727"/>
                    <a:pt x="57051" y="34727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2" name="Text 34">
              <a:extLst>
                <a:ext uri="{FF2B5EF4-FFF2-40B4-BE49-F238E27FC236}">
                  <a16:creationId xmlns:a16="http://schemas.microsoft.com/office/drawing/2014/main" id="{43241448-CAD4-687B-DD04-DF8B58066FDB}"/>
                </a:ext>
              </a:extLst>
            </p:cNvPr>
            <p:cNvSpPr/>
            <p:nvPr/>
          </p:nvSpPr>
          <p:spPr>
            <a:xfrm>
              <a:off x="9374188" y="2125266"/>
              <a:ext cx="603250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125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Bec LED</a:t>
              </a:r>
              <a:endParaRPr lang="en-US" sz="1600" dirty="0"/>
            </a:p>
          </p:txBody>
        </p:sp>
        <p:sp>
          <p:nvSpPr>
            <p:cNvPr id="93" name="Text 35">
              <a:extLst>
                <a:ext uri="{FF2B5EF4-FFF2-40B4-BE49-F238E27FC236}">
                  <a16:creationId xmlns:a16="http://schemas.microsoft.com/office/drawing/2014/main" id="{3BF690D6-72F7-A8BC-AD19-6A3A7D46C1A5}"/>
                </a:ext>
              </a:extLst>
            </p:cNvPr>
            <p:cNvSpPr/>
            <p:nvPr/>
          </p:nvSpPr>
          <p:spPr>
            <a:xfrm>
              <a:off x="9080501" y="2442766"/>
              <a:ext cx="2460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Pn</a:t>
              </a: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= 9 W</a:t>
              </a:r>
              <a:endParaRPr lang="en-US" sz="1600" dirty="0"/>
            </a:p>
          </p:txBody>
        </p:sp>
        <p:sp>
          <p:nvSpPr>
            <p:cNvPr id="94" name="Text 36">
              <a:extLst>
                <a:ext uri="{FF2B5EF4-FFF2-40B4-BE49-F238E27FC236}">
                  <a16:creationId xmlns:a16="http://schemas.microsoft.com/office/drawing/2014/main" id="{5F48FF63-880A-DE10-F63A-8DE89749D33F}"/>
                </a:ext>
              </a:extLst>
            </p:cNvPr>
            <p:cNvSpPr/>
            <p:nvPr/>
          </p:nvSpPr>
          <p:spPr>
            <a:xfrm>
              <a:off x="9080501" y="2696766"/>
              <a:ext cx="2460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Un</a:t>
              </a: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= 220 V</a:t>
              </a:r>
              <a:endParaRPr lang="en-US" sz="1600" dirty="0"/>
            </a:p>
          </p:txBody>
        </p:sp>
        <p:sp>
          <p:nvSpPr>
            <p:cNvPr id="95" name="Text 37">
              <a:extLst>
                <a:ext uri="{FF2B5EF4-FFF2-40B4-BE49-F238E27FC236}">
                  <a16:creationId xmlns:a16="http://schemas.microsoft.com/office/drawing/2014/main" id="{9253D744-590C-298A-B1F6-85A0B5670DC0}"/>
                </a:ext>
              </a:extLst>
            </p:cNvPr>
            <p:cNvSpPr/>
            <p:nvPr/>
          </p:nvSpPr>
          <p:spPr>
            <a:xfrm>
              <a:off x="9080501" y="2950766"/>
              <a:ext cx="2460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In</a:t>
              </a: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= 0.041 A (41 mA)</a:t>
              </a:r>
              <a:endParaRPr lang="en-US" sz="1600" dirty="0"/>
            </a:p>
          </p:txBody>
        </p:sp>
        <p:sp>
          <p:nvSpPr>
            <p:cNvPr id="96" name="Shape 38">
              <a:extLst>
                <a:ext uri="{FF2B5EF4-FFF2-40B4-BE49-F238E27FC236}">
                  <a16:creationId xmlns:a16="http://schemas.microsoft.com/office/drawing/2014/main" id="{71D92B2E-2EA5-4FE9-B37E-953CA6335E9C}"/>
                </a:ext>
              </a:extLst>
            </p:cNvPr>
            <p:cNvSpPr/>
            <p:nvPr/>
          </p:nvSpPr>
          <p:spPr>
            <a:xfrm>
              <a:off x="8953501" y="3395266"/>
              <a:ext cx="2651125" cy="1270000"/>
            </a:xfrm>
            <a:custGeom>
              <a:avLst/>
              <a:gdLst/>
              <a:ahLst/>
              <a:cxnLst/>
              <a:rect l="l" t="t" r="r" b="b"/>
              <a:pathLst>
                <a:path w="2651125" h="1270000">
                  <a:moveTo>
                    <a:pt x="127000" y="0"/>
                  </a:moveTo>
                  <a:lnTo>
                    <a:pt x="2524125" y="0"/>
                  </a:lnTo>
                  <a:cubicBezTo>
                    <a:pt x="2594218" y="0"/>
                    <a:pt x="2651125" y="56907"/>
                    <a:pt x="2651125" y="127000"/>
                  </a:cubicBezTo>
                  <a:lnTo>
                    <a:pt x="2651125" y="1143000"/>
                  </a:lnTo>
                  <a:cubicBezTo>
                    <a:pt x="2651125" y="1213093"/>
                    <a:pt x="2594218" y="1270000"/>
                    <a:pt x="2524125" y="1270000"/>
                  </a:cubicBezTo>
                  <a:lnTo>
                    <a:pt x="127000" y="1270000"/>
                  </a:lnTo>
                  <a:cubicBezTo>
                    <a:pt x="56907" y="1270000"/>
                    <a:pt x="0" y="1213093"/>
                    <a:pt x="0" y="1143000"/>
                  </a:cubicBezTo>
                  <a:lnTo>
                    <a:pt x="0" y="127000"/>
                  </a:lnTo>
                  <a:cubicBezTo>
                    <a:pt x="0" y="56907"/>
                    <a:pt x="56907" y="0"/>
                    <a:pt x="127000" y="0"/>
                  </a:cubicBezTo>
                  <a:close/>
                </a:path>
              </a:pathLst>
            </a:custGeom>
            <a:solidFill>
              <a:srgbClr val="0071E3">
                <a:alpha val="5098"/>
              </a:srgbClr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7" name="Shape 39">
              <a:extLst>
                <a:ext uri="{FF2B5EF4-FFF2-40B4-BE49-F238E27FC236}">
                  <a16:creationId xmlns:a16="http://schemas.microsoft.com/office/drawing/2014/main" id="{3B6326BC-D728-AE26-C57B-CAAB1BB6FF95}"/>
                </a:ext>
              </a:extLst>
            </p:cNvPr>
            <p:cNvSpPr/>
            <p:nvPr/>
          </p:nvSpPr>
          <p:spPr>
            <a:xfrm>
              <a:off x="9080501" y="3554016"/>
              <a:ext cx="198438" cy="158750"/>
            </a:xfrm>
            <a:custGeom>
              <a:avLst/>
              <a:gdLst/>
              <a:ahLst/>
              <a:cxnLst/>
              <a:rect l="l" t="t" r="r" b="b"/>
              <a:pathLst>
                <a:path w="198438" h="158750">
                  <a:moveTo>
                    <a:pt x="39688" y="9922"/>
                  </a:moveTo>
                  <a:cubicBezTo>
                    <a:pt x="28742" y="9922"/>
                    <a:pt x="19844" y="18821"/>
                    <a:pt x="19844" y="29766"/>
                  </a:cubicBezTo>
                  <a:lnTo>
                    <a:pt x="19844" y="104180"/>
                  </a:lnTo>
                  <a:lnTo>
                    <a:pt x="39688" y="104180"/>
                  </a:lnTo>
                  <a:lnTo>
                    <a:pt x="39688" y="29766"/>
                  </a:lnTo>
                  <a:lnTo>
                    <a:pt x="158750" y="29766"/>
                  </a:lnTo>
                  <a:lnTo>
                    <a:pt x="158750" y="104180"/>
                  </a:lnTo>
                  <a:lnTo>
                    <a:pt x="178594" y="104180"/>
                  </a:lnTo>
                  <a:lnTo>
                    <a:pt x="178594" y="29766"/>
                  </a:lnTo>
                  <a:cubicBezTo>
                    <a:pt x="178594" y="18821"/>
                    <a:pt x="169695" y="9922"/>
                    <a:pt x="158750" y="9922"/>
                  </a:cubicBezTo>
                  <a:lnTo>
                    <a:pt x="39688" y="9922"/>
                  </a:lnTo>
                  <a:close/>
                  <a:moveTo>
                    <a:pt x="5953" y="119062"/>
                  </a:moveTo>
                  <a:cubicBezTo>
                    <a:pt x="2667" y="119062"/>
                    <a:pt x="0" y="121729"/>
                    <a:pt x="0" y="125016"/>
                  </a:cubicBezTo>
                  <a:cubicBezTo>
                    <a:pt x="0" y="138162"/>
                    <a:pt x="10666" y="148828"/>
                    <a:pt x="23813" y="148828"/>
                  </a:cubicBezTo>
                  <a:lnTo>
                    <a:pt x="174625" y="148828"/>
                  </a:lnTo>
                  <a:cubicBezTo>
                    <a:pt x="187771" y="148828"/>
                    <a:pt x="198437" y="138162"/>
                    <a:pt x="198437" y="125016"/>
                  </a:cubicBezTo>
                  <a:cubicBezTo>
                    <a:pt x="198437" y="121729"/>
                    <a:pt x="195771" y="119062"/>
                    <a:pt x="192484" y="119062"/>
                  </a:cubicBezTo>
                  <a:lnTo>
                    <a:pt x="5953" y="119062"/>
                  </a:ln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8" name="Text 40">
              <a:extLst>
                <a:ext uri="{FF2B5EF4-FFF2-40B4-BE49-F238E27FC236}">
                  <a16:creationId xmlns:a16="http://schemas.microsoft.com/office/drawing/2014/main" id="{5F2F2D50-27A2-93AD-5A78-31F896FBA8AB}"/>
                </a:ext>
              </a:extLst>
            </p:cNvPr>
            <p:cNvSpPr/>
            <p:nvPr/>
          </p:nvSpPr>
          <p:spPr>
            <a:xfrm>
              <a:off x="9374188" y="3522266"/>
              <a:ext cx="515938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125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Laptop</a:t>
              </a:r>
              <a:endParaRPr lang="en-US" sz="1600" dirty="0"/>
            </a:p>
          </p:txBody>
        </p:sp>
        <p:sp>
          <p:nvSpPr>
            <p:cNvPr id="99" name="Text 41">
              <a:extLst>
                <a:ext uri="{FF2B5EF4-FFF2-40B4-BE49-F238E27FC236}">
                  <a16:creationId xmlns:a16="http://schemas.microsoft.com/office/drawing/2014/main" id="{95494E90-3BC1-29CD-B226-4FC3A5D76484}"/>
                </a:ext>
              </a:extLst>
            </p:cNvPr>
            <p:cNvSpPr/>
            <p:nvPr/>
          </p:nvSpPr>
          <p:spPr>
            <a:xfrm>
              <a:off x="9080501" y="3839766"/>
              <a:ext cx="2460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Pn</a:t>
              </a: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= 65 W</a:t>
              </a:r>
              <a:endParaRPr lang="en-US" sz="1600" dirty="0"/>
            </a:p>
          </p:txBody>
        </p:sp>
        <p:sp>
          <p:nvSpPr>
            <p:cNvPr id="100" name="Text 42">
              <a:extLst>
                <a:ext uri="{FF2B5EF4-FFF2-40B4-BE49-F238E27FC236}">
                  <a16:creationId xmlns:a16="http://schemas.microsoft.com/office/drawing/2014/main" id="{ECD66F2F-0E5E-4C7C-BF84-A2DCBE261214}"/>
                </a:ext>
              </a:extLst>
            </p:cNvPr>
            <p:cNvSpPr/>
            <p:nvPr/>
          </p:nvSpPr>
          <p:spPr>
            <a:xfrm>
              <a:off x="9080501" y="4093766"/>
              <a:ext cx="2460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Un</a:t>
              </a: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= 19.5 V</a:t>
              </a:r>
              <a:endParaRPr lang="en-US" sz="1600" dirty="0"/>
            </a:p>
          </p:txBody>
        </p:sp>
        <p:sp>
          <p:nvSpPr>
            <p:cNvPr id="101" name="Text 43">
              <a:extLst>
                <a:ext uri="{FF2B5EF4-FFF2-40B4-BE49-F238E27FC236}">
                  <a16:creationId xmlns:a16="http://schemas.microsoft.com/office/drawing/2014/main" id="{35D62016-5943-8695-7D31-3E55CFABF330}"/>
                </a:ext>
              </a:extLst>
            </p:cNvPr>
            <p:cNvSpPr/>
            <p:nvPr/>
          </p:nvSpPr>
          <p:spPr>
            <a:xfrm>
              <a:off x="9080501" y="4347766"/>
              <a:ext cx="2460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In</a:t>
              </a: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= 3.33 A</a:t>
              </a:r>
              <a:endParaRPr lang="en-US" sz="1600" dirty="0"/>
            </a:p>
          </p:txBody>
        </p:sp>
        <p:sp>
          <p:nvSpPr>
            <p:cNvPr id="102" name="Shape 44">
              <a:extLst>
                <a:ext uri="{FF2B5EF4-FFF2-40B4-BE49-F238E27FC236}">
                  <a16:creationId xmlns:a16="http://schemas.microsoft.com/office/drawing/2014/main" id="{01495FA3-16A2-A562-BF27-7232EDEF17FA}"/>
                </a:ext>
              </a:extLst>
            </p:cNvPr>
            <p:cNvSpPr/>
            <p:nvPr/>
          </p:nvSpPr>
          <p:spPr>
            <a:xfrm>
              <a:off x="8953501" y="4792266"/>
              <a:ext cx="2651125" cy="1270000"/>
            </a:xfrm>
            <a:custGeom>
              <a:avLst/>
              <a:gdLst/>
              <a:ahLst/>
              <a:cxnLst/>
              <a:rect l="l" t="t" r="r" b="b"/>
              <a:pathLst>
                <a:path w="2651125" h="1270000">
                  <a:moveTo>
                    <a:pt x="127000" y="0"/>
                  </a:moveTo>
                  <a:lnTo>
                    <a:pt x="2524125" y="0"/>
                  </a:lnTo>
                  <a:cubicBezTo>
                    <a:pt x="2594218" y="0"/>
                    <a:pt x="2651125" y="56907"/>
                    <a:pt x="2651125" y="127000"/>
                  </a:cubicBezTo>
                  <a:lnTo>
                    <a:pt x="2651125" y="1143000"/>
                  </a:lnTo>
                  <a:cubicBezTo>
                    <a:pt x="2651125" y="1213093"/>
                    <a:pt x="2594218" y="1270000"/>
                    <a:pt x="2524125" y="1270000"/>
                  </a:cubicBezTo>
                  <a:lnTo>
                    <a:pt x="127000" y="1270000"/>
                  </a:lnTo>
                  <a:cubicBezTo>
                    <a:pt x="56907" y="1270000"/>
                    <a:pt x="0" y="1213093"/>
                    <a:pt x="0" y="1143000"/>
                  </a:cubicBezTo>
                  <a:lnTo>
                    <a:pt x="0" y="127000"/>
                  </a:lnTo>
                  <a:cubicBezTo>
                    <a:pt x="0" y="56907"/>
                    <a:pt x="56907" y="0"/>
                    <a:pt x="127000" y="0"/>
                  </a:cubicBezTo>
                  <a:close/>
                </a:path>
              </a:pathLst>
            </a:custGeom>
            <a:solidFill>
              <a:srgbClr val="0071E3">
                <a:alpha val="5098"/>
              </a:srgbClr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3" name="Shape 45">
              <a:extLst>
                <a:ext uri="{FF2B5EF4-FFF2-40B4-BE49-F238E27FC236}">
                  <a16:creationId xmlns:a16="http://schemas.microsoft.com/office/drawing/2014/main" id="{37AA4675-1474-DE86-5D87-413F3168E9D3}"/>
                </a:ext>
              </a:extLst>
            </p:cNvPr>
            <p:cNvSpPr/>
            <p:nvPr/>
          </p:nvSpPr>
          <p:spPr>
            <a:xfrm>
              <a:off x="9090422" y="4951016"/>
              <a:ext cx="178594" cy="158750"/>
            </a:xfrm>
            <a:custGeom>
              <a:avLst/>
              <a:gdLst/>
              <a:ahLst/>
              <a:cxnLst/>
              <a:rect l="l" t="t" r="r" b="b"/>
              <a:pathLst>
                <a:path w="178594" h="158750">
                  <a:moveTo>
                    <a:pt x="19844" y="29766"/>
                  </a:moveTo>
                  <a:lnTo>
                    <a:pt x="19844" y="104180"/>
                  </a:lnTo>
                  <a:lnTo>
                    <a:pt x="158750" y="104180"/>
                  </a:lnTo>
                  <a:lnTo>
                    <a:pt x="158750" y="29766"/>
                  </a:lnTo>
                  <a:lnTo>
                    <a:pt x="19844" y="29766"/>
                  </a:lnTo>
                  <a:close/>
                  <a:moveTo>
                    <a:pt x="0" y="29766"/>
                  </a:moveTo>
                  <a:cubicBezTo>
                    <a:pt x="0" y="18821"/>
                    <a:pt x="8899" y="9922"/>
                    <a:pt x="19844" y="9922"/>
                  </a:cubicBezTo>
                  <a:lnTo>
                    <a:pt x="158750" y="9922"/>
                  </a:lnTo>
                  <a:cubicBezTo>
                    <a:pt x="169695" y="9922"/>
                    <a:pt x="178594" y="18821"/>
                    <a:pt x="178594" y="29766"/>
                  </a:cubicBezTo>
                  <a:lnTo>
                    <a:pt x="178594" y="104180"/>
                  </a:lnTo>
                  <a:cubicBezTo>
                    <a:pt x="178594" y="115125"/>
                    <a:pt x="169695" y="124023"/>
                    <a:pt x="158750" y="124023"/>
                  </a:cubicBezTo>
                  <a:lnTo>
                    <a:pt x="19844" y="124023"/>
                  </a:lnTo>
                  <a:cubicBezTo>
                    <a:pt x="8899" y="124023"/>
                    <a:pt x="0" y="115125"/>
                    <a:pt x="0" y="104180"/>
                  </a:cubicBezTo>
                  <a:lnTo>
                    <a:pt x="0" y="29766"/>
                  </a:lnTo>
                  <a:close/>
                  <a:moveTo>
                    <a:pt x="49609" y="138906"/>
                  </a:moveTo>
                  <a:lnTo>
                    <a:pt x="128984" y="138906"/>
                  </a:lnTo>
                  <a:cubicBezTo>
                    <a:pt x="134472" y="138906"/>
                    <a:pt x="138906" y="143340"/>
                    <a:pt x="138906" y="148828"/>
                  </a:cubicBezTo>
                  <a:cubicBezTo>
                    <a:pt x="138906" y="154316"/>
                    <a:pt x="134472" y="158750"/>
                    <a:pt x="128984" y="158750"/>
                  </a:cubicBezTo>
                  <a:lnTo>
                    <a:pt x="49609" y="158750"/>
                  </a:lnTo>
                  <a:cubicBezTo>
                    <a:pt x="44121" y="158750"/>
                    <a:pt x="39688" y="154316"/>
                    <a:pt x="39688" y="148828"/>
                  </a:cubicBezTo>
                  <a:cubicBezTo>
                    <a:pt x="39688" y="143340"/>
                    <a:pt x="44121" y="138906"/>
                    <a:pt x="49609" y="138906"/>
                  </a:cubicBez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4" name="Text 46">
              <a:extLst>
                <a:ext uri="{FF2B5EF4-FFF2-40B4-BE49-F238E27FC236}">
                  <a16:creationId xmlns:a16="http://schemas.microsoft.com/office/drawing/2014/main" id="{30FE8D5D-668A-E9D1-09CD-41622713881A}"/>
                </a:ext>
              </a:extLst>
            </p:cNvPr>
            <p:cNvSpPr/>
            <p:nvPr/>
          </p:nvSpPr>
          <p:spPr>
            <a:xfrm>
              <a:off x="9374188" y="4919266"/>
              <a:ext cx="642938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125" b="1" dirty="0">
                  <a:solidFill>
                    <a:srgbClr val="1D1D1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Televizor</a:t>
              </a:r>
              <a:endParaRPr lang="en-US" sz="1600" dirty="0"/>
            </a:p>
          </p:txBody>
        </p:sp>
        <p:sp>
          <p:nvSpPr>
            <p:cNvPr id="105" name="Text 47">
              <a:extLst>
                <a:ext uri="{FF2B5EF4-FFF2-40B4-BE49-F238E27FC236}">
                  <a16:creationId xmlns:a16="http://schemas.microsoft.com/office/drawing/2014/main" id="{F3FC335F-266E-D20D-650F-AA978D446F60}"/>
                </a:ext>
              </a:extLst>
            </p:cNvPr>
            <p:cNvSpPr/>
            <p:nvPr/>
          </p:nvSpPr>
          <p:spPr>
            <a:xfrm>
              <a:off x="9080501" y="5236766"/>
              <a:ext cx="2460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Pn</a:t>
              </a: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= 150 W</a:t>
              </a:r>
              <a:endParaRPr lang="en-US" sz="1600" dirty="0"/>
            </a:p>
          </p:txBody>
        </p:sp>
        <p:sp>
          <p:nvSpPr>
            <p:cNvPr id="106" name="Text 48">
              <a:extLst>
                <a:ext uri="{FF2B5EF4-FFF2-40B4-BE49-F238E27FC236}">
                  <a16:creationId xmlns:a16="http://schemas.microsoft.com/office/drawing/2014/main" id="{E43019C5-0CA9-1026-7861-615AE5FCF826}"/>
                </a:ext>
              </a:extLst>
            </p:cNvPr>
            <p:cNvSpPr/>
            <p:nvPr/>
          </p:nvSpPr>
          <p:spPr>
            <a:xfrm>
              <a:off x="9080501" y="5490766"/>
              <a:ext cx="2460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Un</a:t>
              </a: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= 220 V</a:t>
              </a:r>
              <a:endParaRPr lang="en-US" sz="1600" dirty="0"/>
            </a:p>
          </p:txBody>
        </p:sp>
        <p:sp>
          <p:nvSpPr>
            <p:cNvPr id="107" name="Text 49">
              <a:extLst>
                <a:ext uri="{FF2B5EF4-FFF2-40B4-BE49-F238E27FC236}">
                  <a16:creationId xmlns:a16="http://schemas.microsoft.com/office/drawing/2014/main" id="{F6C5BACD-C2CC-7407-6A0E-7AEDCF34E91A}"/>
                </a:ext>
              </a:extLst>
            </p:cNvPr>
            <p:cNvSpPr/>
            <p:nvPr/>
          </p:nvSpPr>
          <p:spPr>
            <a:xfrm>
              <a:off x="9080501" y="5744766"/>
              <a:ext cx="2460625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sz="1000" b="1" dirty="0">
                  <a:solidFill>
                    <a:srgbClr val="1D1D1F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In</a:t>
              </a:r>
              <a:r>
                <a:rPr lang="en-US" sz="10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= 0.68 A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95665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2669-934D-F78D-0378-E5A7932C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 descr="https://kimi-web-img.moonshot.cn/img/libreshot.com/c64c6301380d973593f28a9370abd2fc251f8e3b.jpg">
            <a:extLst>
              <a:ext uri="{FF2B5EF4-FFF2-40B4-BE49-F238E27FC236}">
                <a16:creationId xmlns:a16="http://schemas.microsoft.com/office/drawing/2014/main" id="{DB38FD10-4B54-B79E-0183-43D7ABA345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7886" b="78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27" name="Shape 0">
            <a:extLst>
              <a:ext uri="{FF2B5EF4-FFF2-40B4-BE49-F238E27FC236}">
                <a16:creationId xmlns:a16="http://schemas.microsoft.com/office/drawing/2014/main" id="{470A2AF3-EAE2-4DF7-A983-E693A9D72E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D1D1F"/>
              </a:gs>
              <a:gs pos="50000">
                <a:srgbClr val="1D1D1F">
                  <a:alpha val="80000"/>
                </a:srgbClr>
              </a:gs>
              <a:gs pos="100000">
                <a:srgbClr val="1D1D1F">
                  <a:alpha val="60000"/>
                </a:srgbClr>
              </a:gs>
            </a:gsLst>
            <a:lin ang="162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D50C46A1-CB9C-F731-5BC5-28CEF24CCE60}"/>
              </a:ext>
            </a:extLst>
          </p:cNvPr>
          <p:cNvSpPr/>
          <p:nvPr/>
        </p:nvSpPr>
        <p:spPr>
          <a:xfrm>
            <a:off x="5638800" y="36671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0071E3">
              <a:alpha val="20000"/>
            </a:srgbClr>
          </a:solidFill>
          <a:ln/>
          <a:effectLst>
            <a:outerShdw blurRad="190500" dist="50800" dir="2700000" algn="bl" rotWithShape="0">
              <a:srgbClr val="0071E3">
                <a:alpha val="3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1F220D49-7E77-F895-D097-775CCB6AB5AD}"/>
              </a:ext>
            </a:extLst>
          </p:cNvPr>
          <p:cNvSpPr/>
          <p:nvPr/>
        </p:nvSpPr>
        <p:spPr>
          <a:xfrm>
            <a:off x="5895975" y="595313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04E952D8-BCCD-71EB-F65F-945A2671F8B4}"/>
              </a:ext>
            </a:extLst>
          </p:cNvPr>
          <p:cNvSpPr/>
          <p:nvPr/>
        </p:nvSpPr>
        <p:spPr>
          <a:xfrm>
            <a:off x="4269284" y="1890713"/>
            <a:ext cx="3657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Mulțumim!</a:t>
            </a:r>
            <a:endParaRPr lang="en-US" sz="16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F13447DF-EAB3-6351-7C2B-8F1ADDF0C143}"/>
              </a:ext>
            </a:extLst>
          </p:cNvPr>
          <p:cNvSpPr/>
          <p:nvPr/>
        </p:nvSpPr>
        <p:spPr>
          <a:xfrm>
            <a:off x="2838450" y="2976563"/>
            <a:ext cx="6515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Vă mulțumim pentru atenție!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Sperăm că această prezentare v-a ajutat să înțelegeți mai bine lumea fascinantă a energiei și puterii electrice.</a:t>
            </a:r>
            <a:endParaRPr lang="en-US" sz="16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71C9055-D0BA-0312-F5B5-55CCFDD36C41}"/>
              </a:ext>
            </a:extLst>
          </p:cNvPr>
          <p:cNvGrpSpPr/>
          <p:nvPr/>
        </p:nvGrpSpPr>
        <p:grpSpPr>
          <a:xfrm>
            <a:off x="1339701" y="4438396"/>
            <a:ext cx="3850035" cy="1457580"/>
            <a:chOff x="4171801" y="4347908"/>
            <a:chExt cx="3850035" cy="1457580"/>
          </a:xfrm>
        </p:grpSpPr>
        <p:sp>
          <p:nvSpPr>
            <p:cNvPr id="34" name="Text 7">
              <a:extLst>
                <a:ext uri="{FF2B5EF4-FFF2-40B4-BE49-F238E27FC236}">
                  <a16:creationId xmlns:a16="http://schemas.microsoft.com/office/drawing/2014/main" id="{28EA2131-6E57-F7C1-AAA2-5E1D8963FBD1}"/>
                </a:ext>
              </a:extLst>
            </p:cNvPr>
            <p:cNvSpPr/>
            <p:nvPr/>
          </p:nvSpPr>
          <p:spPr>
            <a:xfrm>
              <a:off x="4181326" y="5272088"/>
              <a:ext cx="1285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Realizat de</a:t>
              </a:r>
              <a:endParaRPr lang="en-US" sz="1600" dirty="0"/>
            </a:p>
          </p:txBody>
        </p:sp>
        <p:sp>
          <p:nvSpPr>
            <p:cNvPr id="35" name="Text 8">
              <a:extLst>
                <a:ext uri="{FF2B5EF4-FFF2-40B4-BE49-F238E27FC236}">
                  <a16:creationId xmlns:a16="http://schemas.microsoft.com/office/drawing/2014/main" id="{4C50BCCA-5266-FC8D-B213-A960BCF91437}"/>
                </a:ext>
              </a:extLst>
            </p:cNvPr>
            <p:cNvSpPr/>
            <p:nvPr/>
          </p:nvSpPr>
          <p:spPr>
            <a:xfrm>
              <a:off x="4171801" y="5538788"/>
              <a:ext cx="13049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F5F5F7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Petrescu Matei</a:t>
              </a:r>
              <a:endParaRPr lang="en-US" sz="1600" dirty="0"/>
            </a:p>
          </p:txBody>
        </p:sp>
        <p:sp>
          <p:nvSpPr>
            <p:cNvPr id="36" name="Shape 9">
              <a:extLst>
                <a:ext uri="{FF2B5EF4-FFF2-40B4-BE49-F238E27FC236}">
                  <a16:creationId xmlns:a16="http://schemas.microsoft.com/office/drawing/2014/main" id="{CF9727CF-5E5B-2421-3A89-40D1C70539B3}"/>
                </a:ext>
              </a:extLst>
            </p:cNvPr>
            <p:cNvSpPr/>
            <p:nvPr/>
          </p:nvSpPr>
          <p:spPr>
            <a:xfrm>
              <a:off x="5735836" y="4795838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9525" y="0"/>
                  </a:lnTo>
                  <a:lnTo>
                    <a:pt x="952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B">
                <a:alpha val="3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10">
              <a:extLst>
                <a:ext uri="{FF2B5EF4-FFF2-40B4-BE49-F238E27FC236}">
                  <a16:creationId xmlns:a16="http://schemas.microsoft.com/office/drawing/2014/main" id="{BC3070F8-F1D0-C9E6-E645-7FCBD8C7E8C5}"/>
                </a:ext>
              </a:extLst>
            </p:cNvPr>
            <p:cNvSpPr/>
            <p:nvPr/>
          </p:nvSpPr>
          <p:spPr>
            <a:xfrm>
              <a:off x="6548475" y="4347908"/>
              <a:ext cx="895859" cy="895859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Shape 11">
              <a:extLst>
                <a:ext uri="{FF2B5EF4-FFF2-40B4-BE49-F238E27FC236}">
                  <a16:creationId xmlns:a16="http://schemas.microsoft.com/office/drawing/2014/main" id="{B573C049-4703-8B66-2DB1-00B9617E7016}"/>
                </a:ext>
              </a:extLst>
            </p:cNvPr>
            <p:cNvSpPr/>
            <p:nvPr/>
          </p:nvSpPr>
          <p:spPr>
            <a:xfrm>
              <a:off x="6820719" y="4576764"/>
              <a:ext cx="398115" cy="454989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00013" y="110728"/>
                  </a:moveTo>
                  <a:cubicBezTo>
                    <a:pt x="129583" y="110728"/>
                    <a:pt x="153591" y="86721"/>
                    <a:pt x="153591" y="57150"/>
                  </a:cubicBezTo>
                  <a:cubicBezTo>
                    <a:pt x="153591" y="27579"/>
                    <a:pt x="129583" y="3572"/>
                    <a:pt x="100013" y="3572"/>
                  </a:cubicBezTo>
                  <a:cubicBezTo>
                    <a:pt x="70442" y="3572"/>
                    <a:pt x="46434" y="27579"/>
                    <a:pt x="46434" y="57150"/>
                  </a:cubicBezTo>
                  <a:cubicBezTo>
                    <a:pt x="46434" y="86721"/>
                    <a:pt x="70442" y="110728"/>
                    <a:pt x="100012" y="110728"/>
                  </a:cubicBezTo>
                  <a:close/>
                  <a:moveTo>
                    <a:pt x="86752" y="135731"/>
                  </a:moveTo>
                  <a:cubicBezTo>
                    <a:pt x="42773" y="135731"/>
                    <a:pt x="7144" y="171361"/>
                    <a:pt x="7144" y="215339"/>
                  </a:cubicBezTo>
                  <a:cubicBezTo>
                    <a:pt x="7144" y="222662"/>
                    <a:pt x="13082" y="228600"/>
                    <a:pt x="20404" y="228600"/>
                  </a:cubicBezTo>
                  <a:lnTo>
                    <a:pt x="179621" y="228600"/>
                  </a:lnTo>
                  <a:cubicBezTo>
                    <a:pt x="186943" y="228600"/>
                    <a:pt x="192881" y="222662"/>
                    <a:pt x="192881" y="215339"/>
                  </a:cubicBezTo>
                  <a:cubicBezTo>
                    <a:pt x="192881" y="171361"/>
                    <a:pt x="157252" y="135731"/>
                    <a:pt x="113273" y="135731"/>
                  </a:cubicBezTo>
                  <a:lnTo>
                    <a:pt x="86752" y="135731"/>
                  </a:lnTo>
                  <a:close/>
                </a:path>
              </a:pathLst>
            </a:custGeom>
            <a:solidFill>
              <a:srgbClr val="0071E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12">
              <a:extLst>
                <a:ext uri="{FF2B5EF4-FFF2-40B4-BE49-F238E27FC236}">
                  <a16:creationId xmlns:a16="http://schemas.microsoft.com/office/drawing/2014/main" id="{7CAC690A-78B4-9BB0-7593-0E45AD80377D}"/>
                </a:ext>
              </a:extLst>
            </p:cNvPr>
            <p:cNvSpPr/>
            <p:nvPr/>
          </p:nvSpPr>
          <p:spPr>
            <a:xfrm>
              <a:off x="6012061" y="5272088"/>
              <a:ext cx="20002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2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Realizat de</a:t>
              </a:r>
              <a:endParaRPr lang="en-US" sz="1600" dirty="0"/>
            </a:p>
          </p:txBody>
        </p:sp>
        <p:sp>
          <p:nvSpPr>
            <p:cNvPr id="40" name="Text 13">
              <a:extLst>
                <a:ext uri="{FF2B5EF4-FFF2-40B4-BE49-F238E27FC236}">
                  <a16:creationId xmlns:a16="http://schemas.microsoft.com/office/drawing/2014/main" id="{BAF8E675-65B9-C8DA-DDA3-3AFF777C0D20}"/>
                </a:ext>
              </a:extLst>
            </p:cNvPr>
            <p:cNvSpPr/>
            <p:nvPr/>
          </p:nvSpPr>
          <p:spPr>
            <a:xfrm>
              <a:off x="6002536" y="5538788"/>
              <a:ext cx="2019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500" b="1" dirty="0">
                  <a:solidFill>
                    <a:srgbClr val="F5F5F7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Mocanu Andrei Cristian</a:t>
              </a:r>
              <a:endParaRPr lang="en-US" sz="1600" dirty="0"/>
            </a:p>
          </p:txBody>
        </p:sp>
      </p:grpSp>
      <p:sp>
        <p:nvSpPr>
          <p:cNvPr id="41" name="Shape 14">
            <a:extLst>
              <a:ext uri="{FF2B5EF4-FFF2-40B4-BE49-F238E27FC236}">
                <a16:creationId xmlns:a16="http://schemas.microsoft.com/office/drawing/2014/main" id="{20ABC389-F294-3550-4D93-B0BD46E86FBF}"/>
              </a:ext>
            </a:extLst>
          </p:cNvPr>
          <p:cNvSpPr/>
          <p:nvPr/>
        </p:nvSpPr>
        <p:spPr>
          <a:xfrm>
            <a:off x="5867400" y="64150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D013672C-2D2E-E7D1-918A-60D2F30E04D1}"/>
              </a:ext>
            </a:extLst>
          </p:cNvPr>
          <p:cNvSpPr/>
          <p:nvPr/>
        </p:nvSpPr>
        <p:spPr>
          <a:xfrm>
            <a:off x="6057900" y="64150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EDE7144A-4EDA-CE61-5043-00652C8E51BE}"/>
              </a:ext>
            </a:extLst>
          </p:cNvPr>
          <p:cNvSpPr/>
          <p:nvPr/>
        </p:nvSpPr>
        <p:spPr>
          <a:xfrm>
            <a:off x="6248400" y="64150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548A255-EB57-63ED-6694-5B74D3FC5A2E}"/>
              </a:ext>
            </a:extLst>
          </p:cNvPr>
          <p:cNvGrpSpPr/>
          <p:nvPr/>
        </p:nvGrpSpPr>
        <p:grpSpPr>
          <a:xfrm>
            <a:off x="6765850" y="4410685"/>
            <a:ext cx="3850035" cy="1485291"/>
            <a:chOff x="4171801" y="4320197"/>
            <a:chExt cx="3850035" cy="1485291"/>
          </a:xfrm>
        </p:grpSpPr>
        <p:sp>
          <p:nvSpPr>
            <p:cNvPr id="48" name="Shape 5">
              <a:extLst>
                <a:ext uri="{FF2B5EF4-FFF2-40B4-BE49-F238E27FC236}">
                  <a16:creationId xmlns:a16="http://schemas.microsoft.com/office/drawing/2014/main" id="{0C58720F-A052-45EA-DE8C-3647FD357CF0}"/>
                </a:ext>
              </a:extLst>
            </p:cNvPr>
            <p:cNvSpPr/>
            <p:nvPr/>
          </p:nvSpPr>
          <p:spPr>
            <a:xfrm>
              <a:off x="4362339" y="4363544"/>
              <a:ext cx="911720" cy="91172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648EEF23-F960-814B-2EC2-4C7E60A2CDDC}"/>
                </a:ext>
              </a:extLst>
            </p:cNvPr>
            <p:cNvSpPr/>
            <p:nvPr/>
          </p:nvSpPr>
          <p:spPr>
            <a:xfrm>
              <a:off x="4181326" y="5272088"/>
              <a:ext cx="12858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ro-RO" sz="12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Link 1</a:t>
              </a:r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C8A68232-6198-1DC7-F9AC-E5474A4E01EA}"/>
                </a:ext>
              </a:extLst>
            </p:cNvPr>
            <p:cNvSpPr/>
            <p:nvPr/>
          </p:nvSpPr>
          <p:spPr>
            <a:xfrm>
              <a:off x="4171801" y="5538788"/>
              <a:ext cx="1304925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ro-RO" sz="1500" b="1" dirty="0">
                  <a:solidFill>
                    <a:srgbClr val="F5F5F7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Fizichim.ro</a:t>
              </a:r>
              <a:endParaRPr lang="en-US" sz="1600" dirty="0"/>
            </a:p>
          </p:txBody>
        </p:sp>
        <p:sp>
          <p:nvSpPr>
            <p:cNvPr id="52" name="Shape 9">
              <a:extLst>
                <a:ext uri="{FF2B5EF4-FFF2-40B4-BE49-F238E27FC236}">
                  <a16:creationId xmlns:a16="http://schemas.microsoft.com/office/drawing/2014/main" id="{EDEEA006-3AB7-E00E-BD45-63CDF509270A}"/>
                </a:ext>
              </a:extLst>
            </p:cNvPr>
            <p:cNvSpPr/>
            <p:nvPr/>
          </p:nvSpPr>
          <p:spPr>
            <a:xfrm>
              <a:off x="5735836" y="4795838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9525" y="0"/>
                  </a:lnTo>
                  <a:lnTo>
                    <a:pt x="952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68B">
                <a:alpha val="30196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10">
              <a:extLst>
                <a:ext uri="{FF2B5EF4-FFF2-40B4-BE49-F238E27FC236}">
                  <a16:creationId xmlns:a16="http://schemas.microsoft.com/office/drawing/2014/main" id="{AC1EA4E9-7DE8-8227-3223-E0594A99F512}"/>
                </a:ext>
              </a:extLst>
            </p:cNvPr>
            <p:cNvSpPr/>
            <p:nvPr/>
          </p:nvSpPr>
          <p:spPr>
            <a:xfrm>
              <a:off x="6548475" y="4320197"/>
              <a:ext cx="998414" cy="998414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0071E3">
                <a:alpha val="10196"/>
              </a:srgbClr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Text 12">
              <a:extLst>
                <a:ext uri="{FF2B5EF4-FFF2-40B4-BE49-F238E27FC236}">
                  <a16:creationId xmlns:a16="http://schemas.microsoft.com/office/drawing/2014/main" id="{ED840ADB-4DC9-7324-5B71-4D44DC3E76E9}"/>
                </a:ext>
              </a:extLst>
            </p:cNvPr>
            <p:cNvSpPr/>
            <p:nvPr/>
          </p:nvSpPr>
          <p:spPr>
            <a:xfrm>
              <a:off x="6012061" y="5272088"/>
              <a:ext cx="20002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ro-RO" sz="1200" dirty="0">
                  <a:solidFill>
                    <a:srgbClr val="86868B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Link 2</a:t>
              </a:r>
              <a:endParaRPr lang="en-US" sz="1600" dirty="0"/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CC591393-BDDA-1936-D114-7981C02033BB}"/>
                </a:ext>
              </a:extLst>
            </p:cNvPr>
            <p:cNvSpPr/>
            <p:nvPr/>
          </p:nvSpPr>
          <p:spPr>
            <a:xfrm>
              <a:off x="6002536" y="5538788"/>
              <a:ext cx="2019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ro-RO" sz="1500" b="1" dirty="0" err="1">
                  <a:solidFill>
                    <a:srgbClr val="F5F5F7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Youtube</a:t>
              </a:r>
              <a:r>
                <a:rPr lang="ro-RO" sz="1500" b="1" dirty="0">
                  <a:solidFill>
                    <a:srgbClr val="F5F5F7"/>
                  </a:solidFill>
                  <a:latin typeface="Quattrocento Sans" pitchFamily="34" charset="0"/>
                  <a:ea typeface="Quattrocento Sans" pitchFamily="34" charset="-122"/>
                  <a:cs typeface="Quattrocento Sans" pitchFamily="34" charset="-120"/>
                </a:rPr>
                <a:t> Video</a:t>
              </a:r>
              <a:endParaRPr lang="en-US" sz="1600" dirty="0"/>
            </a:p>
          </p:txBody>
        </p:sp>
      </p:grpSp>
      <p:pic>
        <p:nvPicPr>
          <p:cNvPr id="62" name="Graphic 61" descr="Television with solid fill">
            <a:extLst>
              <a:ext uri="{FF2B5EF4-FFF2-40B4-BE49-F238E27FC236}">
                <a16:creationId xmlns:a16="http://schemas.microsoft.com/office/drawing/2014/main" id="{54111ABE-69E4-FC55-2B38-0A45596E3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7881" y="4579691"/>
            <a:ext cx="657225" cy="657225"/>
          </a:xfrm>
          <a:prstGeom prst="rect">
            <a:avLst/>
          </a:prstGeom>
        </p:spPr>
      </p:pic>
      <p:sp>
        <p:nvSpPr>
          <p:cNvPr id="64" name="Shape 11">
            <a:extLst>
              <a:ext uri="{FF2B5EF4-FFF2-40B4-BE49-F238E27FC236}">
                <a16:creationId xmlns:a16="http://schemas.microsoft.com/office/drawing/2014/main" id="{098C5C4B-FDB6-0C03-2A9C-1AF67F510894}"/>
              </a:ext>
            </a:extLst>
          </p:cNvPr>
          <p:cNvSpPr/>
          <p:nvPr/>
        </p:nvSpPr>
        <p:spPr>
          <a:xfrm>
            <a:off x="1787954" y="4667252"/>
            <a:ext cx="398115" cy="454989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10">
            <a:extLst>
              <a:ext uri="{FF2B5EF4-FFF2-40B4-BE49-F238E27FC236}">
                <a16:creationId xmlns:a16="http://schemas.microsoft.com/office/drawing/2014/main" id="{A3D20EA2-F602-26C1-AFB8-69276FCE23A9}"/>
              </a:ext>
            </a:extLst>
          </p:cNvPr>
          <p:cNvSpPr/>
          <p:nvPr/>
        </p:nvSpPr>
        <p:spPr>
          <a:xfrm>
            <a:off x="1519126" y="4438396"/>
            <a:ext cx="895859" cy="895859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7" name="Graphic 66" descr="Document with solid fill">
            <a:extLst>
              <a:ext uri="{FF2B5EF4-FFF2-40B4-BE49-F238E27FC236}">
                <a16:creationId xmlns:a16="http://schemas.microsoft.com/office/drawing/2014/main" id="{F1BD719B-05A4-3F0B-80BD-14623135F9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0922" y="4485675"/>
            <a:ext cx="845258" cy="84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25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458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Liter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Caracterizarea energiei electrice ca mărime fizică:</vt:lpstr>
      <vt:lpstr>PowerPoint Presentation</vt:lpstr>
      <vt:lpstr>PowerPoint Presentation</vt:lpstr>
      <vt:lpstr>Caracterizarea puterii electrice ca mărime fizică: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Matei</dc:creator>
  <cp:lastModifiedBy>Matei</cp:lastModifiedBy>
  <cp:revision>3</cp:revision>
  <dcterms:created xsi:type="dcterms:W3CDTF">2026-02-05T18:46:58Z</dcterms:created>
  <dcterms:modified xsi:type="dcterms:W3CDTF">2026-02-05T21:32:15Z</dcterms:modified>
</cp:coreProperties>
</file>