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F24"/>
    <a:srgbClr val="50656C"/>
    <a:srgbClr val="223942"/>
    <a:srgbClr val="A99A66"/>
    <a:srgbClr val="1E323A"/>
    <a:srgbClr val="28424C"/>
    <a:srgbClr val="3E6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2623-620A-F891-BDFA-B1B640ED7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DEE96-ABB3-9B4B-C3F5-CFFD6607D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16E25-8AA6-7D74-5DC1-F9540AF9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F68EE-CB16-814A-A1EF-FD53CFD8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CC24-E3C9-C3C5-1D1A-70D46F45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5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25CC-8017-204D-4FF7-16EA2C27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C273-B7D2-CA27-AEB0-2643E379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DE2DC-4C3E-1FD4-AE56-C9D2E168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E7319-4469-DCC4-4B87-F161D5A6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E3FBE-AF42-5CC9-249C-E5B38C5A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2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5B05-000B-B9BB-B735-CA8C764E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7460C-D61D-1990-3A13-934135D61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7244-E525-B965-1E1F-1217FBDB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222F2-DC3D-A1CB-E1C4-3AA5DFF7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F5D6-938B-A30A-141F-D50C8A98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9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3176-ADBE-16A0-7955-010EE9F1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A0476-448F-113C-B924-18472BBA3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6DE1D-1F37-1EC4-0CAE-85F5964C4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70BF8-70B4-1163-5160-D7DB51C5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71D1A-3F4F-5D97-7691-03EF8E1A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AE3C8-66BF-BBBA-84C5-B5E36F49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BACF-65EB-F97C-088A-46A8DCE7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FEA3-411D-4C22-D96E-9861F9951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CD1E0-3BA4-8B68-DA5A-2EF68BC12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679AD-48F1-9408-4BCC-4513104A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6980F-4745-155E-D5DA-73E3366F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D5691-DF68-E0BA-351D-29BC2BEF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71C75-C5DA-14FE-5982-96CAB790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587A4-6F86-11E8-B15E-FAB3E23C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9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57DE-5A81-6D3D-0364-B0545132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93B72-BD82-55BD-D7B9-C7AF572A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65499-9AB5-33C3-3813-232EAAA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5B0C6-9A05-A42E-BC3F-1BB9D15A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0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FDA04-8C35-E64E-FE80-8A348E04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5841A-6C3F-C808-C679-AB915BAF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C5C06-67EA-44EF-3C3A-AA407297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5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CB90-C6EA-4EBE-0ADE-F9E71265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EDB69-FC20-D562-7FEE-9D74697B0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A34BB-BA51-2CBF-2E62-71EC8C8F8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28D0D-0680-2ACF-B080-6BFF0D49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73E0D-0E54-A14C-D8D2-E9802D26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A03C5-DBDF-19C3-9648-DE9168E6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1FBD-779D-B9D6-EB4C-CD568D1C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6C402-FBC6-CA3A-1E3A-651E4F7D5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0B353-4042-3863-4C17-85C856F00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3629-8C47-837F-3D30-3469FB0D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0814A-0A74-A5E8-615B-FB5B414C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9E788-5DAC-761B-ED0F-5F6968B8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2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0A90-66C9-9C14-5453-575EDFAF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BEEE-8BEC-74B8-054C-5836B7EF3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E2F3E-6B69-A70E-991A-205A0459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01791-5516-1BE5-75D8-51580990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8B31C-9853-AF14-C7F6-57C682DE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6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825B1-27A7-7CD2-DA02-F39D44CE0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D0672-DF87-C36B-75EA-20392F45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3E76-4E50-11E7-E96B-CFF5FAF3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FB521-8861-9937-9E6F-8C680E3F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6553-2DD2-6E13-025D-38D4939C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2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grayscl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F9132-20BD-6ADD-DF05-112F9D8E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AF647-B65E-A676-03BD-931F50106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9183-6363-63D5-AF63-54E4B607C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C9ADC-D5FD-4B19-9DE3-BFCFDE8DEFF1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7B18-0CC0-983A-D41A-5C1F15DA9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F3DBD-65DE-5DDC-F189-7436A244D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4449F-4CC2-4945-A1AA-0C5E48CE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jpe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jpe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7233D5-4767-1567-D725-AA270C023A88}"/>
              </a:ext>
            </a:extLst>
          </p:cNvPr>
          <p:cNvSpPr/>
          <p:nvPr/>
        </p:nvSpPr>
        <p:spPr>
          <a:xfrm>
            <a:off x="0" y="0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95DFF8-D871-CC6F-1474-64C1ADC8B3DE}"/>
              </a:ext>
            </a:extLst>
          </p:cNvPr>
          <p:cNvCxnSpPr>
            <a:cxnSpLocks/>
          </p:cNvCxnSpPr>
          <p:nvPr/>
        </p:nvCxnSpPr>
        <p:spPr>
          <a:xfrm>
            <a:off x="425778" y="3429000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FC3711-960E-0429-D52B-DE9DFE0D8E63}"/>
              </a:ext>
            </a:extLst>
          </p:cNvPr>
          <p:cNvSpPr txBox="1"/>
          <p:nvPr/>
        </p:nvSpPr>
        <p:spPr>
          <a:xfrm>
            <a:off x="928255" y="2222836"/>
            <a:ext cx="1033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BA5A1B-25EF-7AB8-847D-5CC3B0D1848A}"/>
              </a:ext>
            </a:extLst>
          </p:cNvPr>
          <p:cNvSpPr txBox="1"/>
          <p:nvPr/>
        </p:nvSpPr>
        <p:spPr>
          <a:xfrm>
            <a:off x="905425" y="4035575"/>
            <a:ext cx="320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Un </a:t>
            </a: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proiect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facut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 de:</a:t>
            </a:r>
          </a:p>
          <a:p>
            <a:r>
              <a:rPr lang="en-US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P. Matei; C. Darius; M. Cristian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182C765-1316-F23F-663D-8B1A0B0E4C0F}"/>
              </a:ext>
            </a:extLst>
          </p:cNvPr>
          <p:cNvCxnSpPr>
            <a:cxnSpLocks/>
          </p:cNvCxnSpPr>
          <p:nvPr/>
        </p:nvCxnSpPr>
        <p:spPr>
          <a:xfrm>
            <a:off x="425777" y="4691052"/>
            <a:ext cx="4365298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Isaac Newto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71F82574-93E7-A459-56C8-04978AB23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334" y="6867141"/>
            <a:ext cx="4107454" cy="410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E944C1-A53B-1B1C-AC28-B54F2704A74E}"/>
              </a:ext>
            </a:extLst>
          </p:cNvPr>
          <p:cNvSpPr txBox="1"/>
          <p:nvPr/>
        </p:nvSpPr>
        <p:spPr>
          <a:xfrm>
            <a:off x="12492199" y="7034239"/>
            <a:ext cx="154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Isaac Newton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62349-767A-BBCC-0E6B-4C680B4D5257}"/>
              </a:ext>
            </a:extLst>
          </p:cNvPr>
          <p:cNvSpPr txBox="1"/>
          <p:nvPr/>
        </p:nvSpPr>
        <p:spPr>
          <a:xfrm>
            <a:off x="12549777" y="7394583"/>
            <a:ext cx="1219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1643-1727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ACA9E0-6299-F901-D766-CFEA8586EF4E}"/>
              </a:ext>
            </a:extLst>
          </p:cNvPr>
          <p:cNvGrpSpPr/>
          <p:nvPr/>
        </p:nvGrpSpPr>
        <p:grpSpPr>
          <a:xfrm>
            <a:off x="12192000" y="6962791"/>
            <a:ext cx="4838700" cy="2030791"/>
            <a:chOff x="7353300" y="4836350"/>
            <a:chExt cx="4838700" cy="203079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DF144A7-DAE3-1FD0-F9B8-C115A9D7A435}"/>
                </a:ext>
              </a:extLst>
            </p:cNvPr>
            <p:cNvSpPr/>
            <p:nvPr/>
          </p:nvSpPr>
          <p:spPr>
            <a:xfrm>
              <a:off x="7353300" y="4836350"/>
              <a:ext cx="4838700" cy="2030791"/>
            </a:xfrm>
            <a:prstGeom prst="roundRect">
              <a:avLst>
                <a:gd name="adj" fmla="val 11664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909513B-1304-5611-1F83-049520E26D4A}"/>
                </a:ext>
              </a:extLst>
            </p:cNvPr>
            <p:cNvGrpSpPr/>
            <p:nvPr/>
          </p:nvGrpSpPr>
          <p:grpSpPr>
            <a:xfrm>
              <a:off x="7653497" y="5005716"/>
              <a:ext cx="4309903" cy="1807040"/>
              <a:chOff x="7653497" y="5005716"/>
              <a:chExt cx="4309903" cy="180704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B1FB4B-3ADB-8FD0-5E94-D3E01E4A1706}"/>
                  </a:ext>
                </a:extLst>
              </p:cNvPr>
              <p:cNvSpPr txBox="1"/>
              <p:nvPr/>
            </p:nvSpPr>
            <p:spPr>
              <a:xfrm>
                <a:off x="7653497" y="5005716"/>
                <a:ext cx="1782603" cy="408623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Isaac Newton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540268-A9C4-938E-8FB6-8947FB792BEC}"/>
                  </a:ext>
                </a:extLst>
              </p:cNvPr>
              <p:cNvSpPr txBox="1"/>
              <p:nvPr/>
            </p:nvSpPr>
            <p:spPr>
              <a:xfrm>
                <a:off x="7653497" y="5374365"/>
                <a:ext cx="1219200" cy="391597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solidFill>
                      <a:schemeClr val="bg1"/>
                    </a:solidFill>
                  </a:rPr>
                  <a:t>1643-1727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C117D-88A6-13AE-7A8C-CE913D402C7F}"/>
                  </a:ext>
                </a:extLst>
              </p:cNvPr>
              <p:cNvSpPr txBox="1"/>
              <p:nvPr/>
            </p:nvSpPr>
            <p:spPr>
              <a:xfrm>
                <a:off x="7653499" y="5757148"/>
                <a:ext cx="4309901" cy="1055608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Isaac Newton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fost</a:t>
                </a:r>
                <a:r>
                  <a:rPr lang="en-US" sz="1400" dirty="0">
                    <a:solidFill>
                      <a:schemeClr val="bg1"/>
                    </a:solidFill>
                  </a:rPr>
                  <a:t> un om de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știință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englez</a:t>
                </a:r>
                <a:r>
                  <a:rPr lang="en-US" sz="1400" dirty="0">
                    <a:solidFill>
                      <a:schemeClr val="bg1"/>
                    </a:solidFill>
                  </a:rPr>
                  <a:t>,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cunoscut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pentru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legea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gravitației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cele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trei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legi</a:t>
                </a:r>
                <a:r>
                  <a:rPr lang="en-US" sz="1400" dirty="0">
                    <a:solidFill>
                      <a:schemeClr val="bg1"/>
                    </a:solidFill>
                  </a:rPr>
                  <a:t> ale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mișcării</a:t>
                </a:r>
                <a:r>
                  <a:rPr lang="en-US" sz="1400" dirty="0">
                    <a:solidFill>
                      <a:schemeClr val="bg1"/>
                    </a:solidFill>
                  </a:rPr>
                  <a:t>. A pus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bazele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fizicii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clasice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contribuit</a:t>
                </a:r>
                <a:r>
                  <a:rPr lang="en-US" sz="1400" dirty="0">
                    <a:solidFill>
                      <a:schemeClr val="bg1"/>
                    </a:solidFill>
                  </a:rPr>
                  <a:t> major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în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matematică</a:t>
                </a:r>
                <a:r>
                  <a:rPr lang="en-US" sz="1400" dirty="0">
                    <a:solidFill>
                      <a:schemeClr val="bg1"/>
                    </a:solidFill>
                  </a:rPr>
                  <a:t>.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664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4AF98-F061-E869-9821-A4744BCE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663CBAA-CE86-A167-B0D6-E19733BBF6B4}"/>
              </a:ext>
            </a:extLst>
          </p:cNvPr>
          <p:cNvSpPr/>
          <p:nvPr/>
        </p:nvSpPr>
        <p:spPr>
          <a:xfrm>
            <a:off x="0" y="-4572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pic>
        <p:nvPicPr>
          <p:cNvPr id="1028" name="Picture 4" descr="Isaac Newto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2EB44364-4355-B270-F5B1-5DC1D4529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933" y="1012441"/>
            <a:ext cx="4003789" cy="400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C0BBDE-01CE-9288-A56A-65ECEE8F1904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F050F-362A-6128-724C-C9BA62E8132D}"/>
              </a:ext>
            </a:extLst>
          </p:cNvPr>
          <p:cNvCxnSpPr>
            <a:cxnSpLocks/>
          </p:cNvCxnSpPr>
          <p:nvPr/>
        </p:nvCxnSpPr>
        <p:spPr>
          <a:xfrm>
            <a:off x="895927" y="1924018"/>
            <a:ext cx="4498108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BE019E-F5E1-3248-CED4-A4D050B14B1B}"/>
              </a:ext>
            </a:extLst>
          </p:cNvPr>
          <p:cNvCxnSpPr>
            <a:cxnSpLocks/>
          </p:cNvCxnSpPr>
          <p:nvPr/>
        </p:nvCxnSpPr>
        <p:spPr>
          <a:xfrm>
            <a:off x="896112" y="6329763"/>
            <a:ext cx="4498848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1D6A3E-DEF1-9959-FD81-078336CD2810}"/>
              </a:ext>
            </a:extLst>
          </p:cNvPr>
          <p:cNvSpPr txBox="1"/>
          <p:nvPr/>
        </p:nvSpPr>
        <p:spPr>
          <a:xfrm>
            <a:off x="3311235" y="520322"/>
            <a:ext cx="5569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Cuprins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3468BD-D183-71B6-32EA-B6CD2898E687}"/>
              </a:ext>
            </a:extLst>
          </p:cNvPr>
          <p:cNvSpPr/>
          <p:nvPr/>
        </p:nvSpPr>
        <p:spPr>
          <a:xfrm>
            <a:off x="7986616" y="1282153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1AE008-8800-131F-49E4-35CA46925EE9}"/>
              </a:ext>
            </a:extLst>
          </p:cNvPr>
          <p:cNvGrpSpPr/>
          <p:nvPr/>
        </p:nvGrpSpPr>
        <p:grpSpPr>
          <a:xfrm>
            <a:off x="7353300" y="4836350"/>
            <a:ext cx="4838700" cy="2030791"/>
            <a:chOff x="7353300" y="4836350"/>
            <a:chExt cx="4838700" cy="203079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E059877-8FC3-9ADC-63D1-5C81058E41ED}"/>
                </a:ext>
              </a:extLst>
            </p:cNvPr>
            <p:cNvSpPr/>
            <p:nvPr/>
          </p:nvSpPr>
          <p:spPr>
            <a:xfrm>
              <a:off x="7353300" y="4836350"/>
              <a:ext cx="4838700" cy="2030791"/>
            </a:xfrm>
            <a:prstGeom prst="roundRect">
              <a:avLst>
                <a:gd name="adj" fmla="val 2596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C2E11B-1F4D-C6B8-9E17-ED2A1D9E1390}"/>
                </a:ext>
              </a:extLst>
            </p:cNvPr>
            <p:cNvGrpSpPr/>
            <p:nvPr/>
          </p:nvGrpSpPr>
          <p:grpSpPr>
            <a:xfrm>
              <a:off x="7653499" y="4915929"/>
              <a:ext cx="4309901" cy="1896827"/>
              <a:chOff x="7653499" y="4915929"/>
              <a:chExt cx="4309901" cy="189682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B370C0-3328-429A-E775-C9425BE61AC2}"/>
                  </a:ext>
                </a:extLst>
              </p:cNvPr>
              <p:cNvSpPr txBox="1"/>
              <p:nvPr/>
            </p:nvSpPr>
            <p:spPr>
              <a:xfrm>
                <a:off x="7657188" y="4915929"/>
                <a:ext cx="1975318" cy="408623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Isaac Newton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5F3C74-E0F3-1801-021A-0275E2FD8EF7}"/>
                  </a:ext>
                </a:extLst>
              </p:cNvPr>
              <p:cNvSpPr txBox="1"/>
              <p:nvPr/>
            </p:nvSpPr>
            <p:spPr>
              <a:xfrm>
                <a:off x="7653499" y="5346526"/>
                <a:ext cx="1598454" cy="391597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1643-1727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1BCCBC-FEFE-D422-EE20-1C25E24B84DE}"/>
                  </a:ext>
                </a:extLst>
              </p:cNvPr>
              <p:cNvSpPr txBox="1"/>
              <p:nvPr/>
            </p:nvSpPr>
            <p:spPr>
              <a:xfrm>
                <a:off x="7653499" y="5757148"/>
                <a:ext cx="4309901" cy="1055608"/>
              </a:xfrm>
              <a:prstGeom prst="roundRect">
                <a:avLst>
                  <a:gd name="adj" fmla="val 6441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Isaac Newton a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fost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un om de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știință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englez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,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cunoscut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pentru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legea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gravitației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cele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trei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legi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ale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mișcării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. A pus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bazele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fizicii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clasice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contribuit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major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în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matematică</a:t>
                </a:r>
                <a:r>
                  <a:rPr lang="en-US" sz="1400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. 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4C091BB-131D-523F-BB62-CB8458ED8400}"/>
              </a:ext>
            </a:extLst>
          </p:cNvPr>
          <p:cNvGrpSpPr/>
          <p:nvPr/>
        </p:nvGrpSpPr>
        <p:grpSpPr>
          <a:xfrm>
            <a:off x="1188755" y="2308831"/>
            <a:ext cx="1120169" cy="1120169"/>
            <a:chOff x="1188755" y="2308831"/>
            <a:chExt cx="1120169" cy="112016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5C9CEAA-DD1F-AFD7-333E-AA99D20CBAEA}"/>
                </a:ext>
              </a:extLst>
            </p:cNvPr>
            <p:cNvSpPr/>
            <p:nvPr/>
          </p:nvSpPr>
          <p:spPr>
            <a:xfrm>
              <a:off x="1188755" y="230883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Graphic 29" descr="Family with girl outline">
              <a:extLst>
                <a:ext uri="{FF2B5EF4-FFF2-40B4-BE49-F238E27FC236}">
                  <a16:creationId xmlns:a16="http://schemas.microsoft.com/office/drawing/2014/main" id="{08B2A07A-1325-8A77-4FB4-7A3656E5A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1639" y="241954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D733AC-8003-AABF-7EC1-F64186D3D7EC}"/>
              </a:ext>
            </a:extLst>
          </p:cNvPr>
          <p:cNvGrpSpPr/>
          <p:nvPr/>
        </p:nvGrpSpPr>
        <p:grpSpPr>
          <a:xfrm>
            <a:off x="2454137" y="2308830"/>
            <a:ext cx="1120169" cy="1120169"/>
            <a:chOff x="2454137" y="2308830"/>
            <a:chExt cx="1120169" cy="112016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03985F0-761A-8F25-C9AB-5DC79051E498}"/>
                </a:ext>
              </a:extLst>
            </p:cNvPr>
            <p:cNvSpPr/>
            <p:nvPr/>
          </p:nvSpPr>
          <p:spPr>
            <a:xfrm>
              <a:off x="2454137" y="2308830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Graduation cap outline">
              <a:extLst>
                <a:ext uri="{FF2B5EF4-FFF2-40B4-BE49-F238E27FC236}">
                  <a16:creationId xmlns:a16="http://schemas.microsoft.com/office/drawing/2014/main" id="{33022CE4-A63D-D233-7647-E1C6985F3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57021" y="2411714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CEB6640-3A7B-223C-CA9F-05C11724EF66}"/>
              </a:ext>
            </a:extLst>
          </p:cNvPr>
          <p:cNvGrpSpPr/>
          <p:nvPr/>
        </p:nvGrpSpPr>
        <p:grpSpPr>
          <a:xfrm>
            <a:off x="3719519" y="2308830"/>
            <a:ext cx="1120169" cy="1120169"/>
            <a:chOff x="3719519" y="2308830"/>
            <a:chExt cx="1120169" cy="112016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8DD1098-114A-D212-80AD-FFAB0A8A426E}"/>
                </a:ext>
              </a:extLst>
            </p:cNvPr>
            <p:cNvSpPr/>
            <p:nvPr/>
          </p:nvSpPr>
          <p:spPr>
            <a:xfrm>
              <a:off x="3719519" y="2308830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 descr="Man outline">
              <a:extLst>
                <a:ext uri="{FF2B5EF4-FFF2-40B4-BE49-F238E27FC236}">
                  <a16:creationId xmlns:a16="http://schemas.microsoft.com/office/drawing/2014/main" id="{47A8F5D5-3139-4718-4EE3-3D55528E4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22403" y="2411714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FEAE995-0C82-E25C-D42F-01FF62B8B2C7}"/>
              </a:ext>
            </a:extLst>
          </p:cNvPr>
          <p:cNvGrpSpPr/>
          <p:nvPr/>
        </p:nvGrpSpPr>
        <p:grpSpPr>
          <a:xfrm>
            <a:off x="1188755" y="3587111"/>
            <a:ext cx="1120169" cy="1120169"/>
            <a:chOff x="1188755" y="3587111"/>
            <a:chExt cx="1120169" cy="112016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454654B-C54B-9BBB-356A-4FE7AAEED59B}"/>
                </a:ext>
              </a:extLst>
            </p:cNvPr>
            <p:cNvSpPr/>
            <p:nvPr/>
          </p:nvSpPr>
          <p:spPr>
            <a:xfrm>
              <a:off x="1188755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Remote learning math outline">
              <a:extLst>
                <a:ext uri="{FF2B5EF4-FFF2-40B4-BE49-F238E27FC236}">
                  <a16:creationId xmlns:a16="http://schemas.microsoft.com/office/drawing/2014/main" id="{9EBFF73D-6B88-A76F-6FD5-BD00029E3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91639" y="368999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81AA389-5AEB-8EAF-204C-ECC0528C0D8A}"/>
              </a:ext>
            </a:extLst>
          </p:cNvPr>
          <p:cNvGrpSpPr/>
          <p:nvPr/>
        </p:nvGrpSpPr>
        <p:grpSpPr>
          <a:xfrm>
            <a:off x="2454138" y="3587111"/>
            <a:ext cx="1120169" cy="1120169"/>
            <a:chOff x="2454138" y="3587111"/>
            <a:chExt cx="1120169" cy="112016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94D9E85-D8D8-1274-FAE0-736C7E6A6484}"/>
                </a:ext>
              </a:extLst>
            </p:cNvPr>
            <p:cNvSpPr/>
            <p:nvPr/>
          </p:nvSpPr>
          <p:spPr>
            <a:xfrm>
              <a:off x="2454138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Gravity - Free education icons">
              <a:extLst>
                <a:ext uri="{FF2B5EF4-FFF2-40B4-BE49-F238E27FC236}">
                  <a16:creationId xmlns:a16="http://schemas.microsoft.com/office/drawing/2014/main" id="{1DB5B5E3-E01D-A6D9-6399-01421337AA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3049" y="3621716"/>
              <a:ext cx="1031050" cy="1031050"/>
            </a:xfrm>
            <a:prstGeom prst="rect">
              <a:avLst/>
            </a:prstGeom>
            <a:noFill/>
            <a:effectLst>
              <a:glow rad="63500">
                <a:srgbClr val="131F24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D4ABDE9-216C-142E-6ED7-AAB4722A1D06}"/>
              </a:ext>
            </a:extLst>
          </p:cNvPr>
          <p:cNvGrpSpPr/>
          <p:nvPr/>
        </p:nvGrpSpPr>
        <p:grpSpPr>
          <a:xfrm>
            <a:off x="3719520" y="3587111"/>
            <a:ext cx="1120169" cy="1120169"/>
            <a:chOff x="3719520" y="3587111"/>
            <a:chExt cx="1120169" cy="112016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444DC4D-81AE-80F2-A2B4-BDCF61445810}"/>
                </a:ext>
              </a:extLst>
            </p:cNvPr>
            <p:cNvSpPr/>
            <p:nvPr/>
          </p:nvSpPr>
          <p:spPr>
            <a:xfrm>
              <a:off x="3719520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Move outline">
              <a:extLst>
                <a:ext uri="{FF2B5EF4-FFF2-40B4-BE49-F238E27FC236}">
                  <a16:creationId xmlns:a16="http://schemas.microsoft.com/office/drawing/2014/main" id="{29B787DF-86FD-6FD5-9C15-3F6672C9C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22403" y="368999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1909DA1-396C-516D-4079-56C71FA2B476}"/>
              </a:ext>
            </a:extLst>
          </p:cNvPr>
          <p:cNvGrpSpPr/>
          <p:nvPr/>
        </p:nvGrpSpPr>
        <p:grpSpPr>
          <a:xfrm>
            <a:off x="1188755" y="4865391"/>
            <a:ext cx="1120169" cy="1120169"/>
            <a:chOff x="1188755" y="4865391"/>
            <a:chExt cx="1120169" cy="112016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EEAF88D-3337-DF2B-6DBB-1524E906F229}"/>
                </a:ext>
              </a:extLst>
            </p:cNvPr>
            <p:cNvSpPr/>
            <p:nvPr/>
          </p:nvSpPr>
          <p:spPr>
            <a:xfrm>
              <a:off x="1188755" y="486539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ights On outline">
              <a:extLst>
                <a:ext uri="{FF2B5EF4-FFF2-40B4-BE49-F238E27FC236}">
                  <a16:creationId xmlns:a16="http://schemas.microsoft.com/office/drawing/2014/main" id="{60203969-AA16-BFDC-6284-A16ED021C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291639" y="496827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D062AE-A919-E9CF-5210-5A0341D9EE47}"/>
              </a:ext>
            </a:extLst>
          </p:cNvPr>
          <p:cNvGrpSpPr/>
          <p:nvPr/>
        </p:nvGrpSpPr>
        <p:grpSpPr>
          <a:xfrm>
            <a:off x="2454138" y="4865391"/>
            <a:ext cx="1120169" cy="1120169"/>
            <a:chOff x="2454138" y="4865391"/>
            <a:chExt cx="1120169" cy="112016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9811B5-2929-38E5-D714-967E2EEBB326}"/>
                </a:ext>
              </a:extLst>
            </p:cNvPr>
            <p:cNvSpPr/>
            <p:nvPr/>
          </p:nvSpPr>
          <p:spPr>
            <a:xfrm>
              <a:off x="2454138" y="486539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 descr="Magnifying glass outline">
              <a:extLst>
                <a:ext uri="{FF2B5EF4-FFF2-40B4-BE49-F238E27FC236}">
                  <a16:creationId xmlns:a16="http://schemas.microsoft.com/office/drawing/2014/main" id="{316DA420-3391-84F6-2D4D-240B6F6FC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63185" y="4965732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21ACB0-F7CD-BAC0-71E4-676D0BC64310}"/>
              </a:ext>
            </a:extLst>
          </p:cNvPr>
          <p:cNvGrpSpPr/>
          <p:nvPr/>
        </p:nvGrpSpPr>
        <p:grpSpPr>
          <a:xfrm>
            <a:off x="3719520" y="4865391"/>
            <a:ext cx="1120169" cy="1120169"/>
            <a:chOff x="3719520" y="4865391"/>
            <a:chExt cx="1120169" cy="112016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FF98E90-BCD2-9FD0-178F-A704A46CB708}"/>
                </a:ext>
              </a:extLst>
            </p:cNvPr>
            <p:cNvSpPr/>
            <p:nvPr/>
          </p:nvSpPr>
          <p:spPr>
            <a:xfrm>
              <a:off x="3719520" y="486539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Brain outline">
              <a:extLst>
                <a:ext uri="{FF2B5EF4-FFF2-40B4-BE49-F238E27FC236}">
                  <a16:creationId xmlns:a16="http://schemas.microsoft.com/office/drawing/2014/main" id="{CB5AD58C-AC2E-A9EE-0D66-41C730FBD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822403" y="4957139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D812012-23BA-F3CF-2EC8-AFFF00EA4F5B}"/>
              </a:ext>
            </a:extLst>
          </p:cNvPr>
          <p:cNvSpPr txBox="1"/>
          <p:nvPr/>
        </p:nvSpPr>
        <p:spPr>
          <a:xfrm>
            <a:off x="-7099671" y="550776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Copilarie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familie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pic>
        <p:nvPicPr>
          <p:cNvPr id="59" name="Picture 2" descr="Timeline of Isaac Newton | Sutori">
            <a:extLst>
              <a:ext uri="{FF2B5EF4-FFF2-40B4-BE49-F238E27FC236}">
                <a16:creationId xmlns:a16="http://schemas.microsoft.com/office/drawing/2014/main" id="{AA52AAE9-A674-55B1-29A9-CC3DE0410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720" y="2093976"/>
            <a:ext cx="2614515" cy="32942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66E969A-D568-2F42-8C70-503247FF880D}"/>
              </a:ext>
            </a:extLst>
          </p:cNvPr>
          <p:cNvSpPr txBox="1"/>
          <p:nvPr/>
        </p:nvSpPr>
        <p:spPr>
          <a:xfrm>
            <a:off x="928255" y="-8004344"/>
            <a:ext cx="1033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</a:t>
            </a:r>
          </a:p>
        </p:txBody>
      </p:sp>
    </p:spTree>
    <p:extLst>
      <p:ext uri="{BB962C8B-B14F-4D97-AF65-F5344CB8AC3E}">
        <p14:creationId xmlns:p14="http://schemas.microsoft.com/office/powerpoint/2010/main" val="3410365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B982E-0B43-ED26-0C47-567D2A7F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3A1E401-D00C-67D6-BA6A-EE9207B14FDA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D0DF73-4269-73C2-96FD-ED8B5BD74E9C}"/>
              </a:ext>
            </a:extLst>
          </p:cNvPr>
          <p:cNvSpPr/>
          <p:nvPr/>
        </p:nvSpPr>
        <p:spPr>
          <a:xfrm>
            <a:off x="8601753" y="1929231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saac Newto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453FA4AC-4840-E34F-2543-215D1A946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7211" y="867019"/>
            <a:ext cx="4003789" cy="400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4ABE04-DDA8-5691-A661-C838B134127C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FE3EA3-82C4-E396-17ED-E31FE9A8A64B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23C4DA-2EE6-AE13-54C3-A7DAABE61B07}"/>
              </a:ext>
            </a:extLst>
          </p:cNvPr>
          <p:cNvSpPr txBox="1"/>
          <p:nvPr/>
        </p:nvSpPr>
        <p:spPr>
          <a:xfrm>
            <a:off x="12191998" y="507418"/>
            <a:ext cx="5569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Cuprins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FC5C88-79A8-02B2-1533-3680B93D3815}"/>
              </a:ext>
            </a:extLst>
          </p:cNvPr>
          <p:cNvGrpSpPr/>
          <p:nvPr/>
        </p:nvGrpSpPr>
        <p:grpSpPr>
          <a:xfrm>
            <a:off x="7353300" y="7363900"/>
            <a:ext cx="4838700" cy="2030791"/>
            <a:chOff x="7353300" y="4836350"/>
            <a:chExt cx="4838700" cy="203079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699A2B0-ACEF-68BC-8F2F-148E3B0C9DD5}"/>
                </a:ext>
              </a:extLst>
            </p:cNvPr>
            <p:cNvSpPr/>
            <p:nvPr/>
          </p:nvSpPr>
          <p:spPr>
            <a:xfrm>
              <a:off x="7353300" y="4836350"/>
              <a:ext cx="4838700" cy="2030791"/>
            </a:xfrm>
            <a:prstGeom prst="roundRect">
              <a:avLst>
                <a:gd name="adj" fmla="val 11664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C4672D-B950-CFD9-3630-540989A101C3}"/>
                </a:ext>
              </a:extLst>
            </p:cNvPr>
            <p:cNvGrpSpPr/>
            <p:nvPr/>
          </p:nvGrpSpPr>
          <p:grpSpPr>
            <a:xfrm>
              <a:off x="7653497" y="5005716"/>
              <a:ext cx="4309903" cy="1807040"/>
              <a:chOff x="7653497" y="5005716"/>
              <a:chExt cx="4309903" cy="1807040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ADF712-3324-09E6-86D0-CC7B6B2F22C9}"/>
                  </a:ext>
                </a:extLst>
              </p:cNvPr>
              <p:cNvSpPr txBox="1"/>
              <p:nvPr/>
            </p:nvSpPr>
            <p:spPr>
              <a:xfrm>
                <a:off x="7653497" y="5005716"/>
                <a:ext cx="1782603" cy="408623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Isaac Newton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113F5B-9A3C-30A1-9B0E-90C4F119911F}"/>
                  </a:ext>
                </a:extLst>
              </p:cNvPr>
              <p:cNvSpPr txBox="1"/>
              <p:nvPr/>
            </p:nvSpPr>
            <p:spPr>
              <a:xfrm>
                <a:off x="7653497" y="5374365"/>
                <a:ext cx="1219200" cy="391597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solidFill>
                      <a:schemeClr val="bg1"/>
                    </a:solidFill>
                  </a:rPr>
                  <a:t>1643-1727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7D09F3-1CEA-DC3F-B47C-2B15D69F7ECC}"/>
                  </a:ext>
                </a:extLst>
              </p:cNvPr>
              <p:cNvSpPr txBox="1"/>
              <p:nvPr/>
            </p:nvSpPr>
            <p:spPr>
              <a:xfrm>
                <a:off x="7653499" y="5757148"/>
                <a:ext cx="4309901" cy="1055608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Isaac Newton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fost</a:t>
                </a:r>
                <a:r>
                  <a:rPr lang="en-US" sz="1400" dirty="0">
                    <a:solidFill>
                      <a:schemeClr val="bg1"/>
                    </a:solidFill>
                  </a:rPr>
                  <a:t> un om de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știință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englez</a:t>
                </a:r>
                <a:r>
                  <a:rPr lang="en-US" sz="1400" dirty="0">
                    <a:solidFill>
                      <a:schemeClr val="bg1"/>
                    </a:solidFill>
                  </a:rPr>
                  <a:t>,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cunoscut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pentru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legea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gravitației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cele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trei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legi</a:t>
                </a:r>
                <a:r>
                  <a:rPr lang="en-US" sz="1400" dirty="0">
                    <a:solidFill>
                      <a:schemeClr val="bg1"/>
                    </a:solidFill>
                  </a:rPr>
                  <a:t> ale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mișcării</a:t>
                </a:r>
                <a:r>
                  <a:rPr lang="en-US" sz="1400" dirty="0">
                    <a:solidFill>
                      <a:schemeClr val="bg1"/>
                    </a:solidFill>
                  </a:rPr>
                  <a:t>. A pus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bazele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fizicii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clasice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contribuit</a:t>
                </a:r>
                <a:r>
                  <a:rPr lang="en-US" sz="1400" dirty="0">
                    <a:solidFill>
                      <a:schemeClr val="bg1"/>
                    </a:solidFill>
                  </a:rPr>
                  <a:t> major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și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în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matematică</a:t>
                </a:r>
                <a:r>
                  <a:rPr lang="en-US" sz="1400" dirty="0">
                    <a:solidFill>
                      <a:schemeClr val="bg1"/>
                    </a:solidFill>
                  </a:rPr>
                  <a:t>. 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B9E450-F612-8E20-A977-D52DF13654CB}"/>
              </a:ext>
            </a:extLst>
          </p:cNvPr>
          <p:cNvGrpSpPr/>
          <p:nvPr/>
        </p:nvGrpSpPr>
        <p:grpSpPr>
          <a:xfrm>
            <a:off x="1188755" y="-1476392"/>
            <a:ext cx="1120169" cy="1120169"/>
            <a:chOff x="1188755" y="2308831"/>
            <a:chExt cx="1120169" cy="112016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5EA11E0-6086-B937-B19A-92F2081207AD}"/>
                </a:ext>
              </a:extLst>
            </p:cNvPr>
            <p:cNvSpPr/>
            <p:nvPr/>
          </p:nvSpPr>
          <p:spPr>
            <a:xfrm>
              <a:off x="1188755" y="230883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Graphic 29" descr="Family with girl outline">
              <a:extLst>
                <a:ext uri="{FF2B5EF4-FFF2-40B4-BE49-F238E27FC236}">
                  <a16:creationId xmlns:a16="http://schemas.microsoft.com/office/drawing/2014/main" id="{B8EFDAF3-D5B2-CB0C-71C5-E4D46FBAA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1639" y="241954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20BC7E-3FA9-F155-BE95-4C925A380496}"/>
              </a:ext>
            </a:extLst>
          </p:cNvPr>
          <p:cNvGrpSpPr/>
          <p:nvPr/>
        </p:nvGrpSpPr>
        <p:grpSpPr>
          <a:xfrm>
            <a:off x="2454138" y="-2652700"/>
            <a:ext cx="1120169" cy="1120169"/>
            <a:chOff x="2454138" y="-2652700"/>
            <a:chExt cx="1120169" cy="112016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CFCBA7E-C958-B57E-0E20-9CDA63F77287}"/>
                </a:ext>
              </a:extLst>
            </p:cNvPr>
            <p:cNvSpPr/>
            <p:nvPr/>
          </p:nvSpPr>
          <p:spPr>
            <a:xfrm>
              <a:off x="2454138" y="-2652700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Graduation cap outline">
              <a:extLst>
                <a:ext uri="{FF2B5EF4-FFF2-40B4-BE49-F238E27FC236}">
                  <a16:creationId xmlns:a16="http://schemas.microsoft.com/office/drawing/2014/main" id="{F796C0A6-7F3F-95BD-03D8-55110D362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3185" y="-254585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5AD51DA-82AC-4BC4-B341-81EFC0DA16B2}"/>
              </a:ext>
            </a:extLst>
          </p:cNvPr>
          <p:cNvGrpSpPr/>
          <p:nvPr/>
        </p:nvGrpSpPr>
        <p:grpSpPr>
          <a:xfrm>
            <a:off x="3719518" y="-1235074"/>
            <a:ext cx="1120169" cy="1120169"/>
            <a:chOff x="3719519" y="2308830"/>
            <a:chExt cx="1120169" cy="112016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78AC046-C825-4AF7-8B4B-E00CA1B8058E}"/>
                </a:ext>
              </a:extLst>
            </p:cNvPr>
            <p:cNvSpPr/>
            <p:nvPr/>
          </p:nvSpPr>
          <p:spPr>
            <a:xfrm>
              <a:off x="3719519" y="2308830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 descr="Man outline">
              <a:extLst>
                <a:ext uri="{FF2B5EF4-FFF2-40B4-BE49-F238E27FC236}">
                  <a16:creationId xmlns:a16="http://schemas.microsoft.com/office/drawing/2014/main" id="{FCAFB969-C805-4B15-BCC8-0F68757E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22403" y="2411714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93B1B07-5CA3-35CC-8B28-7871A5CFB0F1}"/>
              </a:ext>
            </a:extLst>
          </p:cNvPr>
          <p:cNvGrpSpPr/>
          <p:nvPr/>
        </p:nvGrpSpPr>
        <p:grpSpPr>
          <a:xfrm>
            <a:off x="1188755" y="-2913799"/>
            <a:ext cx="1120169" cy="1120169"/>
            <a:chOff x="1188755" y="3587111"/>
            <a:chExt cx="1120169" cy="112016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6ADE49F-F092-2621-ECD4-363AAE1EF5F5}"/>
                </a:ext>
              </a:extLst>
            </p:cNvPr>
            <p:cNvSpPr/>
            <p:nvPr/>
          </p:nvSpPr>
          <p:spPr>
            <a:xfrm>
              <a:off x="1188755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Remote learning math outline">
              <a:extLst>
                <a:ext uri="{FF2B5EF4-FFF2-40B4-BE49-F238E27FC236}">
                  <a16:creationId xmlns:a16="http://schemas.microsoft.com/office/drawing/2014/main" id="{1B3D994E-EDA2-816F-B1C7-048864FA3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91639" y="368999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53DA5CA-A8D1-006F-3BB2-E244B94DA940}"/>
              </a:ext>
            </a:extLst>
          </p:cNvPr>
          <p:cNvGrpSpPr/>
          <p:nvPr/>
        </p:nvGrpSpPr>
        <p:grpSpPr>
          <a:xfrm>
            <a:off x="2454138" y="-3964478"/>
            <a:ext cx="1120169" cy="1120169"/>
            <a:chOff x="2454138" y="3587111"/>
            <a:chExt cx="1120169" cy="112016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7D4E649-B224-1317-2596-606620901800}"/>
                </a:ext>
              </a:extLst>
            </p:cNvPr>
            <p:cNvSpPr/>
            <p:nvPr/>
          </p:nvSpPr>
          <p:spPr>
            <a:xfrm>
              <a:off x="2454138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Gravity - Free education icons">
              <a:extLst>
                <a:ext uri="{FF2B5EF4-FFF2-40B4-BE49-F238E27FC236}">
                  <a16:creationId xmlns:a16="http://schemas.microsoft.com/office/drawing/2014/main" id="{5E98E1EB-6F61-3E57-2599-708D4DF2A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3049" y="3621716"/>
              <a:ext cx="1031050" cy="1031050"/>
            </a:xfrm>
            <a:prstGeom prst="rect">
              <a:avLst/>
            </a:prstGeom>
            <a:noFill/>
            <a:effectLst>
              <a:glow rad="63500">
                <a:srgbClr val="131F24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235C81-008A-FDCB-1AF1-998FF08D4026}"/>
              </a:ext>
            </a:extLst>
          </p:cNvPr>
          <p:cNvGrpSpPr/>
          <p:nvPr/>
        </p:nvGrpSpPr>
        <p:grpSpPr>
          <a:xfrm>
            <a:off x="3719518" y="7221217"/>
            <a:ext cx="1120169" cy="1120169"/>
            <a:chOff x="3719520" y="3587111"/>
            <a:chExt cx="1120169" cy="112016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04AEE0D-5D79-3BCB-7FE8-F0A5113657D7}"/>
                </a:ext>
              </a:extLst>
            </p:cNvPr>
            <p:cNvSpPr/>
            <p:nvPr/>
          </p:nvSpPr>
          <p:spPr>
            <a:xfrm>
              <a:off x="3719520" y="358711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Move outline">
              <a:extLst>
                <a:ext uri="{FF2B5EF4-FFF2-40B4-BE49-F238E27FC236}">
                  <a16:creationId xmlns:a16="http://schemas.microsoft.com/office/drawing/2014/main" id="{8C6EA65B-8DB5-9A3A-87D3-1C562A4F2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22403" y="368999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400722-8D12-FC8F-9FBA-201BEA52CAE2}"/>
              </a:ext>
            </a:extLst>
          </p:cNvPr>
          <p:cNvGrpSpPr/>
          <p:nvPr/>
        </p:nvGrpSpPr>
        <p:grpSpPr>
          <a:xfrm>
            <a:off x="1188755" y="8980470"/>
            <a:ext cx="1120169" cy="1120169"/>
            <a:chOff x="1188755" y="4865391"/>
            <a:chExt cx="1120169" cy="112016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13AAEA5-9FEB-0C06-486C-ABC1E21DCA22}"/>
                </a:ext>
              </a:extLst>
            </p:cNvPr>
            <p:cNvSpPr/>
            <p:nvPr/>
          </p:nvSpPr>
          <p:spPr>
            <a:xfrm>
              <a:off x="1188755" y="486539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ights On outline">
              <a:extLst>
                <a:ext uri="{FF2B5EF4-FFF2-40B4-BE49-F238E27FC236}">
                  <a16:creationId xmlns:a16="http://schemas.microsoft.com/office/drawing/2014/main" id="{736358C0-3875-1C90-1D5F-D79639266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291639" y="4968275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B5FC58-BBAE-2848-A508-40E9ED592672}"/>
              </a:ext>
            </a:extLst>
          </p:cNvPr>
          <p:cNvGrpSpPr/>
          <p:nvPr/>
        </p:nvGrpSpPr>
        <p:grpSpPr>
          <a:xfrm>
            <a:off x="2449249" y="7436748"/>
            <a:ext cx="1120169" cy="1120169"/>
            <a:chOff x="2449249" y="7436748"/>
            <a:chExt cx="1120169" cy="112016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66B7E68-52D2-2E0C-5984-C52C1E5E1CD7}"/>
                </a:ext>
              </a:extLst>
            </p:cNvPr>
            <p:cNvSpPr/>
            <p:nvPr/>
          </p:nvSpPr>
          <p:spPr>
            <a:xfrm>
              <a:off x="2449249" y="7436748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 descr="Magnifying glass outline">
              <a:extLst>
                <a:ext uri="{FF2B5EF4-FFF2-40B4-BE49-F238E27FC236}">
                  <a16:creationId xmlns:a16="http://schemas.microsoft.com/office/drawing/2014/main" id="{3F2EA763-48C7-5C4F-F1AE-EAFFA5431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58296" y="7537089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C02A25-02B5-36E2-2F8E-19E5936D752A}"/>
              </a:ext>
            </a:extLst>
          </p:cNvPr>
          <p:cNvGrpSpPr/>
          <p:nvPr/>
        </p:nvGrpSpPr>
        <p:grpSpPr>
          <a:xfrm>
            <a:off x="3719518" y="10008891"/>
            <a:ext cx="1120169" cy="1120169"/>
            <a:chOff x="3719520" y="4865391"/>
            <a:chExt cx="1120169" cy="112016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CD38D99-D440-1A30-F6A4-E4ECDA84E720}"/>
                </a:ext>
              </a:extLst>
            </p:cNvPr>
            <p:cNvSpPr/>
            <p:nvPr/>
          </p:nvSpPr>
          <p:spPr>
            <a:xfrm>
              <a:off x="3719520" y="4865391"/>
              <a:ext cx="1120169" cy="1120169"/>
            </a:xfrm>
            <a:prstGeom prst="rect">
              <a:avLst/>
            </a:prstGeom>
            <a:gradFill flip="none" rotWithShape="1">
              <a:gsLst>
                <a:gs pos="1000">
                  <a:srgbClr val="50656C">
                    <a:alpha val="65000"/>
                  </a:srgbClr>
                </a:gs>
                <a:gs pos="100000">
                  <a:srgbClr val="131F24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5065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Brain outline">
              <a:extLst>
                <a:ext uri="{FF2B5EF4-FFF2-40B4-BE49-F238E27FC236}">
                  <a16:creationId xmlns:a16="http://schemas.microsoft.com/office/drawing/2014/main" id="{1250F848-AC84-30EF-23C4-1097DF67D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822403" y="4957139"/>
              <a:ext cx="914400" cy="914400"/>
            </a:xfrm>
            <a:prstGeom prst="rect">
              <a:avLst/>
            </a:prstGeom>
            <a:effectLst>
              <a:glow rad="63500">
                <a:srgbClr val="131F24">
                  <a:alpha val="40000"/>
                </a:srgbClr>
              </a:glo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CAB0F1-207D-AA69-6FAB-5DD24D5287A9}"/>
              </a:ext>
            </a:extLst>
          </p:cNvPr>
          <p:cNvSpPr txBox="1"/>
          <p:nvPr/>
        </p:nvSpPr>
        <p:spPr>
          <a:xfrm>
            <a:off x="2657102" y="507419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Copilarie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familie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26E6C2-3D05-2AEA-E144-37ADCAAC7C40}"/>
              </a:ext>
            </a:extLst>
          </p:cNvPr>
          <p:cNvSpPr txBox="1"/>
          <p:nvPr/>
        </p:nvSpPr>
        <p:spPr>
          <a:xfrm>
            <a:off x="-6877792" y="507418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Educatie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Formare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pic>
        <p:nvPicPr>
          <p:cNvPr id="3074" name="Picture 2" descr="Timeline of Isaac Newton | Sutori">
            <a:extLst>
              <a:ext uri="{FF2B5EF4-FFF2-40B4-BE49-F238E27FC236}">
                <a16:creationId xmlns:a16="http://schemas.microsoft.com/office/drawing/2014/main" id="{3E7BB610-0A7C-7CA3-7090-971C2DDA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1707" y="2089840"/>
            <a:ext cx="2614515" cy="32942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9C8D563-0EAA-6072-03AE-3D8C03033DE6}"/>
              </a:ext>
            </a:extLst>
          </p:cNvPr>
          <p:cNvSpPr txBox="1"/>
          <p:nvPr/>
        </p:nvSpPr>
        <p:spPr>
          <a:xfrm>
            <a:off x="435427" y="2303385"/>
            <a:ext cx="66765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Născut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pe 25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decembrie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1643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Woolsthorpe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, Anglia.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bg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Tatăl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său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murit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înainte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naștere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;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crescut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bunica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maternă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bg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Copil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prematur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fragil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supraviețuind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datorită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îngrijirii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speciale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bg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La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vârsta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de 12 ani,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trimis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la The King's School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Grantham,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unde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învățat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limba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latină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greacă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veche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56648F-0C7B-1CEE-0535-5007848EE143}"/>
              </a:ext>
            </a:extLst>
          </p:cNvPr>
          <p:cNvGrpSpPr/>
          <p:nvPr/>
        </p:nvGrpSpPr>
        <p:grpSpPr>
          <a:xfrm>
            <a:off x="9151707" y="5206755"/>
            <a:ext cx="2614515" cy="597507"/>
            <a:chOff x="425777" y="5130800"/>
            <a:chExt cx="3066725" cy="597507"/>
          </a:xfrm>
        </p:grpSpPr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B4DAB68A-022B-9B7B-7DEB-FB9F8AFC4518}"/>
                </a:ext>
              </a:extLst>
            </p:cNvPr>
            <p:cNvSpPr/>
            <p:nvPr/>
          </p:nvSpPr>
          <p:spPr>
            <a:xfrm rot="10800000">
              <a:off x="425777" y="5130800"/>
              <a:ext cx="3066723" cy="597507"/>
            </a:xfrm>
            <a:prstGeom prst="round2SameRect">
              <a:avLst/>
            </a:prstGeom>
            <a:solidFill>
              <a:srgbClr val="131F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A8D7B8-BF4C-05AF-EE34-AE123070368D}"/>
                </a:ext>
              </a:extLst>
            </p:cNvPr>
            <p:cNvSpPr txBox="1"/>
            <p:nvPr/>
          </p:nvSpPr>
          <p:spPr>
            <a:xfrm>
              <a:off x="517521" y="5287828"/>
              <a:ext cx="2974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Newton in 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copilarie</a:t>
              </a:r>
              <a:endPara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08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2EBD4-884C-97E7-1CA8-1C2F1917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2F88E73-EC45-8F7E-D8F9-EBDDA16B05F4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5E21A0-09B2-15C0-8F84-C8C5EC9CA599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F828C5-B007-85C2-8DEB-705176CE4463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48DAD1-1649-EC76-FAB5-802E76CD9E14}"/>
              </a:ext>
            </a:extLst>
          </p:cNvPr>
          <p:cNvSpPr txBox="1"/>
          <p:nvPr/>
        </p:nvSpPr>
        <p:spPr>
          <a:xfrm>
            <a:off x="2657102" y="507419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Educatie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Formare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389FA-3F6F-45B7-7C27-3B0DFA1FEF9E}"/>
              </a:ext>
            </a:extLst>
          </p:cNvPr>
          <p:cNvSpPr txBox="1"/>
          <p:nvPr/>
        </p:nvSpPr>
        <p:spPr>
          <a:xfrm>
            <a:off x="-8810171" y="507418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Personalitate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viata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privata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1F9BE-66B6-F1F4-4127-DF4D2719C4EE}"/>
              </a:ext>
            </a:extLst>
          </p:cNvPr>
          <p:cNvSpPr txBox="1"/>
          <p:nvPr/>
        </p:nvSpPr>
        <p:spPr>
          <a:xfrm>
            <a:off x="12467852" y="507418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Copilarie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familie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pic>
        <p:nvPicPr>
          <p:cNvPr id="24" name="Picture 2" descr="Timeline of Isaac Newton | Sutori">
            <a:extLst>
              <a:ext uri="{FF2B5EF4-FFF2-40B4-BE49-F238E27FC236}">
                <a16:creationId xmlns:a16="http://schemas.microsoft.com/office/drawing/2014/main" id="{42382F81-5E46-FB67-FAD0-C67772E17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2089840"/>
            <a:ext cx="2614515" cy="32942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19A44D56-FAF9-3945-47D6-7EDE1080F2FC}"/>
              </a:ext>
            </a:extLst>
          </p:cNvPr>
          <p:cNvSpPr/>
          <p:nvPr/>
        </p:nvSpPr>
        <p:spPr>
          <a:xfrm>
            <a:off x="118153" y="2013886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CB4FB2-4798-F203-C51C-6F9DB9F293B3}"/>
              </a:ext>
            </a:extLst>
          </p:cNvPr>
          <p:cNvSpPr txBox="1"/>
          <p:nvPr/>
        </p:nvSpPr>
        <p:spPr>
          <a:xfrm>
            <a:off x="5089649" y="1970337"/>
            <a:ext cx="667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studiat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la Trinity College, Cambridge,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începând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din 1661.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timpul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epidemiei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ciumă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din 1665, s-a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retras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la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Woolsthorpe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unde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realizat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descoperiri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majore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1667, s-a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întors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la Cambridge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ales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membru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al Trinity College.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1669, 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succedat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pe Isaac Barrow la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catedra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matematică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lucasiana</a:t>
            </a:r>
            <a:r>
              <a:rPr lang="en-US" b="0" i="0" dirty="0">
                <a:solidFill>
                  <a:schemeClr val="bg1"/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la Cambridge. </a:t>
            </a:r>
            <a:b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4098" name="Picture 2" descr="Medieval Cambridge (Chapter 3) - The Story of Cambridge">
            <a:extLst>
              <a:ext uri="{FF2B5EF4-FFF2-40B4-BE49-F238E27FC236}">
                <a16:creationId xmlns:a16="http://schemas.microsoft.com/office/drawing/2014/main" id="{17FFF370-8569-4ECB-3B05-E0E1EC94A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9" y="2494734"/>
            <a:ext cx="3333750" cy="27527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4B57167-2928-20F3-3D61-AFEB6E2E1F2D}"/>
              </a:ext>
            </a:extLst>
          </p:cNvPr>
          <p:cNvGrpSpPr/>
          <p:nvPr/>
        </p:nvGrpSpPr>
        <p:grpSpPr>
          <a:xfrm>
            <a:off x="425777" y="5130800"/>
            <a:ext cx="3066725" cy="597507"/>
            <a:chOff x="425777" y="5130800"/>
            <a:chExt cx="3066725" cy="597507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2E36C2E1-CFE6-19BE-E930-9EA33F0C4C41}"/>
                </a:ext>
              </a:extLst>
            </p:cNvPr>
            <p:cNvSpPr/>
            <p:nvPr/>
          </p:nvSpPr>
          <p:spPr>
            <a:xfrm rot="10800000">
              <a:off x="425777" y="5130800"/>
              <a:ext cx="3066723" cy="597507"/>
            </a:xfrm>
            <a:prstGeom prst="round2SameRect">
              <a:avLst/>
            </a:prstGeom>
            <a:solidFill>
              <a:srgbClr val="131F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A682D5-6F85-A773-B300-3628BC5D0942}"/>
                </a:ext>
              </a:extLst>
            </p:cNvPr>
            <p:cNvSpPr txBox="1"/>
            <p:nvPr/>
          </p:nvSpPr>
          <p:spPr>
            <a:xfrm>
              <a:off x="517521" y="5287828"/>
              <a:ext cx="29749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Cambridge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164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53145-20BD-AA58-556A-6B8F285C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5E87BD1-7F34-21E9-FA33-41B95B390EF7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C5CB64-5CB0-A9E3-3C81-6F1B8CD180F0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0DBA4-7DDF-ECAA-B809-9818BA31FE8B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5404B36-9606-0816-0D47-BDB1A69029DE}"/>
              </a:ext>
            </a:extLst>
          </p:cNvPr>
          <p:cNvSpPr txBox="1"/>
          <p:nvPr/>
        </p:nvSpPr>
        <p:spPr>
          <a:xfrm>
            <a:off x="12192000" y="507418"/>
            <a:ext cx="68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Educatie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Formare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4D3A1-68F9-218E-8E8D-7FE05DC83736}"/>
              </a:ext>
            </a:extLst>
          </p:cNvPr>
          <p:cNvSpPr txBox="1"/>
          <p:nvPr/>
        </p:nvSpPr>
        <p:spPr>
          <a:xfrm>
            <a:off x="1690913" y="50741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Personalitate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viata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privata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6C604-3635-1CC9-EDC1-A6C0654E0E90}"/>
              </a:ext>
            </a:extLst>
          </p:cNvPr>
          <p:cNvSpPr txBox="1"/>
          <p:nvPr/>
        </p:nvSpPr>
        <p:spPr>
          <a:xfrm>
            <a:off x="-9252390" y="50741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Contributii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in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matematica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97724E-5452-5939-F229-D0083DBBA9CB}"/>
              </a:ext>
            </a:extLst>
          </p:cNvPr>
          <p:cNvGrpSpPr/>
          <p:nvPr/>
        </p:nvGrpSpPr>
        <p:grpSpPr>
          <a:xfrm>
            <a:off x="915427" y="4894381"/>
            <a:ext cx="2614515" cy="680227"/>
            <a:chOff x="425777" y="5130800"/>
            <a:chExt cx="3066725" cy="680227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B2DA8FE2-73F3-6EC3-7EDF-8A4DC9BF65FD}"/>
                </a:ext>
              </a:extLst>
            </p:cNvPr>
            <p:cNvSpPr/>
            <p:nvPr/>
          </p:nvSpPr>
          <p:spPr>
            <a:xfrm rot="10800000">
              <a:off x="425777" y="5130800"/>
              <a:ext cx="3066723" cy="597507"/>
            </a:xfrm>
            <a:prstGeom prst="round2SameRect">
              <a:avLst/>
            </a:prstGeom>
            <a:solidFill>
              <a:srgbClr val="131F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A0CABE-451A-0927-FCB9-059479AC4477}"/>
                </a:ext>
              </a:extLst>
            </p:cNvPr>
            <p:cNvSpPr txBox="1"/>
            <p:nvPr/>
          </p:nvSpPr>
          <p:spPr>
            <a:xfrm>
              <a:off x="517521" y="5164696"/>
              <a:ext cx="29749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Isaac Newton in 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persoana</a:t>
              </a:r>
              <a:endPara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163C0EE-42F7-C248-6FD6-7BBACD72516F}"/>
              </a:ext>
            </a:extLst>
          </p:cNvPr>
          <p:cNvSpPr txBox="1"/>
          <p:nvPr/>
        </p:nvSpPr>
        <p:spPr>
          <a:xfrm>
            <a:off x="5089649" y="2028825"/>
            <a:ext cx="667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Nu s-a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căsătorit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niciodată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era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cunoscut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natura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introvertită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avut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conflicte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savanți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contemporani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precum Robert Hooke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Gottfried Leibniz.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Pasionat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alchimie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teologie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dedicat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mult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timp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studiilor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aceste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domenii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1696,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numit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warden al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Monedei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Regale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ulterior, master al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Monedei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responsabil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combaterea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falsificării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monedei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</p:txBody>
      </p:sp>
      <p:pic>
        <p:nvPicPr>
          <p:cNvPr id="5122" name="Picture 2" descr="Newton | Lapham's Quarterly">
            <a:extLst>
              <a:ext uri="{FF2B5EF4-FFF2-40B4-BE49-F238E27FC236}">
                <a16:creationId xmlns:a16="http://schemas.microsoft.com/office/drawing/2014/main" id="{BC2CE2CE-3D38-9C98-FAA4-C507299AB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43" y="1779055"/>
            <a:ext cx="2536299" cy="31672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C1A234D-91EB-B983-BC85-0C49245B89EB}"/>
              </a:ext>
            </a:extLst>
          </p:cNvPr>
          <p:cNvSpPr/>
          <p:nvPr/>
        </p:nvSpPr>
        <p:spPr>
          <a:xfrm>
            <a:off x="425777" y="1648025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97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24EF6-3371-1FA0-BD51-95F451D7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A41D21-22C9-6737-656E-CA8C29332BDC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040EA0-8202-9C95-9BB1-40A96D0A6F69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5DA67F-F5C8-CE60-DF3E-525B1A2DB70E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63BAEE-4AC9-E2E9-713F-A1820E5D0EC2}"/>
              </a:ext>
            </a:extLst>
          </p:cNvPr>
          <p:cNvSpPr txBox="1"/>
          <p:nvPr/>
        </p:nvSpPr>
        <p:spPr>
          <a:xfrm>
            <a:off x="12192000" y="51338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Personalitate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viata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privata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77376-1DEA-BCC3-A8D1-51F21696AED8}"/>
              </a:ext>
            </a:extLst>
          </p:cNvPr>
          <p:cNvSpPr txBox="1"/>
          <p:nvPr/>
        </p:nvSpPr>
        <p:spPr>
          <a:xfrm>
            <a:off x="1690913" y="513386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Contributii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in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matematica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8D8F3-A0B7-6B40-7297-F6600F8DDBD9}"/>
              </a:ext>
            </a:extLst>
          </p:cNvPr>
          <p:cNvSpPr txBox="1"/>
          <p:nvPr/>
        </p:nvSpPr>
        <p:spPr>
          <a:xfrm>
            <a:off x="-9193397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Legea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gravitatiei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universale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pic>
        <p:nvPicPr>
          <p:cNvPr id="6146" name="Picture 2" descr="Annotated first edition copy of Newton's Principia | University of Sydney  Library">
            <a:extLst>
              <a:ext uri="{FF2B5EF4-FFF2-40B4-BE49-F238E27FC236}">
                <a16:creationId xmlns:a16="http://schemas.microsoft.com/office/drawing/2014/main" id="{76E79576-7CAC-99EB-9909-9133F60E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763" y="1979272"/>
            <a:ext cx="3817372" cy="30606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977940-98C5-FDE4-F690-30CCC6061B24}"/>
              </a:ext>
            </a:extLst>
          </p:cNvPr>
          <p:cNvGrpSpPr/>
          <p:nvPr/>
        </p:nvGrpSpPr>
        <p:grpSpPr>
          <a:xfrm>
            <a:off x="7988762" y="4935986"/>
            <a:ext cx="3817371" cy="652618"/>
            <a:chOff x="425775" y="5075689"/>
            <a:chExt cx="3066724" cy="652618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59B9861E-F561-08E9-F972-F4D5DEDEE90E}"/>
                </a:ext>
              </a:extLst>
            </p:cNvPr>
            <p:cNvSpPr/>
            <p:nvPr/>
          </p:nvSpPr>
          <p:spPr>
            <a:xfrm rot="10800000">
              <a:off x="425776" y="5130800"/>
              <a:ext cx="3066723" cy="597507"/>
            </a:xfrm>
            <a:prstGeom prst="round2SameRect">
              <a:avLst/>
            </a:prstGeom>
            <a:solidFill>
              <a:srgbClr val="131F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A187F5-AE41-5963-9BAE-5B40A71AA6DA}"/>
                </a:ext>
              </a:extLst>
            </p:cNvPr>
            <p:cNvSpPr txBox="1"/>
            <p:nvPr/>
          </p:nvSpPr>
          <p:spPr>
            <a:xfrm>
              <a:off x="425775" y="5075689"/>
              <a:ext cx="30667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-150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Pagina</a:t>
              </a:r>
              <a:r>
                <a:rPr lang="en-US" spc="-150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 din “Principia Mathematica”</a:t>
              </a:r>
              <a:br>
                <a:rPr lang="en-US" spc="-150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</a:br>
              <a:r>
                <a:rPr lang="en-US" spc="-150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Carte </a:t>
              </a:r>
              <a:r>
                <a:rPr lang="en-US" spc="-150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scrisa</a:t>
              </a:r>
              <a:r>
                <a:rPr lang="en-US" spc="-150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 de </a:t>
              </a:r>
              <a:r>
                <a:rPr lang="en-US" spc="-150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el</a:t>
              </a:r>
              <a:endParaRPr lang="en-US" spc="-15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11485B9-D292-C936-9AA5-ECE57B8A3C66}"/>
              </a:ext>
            </a:extLst>
          </p:cNvPr>
          <p:cNvSpPr txBox="1"/>
          <p:nvPr/>
        </p:nvSpPr>
        <p:spPr>
          <a:xfrm>
            <a:off x="604619" y="2028825"/>
            <a:ext cx="667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dezvoltat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calculul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diferențial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integral, independent de Leibniz.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formulat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teorema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binomială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generalizată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extinzând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conceptele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matematice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ale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vremii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introdus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concepte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fundamentale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analiza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matematică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influențând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dezvoltarea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ulterioară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matematicii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realizat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lucrări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semnificative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domeniul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seriilor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infinite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al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ecuațiilor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diferențiale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D23FDF-A091-C38A-335B-5C4E6E1CADBD}"/>
              </a:ext>
            </a:extLst>
          </p:cNvPr>
          <p:cNvSpPr/>
          <p:nvPr/>
        </p:nvSpPr>
        <p:spPr>
          <a:xfrm>
            <a:off x="7484365" y="1322977"/>
            <a:ext cx="4527580" cy="4527580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3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454D2-348F-28E5-F0F2-06A37EE9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2752408-95EC-4193-D3FF-8F2F427B54DF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FAEBA7-B551-33A4-B801-4A7F8832DF5D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99A01A-997B-03FC-F1A1-1ED3608BB8C5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3A845F-01A8-14D6-45E2-64F79819C1A1}"/>
              </a:ext>
            </a:extLst>
          </p:cNvPr>
          <p:cNvSpPr txBox="1"/>
          <p:nvPr/>
        </p:nvSpPr>
        <p:spPr>
          <a:xfrm>
            <a:off x="12191998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Contributii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in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matematica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7158A-54FD-D14F-B9D5-1C9BF4F2A995}"/>
              </a:ext>
            </a:extLst>
          </p:cNvPr>
          <p:cNvSpPr txBox="1"/>
          <p:nvPr/>
        </p:nvSpPr>
        <p:spPr>
          <a:xfrm>
            <a:off x="1690913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Legea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gravitatiei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universale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04CD2A-C2C7-9778-A6F5-A333EAB953E9}"/>
              </a:ext>
            </a:extLst>
          </p:cNvPr>
          <p:cNvSpPr txBox="1"/>
          <p:nvPr/>
        </p:nvSpPr>
        <p:spPr>
          <a:xfrm>
            <a:off x="-9340881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Legiile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miscarii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14954-6F46-9F0F-7A79-9681575E7702}"/>
              </a:ext>
            </a:extLst>
          </p:cNvPr>
          <p:cNvSpPr txBox="1"/>
          <p:nvPr/>
        </p:nvSpPr>
        <p:spPr>
          <a:xfrm>
            <a:off x="604619" y="2028825"/>
            <a:ext cx="667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formulat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gravitației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universale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explicând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atracția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între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mase.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Această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oferit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o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bază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matematică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mișcarea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planetelor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obiectelor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terestre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spune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ideea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-a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venit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observând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un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măr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căzând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l-a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făcut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întrebe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obiectele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cad la sol.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Descoperirile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sale au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esențiale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dezvoltarea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ulterioară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astronomiei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fizicii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734655-1732-3E7D-C276-B42B49DDB11E}"/>
              </a:ext>
            </a:extLst>
          </p:cNvPr>
          <p:cNvGrpSpPr/>
          <p:nvPr/>
        </p:nvGrpSpPr>
        <p:grpSpPr>
          <a:xfrm>
            <a:off x="8587006" y="1954992"/>
            <a:ext cx="3000375" cy="3563986"/>
            <a:chOff x="8765847" y="1680556"/>
            <a:chExt cx="3000375" cy="356398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1B2E274-CBE4-25DD-027E-C8A2DF0EDC90}"/>
                </a:ext>
              </a:extLst>
            </p:cNvPr>
            <p:cNvGrpSpPr/>
            <p:nvPr/>
          </p:nvGrpSpPr>
          <p:grpSpPr>
            <a:xfrm>
              <a:off x="8951695" y="4647035"/>
              <a:ext cx="2621595" cy="597507"/>
              <a:chOff x="417471" y="5130800"/>
              <a:chExt cx="3075029" cy="597507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BAA7C823-5A0B-600C-E6D3-BED90A346A25}"/>
                  </a:ext>
                </a:extLst>
              </p:cNvPr>
              <p:cNvSpPr/>
              <p:nvPr/>
            </p:nvSpPr>
            <p:spPr>
              <a:xfrm rot="10800000">
                <a:off x="425777" y="5130800"/>
                <a:ext cx="3066723" cy="597507"/>
              </a:xfrm>
              <a:prstGeom prst="round2SameRect">
                <a:avLst/>
              </a:prstGeom>
              <a:solidFill>
                <a:srgbClr val="131F24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13C256-C64F-3E6B-6539-90E625AFA22C}"/>
                  </a:ext>
                </a:extLst>
              </p:cNvPr>
              <p:cNvSpPr txBox="1"/>
              <p:nvPr/>
            </p:nvSpPr>
            <p:spPr>
              <a:xfrm>
                <a:off x="417471" y="5226890"/>
                <a:ext cx="29749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Biome" panose="020B0503030204020804" pitchFamily="34" charset="0"/>
                    <a:cs typeface="Biome" panose="020B0503030204020804" pitchFamily="34" charset="0"/>
                  </a:rPr>
                  <a:t>Newton sub un mar</a:t>
                </a:r>
              </a:p>
            </p:txBody>
          </p:sp>
        </p:grpSp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7E95E1AD-2B9F-6A2A-693F-7B6418811E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5847" y="1680556"/>
              <a:ext cx="3000375" cy="300037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0380778-61B1-F261-F93D-EA30906A8B11}"/>
              </a:ext>
            </a:extLst>
          </p:cNvPr>
          <p:cNvSpPr/>
          <p:nvPr/>
        </p:nvSpPr>
        <p:spPr>
          <a:xfrm>
            <a:off x="8051800" y="1804557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9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D0E5A-4D39-5F06-BBF0-E768B4BF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6919AEF-A4E5-F402-9BEF-6D9EFFC8800D}"/>
              </a:ext>
            </a:extLst>
          </p:cNvPr>
          <p:cNvSpPr/>
          <p:nvPr/>
        </p:nvSpPr>
        <p:spPr>
          <a:xfrm>
            <a:off x="-4" y="0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93ED8B-75A1-E428-1D7B-FDF79F0D39C0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E03996-23C5-35CA-DC60-29E26B709527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ADD14D4-E96F-32F3-A5B4-2B0E8B6D93A0}"/>
              </a:ext>
            </a:extLst>
          </p:cNvPr>
          <p:cNvSpPr txBox="1"/>
          <p:nvPr/>
        </p:nvSpPr>
        <p:spPr>
          <a:xfrm>
            <a:off x="12192000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Legea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gravitatiei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universale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F6785-592C-547F-7370-F57DAFFC31E9}"/>
              </a:ext>
            </a:extLst>
          </p:cNvPr>
          <p:cNvSpPr txBox="1"/>
          <p:nvPr/>
        </p:nvSpPr>
        <p:spPr>
          <a:xfrm>
            <a:off x="1690913" y="513385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Legiile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miscarii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F506A-4919-5B90-644B-682A28E163DF}"/>
              </a:ext>
            </a:extLst>
          </p:cNvPr>
          <p:cNvSpPr txBox="1"/>
          <p:nvPr/>
        </p:nvSpPr>
        <p:spPr>
          <a:xfrm>
            <a:off x="-8810173" y="525324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Optica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lumina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E3241-28B5-CEE7-5D3C-7FD4B08541C0}"/>
              </a:ext>
            </a:extLst>
          </p:cNvPr>
          <p:cNvSpPr txBox="1"/>
          <p:nvPr/>
        </p:nvSpPr>
        <p:spPr>
          <a:xfrm>
            <a:off x="5089649" y="1751826"/>
            <a:ext cx="66765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enunțat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trei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fundamentale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ale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mișcării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esențiale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mecanica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clasică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inerției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: Un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obiect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rămâne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repaus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mișcare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uniformă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dacă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nu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acționează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asupra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nicio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forță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externă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fundamentală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dinamicii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Forța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aplicată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unui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obiect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egală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produsul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masei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accelerației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sale (F = m • 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Legea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acțiunii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reacțiunii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fiecare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acțiune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există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o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reacțiune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egală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opusă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;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forțele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acționează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întotdeauna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perechi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4C749B-A1ED-219F-7442-2A330CABD7E3}"/>
              </a:ext>
            </a:extLst>
          </p:cNvPr>
          <p:cNvSpPr/>
          <p:nvPr/>
        </p:nvSpPr>
        <p:spPr>
          <a:xfrm>
            <a:off x="687613" y="1751826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Rocket - Wikipedia">
            <a:extLst>
              <a:ext uri="{FF2B5EF4-FFF2-40B4-BE49-F238E27FC236}">
                <a16:creationId xmlns:a16="http://schemas.microsoft.com/office/drawing/2014/main" id="{F91398C1-2342-0D85-0DD3-611A93EF6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155" y="1391752"/>
            <a:ext cx="2363662" cy="356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E33731B-31A5-17E1-4949-5C4645A7B12D}"/>
              </a:ext>
            </a:extLst>
          </p:cNvPr>
          <p:cNvGrpSpPr/>
          <p:nvPr/>
        </p:nvGrpSpPr>
        <p:grpSpPr>
          <a:xfrm>
            <a:off x="1371518" y="4962105"/>
            <a:ext cx="3030515" cy="1382168"/>
            <a:chOff x="1371518" y="4962105"/>
            <a:chExt cx="3030515" cy="1382168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B40E5CB9-1E64-A618-A8F1-66BBA5CFB912}"/>
                </a:ext>
              </a:extLst>
            </p:cNvPr>
            <p:cNvSpPr/>
            <p:nvPr/>
          </p:nvSpPr>
          <p:spPr>
            <a:xfrm rot="10800000">
              <a:off x="1787520" y="5316692"/>
              <a:ext cx="2614513" cy="1027581"/>
            </a:xfrm>
            <a:prstGeom prst="round2SameRect">
              <a:avLst/>
            </a:prstGeom>
            <a:solidFill>
              <a:srgbClr val="131F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676C09-B3D0-2D0E-4DF6-4DDC1F2E8F5C}"/>
                </a:ext>
              </a:extLst>
            </p:cNvPr>
            <p:cNvSpPr txBox="1"/>
            <p:nvPr/>
          </p:nvSpPr>
          <p:spPr>
            <a:xfrm>
              <a:off x="1371518" y="4962105"/>
              <a:ext cx="25362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O 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racheta</a:t>
              </a:r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 (Soyuz-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Fg</a:t>
              </a:r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) care 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foloseste</a:t>
              </a:r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 </a:t>
              </a:r>
              <a:r>
                <a:rPr lang="en-US" dirty="0" err="1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Principiul</a:t>
              </a:r>
              <a:r>
                <a:rPr lang="en-US" dirty="0">
                  <a:solidFill>
                    <a:schemeClr val="bg1"/>
                  </a:solidFill>
                  <a:latin typeface="Biome" panose="020B0503030204020804" pitchFamily="34" charset="0"/>
                  <a:cs typeface="Biome" panose="020B0503030204020804" pitchFamily="34" charset="0"/>
                </a:rPr>
                <a:t> al III-lea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6679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D8CF9-1642-766C-DBF2-D032984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110BAA7-CCD8-0079-28A5-D9B18F3EA45D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BD5E03-A2D4-18D2-67C6-2077F14C4DB3}"/>
              </a:ext>
            </a:extLst>
          </p:cNvPr>
          <p:cNvSpPr/>
          <p:nvPr/>
        </p:nvSpPr>
        <p:spPr>
          <a:xfrm>
            <a:off x="784208" y="1500235"/>
            <a:ext cx="4527580" cy="4527580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1AD6AC-0B0B-0CF7-5B6B-3C71AFA2FE61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30255A-37E3-A704-B5A4-1183CE4B7609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763DF8E-C149-7E84-4555-21D90F74A9E7}"/>
              </a:ext>
            </a:extLst>
          </p:cNvPr>
          <p:cNvSpPr txBox="1"/>
          <p:nvPr/>
        </p:nvSpPr>
        <p:spPr>
          <a:xfrm>
            <a:off x="12191998" y="525323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Legiile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miscarii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45AA6-7E72-368E-BB18-F51A9C8CE2A2}"/>
              </a:ext>
            </a:extLst>
          </p:cNvPr>
          <p:cNvSpPr txBox="1"/>
          <p:nvPr/>
        </p:nvSpPr>
        <p:spPr>
          <a:xfrm>
            <a:off x="1690914" y="602936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Optica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lumina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812E8-BD81-C181-2445-96FD7EB23F9B}"/>
              </a:ext>
            </a:extLst>
          </p:cNvPr>
          <p:cNvSpPr txBox="1"/>
          <p:nvPr/>
        </p:nvSpPr>
        <p:spPr>
          <a:xfrm>
            <a:off x="-9311384" y="525322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CUriozitati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923C8-6B44-92B3-91F3-801AD7B16A37}"/>
              </a:ext>
            </a:extLst>
          </p:cNvPr>
          <p:cNvSpPr txBox="1"/>
          <p:nvPr/>
        </p:nvSpPr>
        <p:spPr>
          <a:xfrm>
            <a:off x="6095997" y="1741035"/>
            <a:ext cx="56702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demonstrat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lumina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albă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compusă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dintr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-un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spectru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culori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prin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experimentul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prisma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construit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primul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telescop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reflector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1668,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reducând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aberațiile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cromatice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îmbunătățind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observațiile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astronomice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introdus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teoria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particulelor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lumină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contribuind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înțelegerea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naturii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luminii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Lucrările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sale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optică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au pus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bazele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opticii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fizice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moderne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B56EC14-A3B6-6C9C-DD0E-F9F677FFA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61048">
            <a:off x="65206" y="1594928"/>
            <a:ext cx="6373693" cy="416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D0C52F-835B-65AD-62FC-151A40B664BD}"/>
              </a:ext>
            </a:extLst>
          </p:cNvPr>
          <p:cNvSpPr txBox="1"/>
          <p:nvPr/>
        </p:nvSpPr>
        <p:spPr>
          <a:xfrm>
            <a:off x="638798" y="5491895"/>
            <a:ext cx="38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-15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Experimentul</a:t>
            </a:r>
            <a:r>
              <a:rPr lang="en-US" spc="-15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cu lumina</a:t>
            </a:r>
          </a:p>
        </p:txBody>
      </p:sp>
    </p:spTree>
    <p:extLst>
      <p:ext uri="{BB962C8B-B14F-4D97-AF65-F5344CB8AC3E}">
        <p14:creationId xmlns:p14="http://schemas.microsoft.com/office/powerpoint/2010/main" val="3837158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6A276-3612-4D57-CD70-01575C89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7AFEB1D-1F96-5D80-A26B-64C50AEBD70C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6ED6EF-3AF1-3D24-04B9-4FBBC74AD15B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3E4539-8DAB-B651-7882-8233296FDAFE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70675-EFE8-B128-08A9-2D96D3B0D255}"/>
              </a:ext>
            </a:extLst>
          </p:cNvPr>
          <p:cNvSpPr txBox="1"/>
          <p:nvPr/>
        </p:nvSpPr>
        <p:spPr>
          <a:xfrm>
            <a:off x="12192000" y="537599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Optica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si</a:t>
            </a:r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lumina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66C89-FC89-AFEC-5F07-B8250FCE8A06}"/>
              </a:ext>
            </a:extLst>
          </p:cNvPr>
          <p:cNvSpPr txBox="1"/>
          <p:nvPr/>
        </p:nvSpPr>
        <p:spPr>
          <a:xfrm>
            <a:off x="1690913" y="537599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CUriozitati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ADC1C-D07D-4EEE-3092-BBB2EA79040D}"/>
              </a:ext>
            </a:extLst>
          </p:cNvPr>
          <p:cNvSpPr txBox="1"/>
          <p:nvPr/>
        </p:nvSpPr>
        <p:spPr>
          <a:xfrm>
            <a:off x="-8810173" y="537598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Concluzie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30581-9A8C-4CDD-496C-3141A9A4C781}"/>
              </a:ext>
            </a:extLst>
          </p:cNvPr>
          <p:cNvSpPr txBox="1"/>
          <p:nvPr/>
        </p:nvSpPr>
        <p:spPr>
          <a:xfrm>
            <a:off x="4864100" y="2167324"/>
            <a:ext cx="6546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dinte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de-al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Newton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vândut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licitație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suma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3.000 de lire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sterline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spune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folosea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berea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prepara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cerneală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manuscrisele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numit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director al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Monedei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Regale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1696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luptat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împotriva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falsificării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monedei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Newton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cunoscut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natura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introvertită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dedicarea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față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muncă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</p:txBody>
      </p:sp>
      <p:pic>
        <p:nvPicPr>
          <p:cNvPr id="10242" name="Picture 2" descr="Engraving Of A 17th-century Brewery by Bettmann">
            <a:extLst>
              <a:ext uri="{FF2B5EF4-FFF2-40B4-BE49-F238E27FC236}">
                <a16:creationId xmlns:a16="http://schemas.microsoft.com/office/drawing/2014/main" id="{BB5C218E-E3B3-3F4B-E67C-2509203B9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53" y="1861513"/>
            <a:ext cx="4024993" cy="30858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83FAA1-2911-95CA-C749-022C93AB9A21}"/>
              </a:ext>
            </a:extLst>
          </p:cNvPr>
          <p:cNvSpPr txBox="1"/>
          <p:nvPr/>
        </p:nvSpPr>
        <p:spPr>
          <a:xfrm>
            <a:off x="627175" y="5032830"/>
            <a:ext cx="3817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berarie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fabrica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bere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din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secolul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Al XVII-lea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9C4621-A34B-E8E3-487C-97DBA13B69BE}"/>
              </a:ext>
            </a:extLst>
          </p:cNvPr>
          <p:cNvSpPr/>
          <p:nvPr/>
        </p:nvSpPr>
        <p:spPr>
          <a:xfrm>
            <a:off x="687613" y="1751826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9EF08-61DD-02B5-2001-FADD9C95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11A5083-5F51-5DFE-18E5-9E2D733CC204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0AF015-B91A-EB74-EDA9-3BB65C0CD126}"/>
              </a:ext>
            </a:extLst>
          </p:cNvPr>
          <p:cNvCxnSpPr>
            <a:cxnSpLocks/>
          </p:cNvCxnSpPr>
          <p:nvPr/>
        </p:nvCxnSpPr>
        <p:spPr>
          <a:xfrm>
            <a:off x="425777" y="1129692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42FEFB-5764-92A7-F369-28DA6D4C4C71}"/>
              </a:ext>
            </a:extLst>
          </p:cNvPr>
          <p:cNvCxnSpPr>
            <a:cxnSpLocks/>
          </p:cNvCxnSpPr>
          <p:nvPr/>
        </p:nvCxnSpPr>
        <p:spPr>
          <a:xfrm>
            <a:off x="427662" y="63442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71C50C9-EEF9-2C0B-A258-8FE84E430A42}"/>
              </a:ext>
            </a:extLst>
          </p:cNvPr>
          <p:cNvSpPr txBox="1"/>
          <p:nvPr/>
        </p:nvSpPr>
        <p:spPr>
          <a:xfrm>
            <a:off x="12191998" y="53759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CUriozitati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C5AA6-BBC9-BE67-A715-FCA70F3A3571}"/>
              </a:ext>
            </a:extLst>
          </p:cNvPr>
          <p:cNvSpPr txBox="1"/>
          <p:nvPr/>
        </p:nvSpPr>
        <p:spPr>
          <a:xfrm>
            <a:off x="1690913" y="53759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Concluzie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724BB-8F2D-CC55-EA30-3194F446BC1B}"/>
              </a:ext>
            </a:extLst>
          </p:cNvPr>
          <p:cNvSpPr txBox="1"/>
          <p:nvPr/>
        </p:nvSpPr>
        <p:spPr>
          <a:xfrm>
            <a:off x="635000" y="2167324"/>
            <a:ext cx="6546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Newton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revoluționat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știința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punând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bazele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fizicii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matematicii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moderne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Descoperirile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sale au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influențat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profund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care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înțelegem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universul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Moștenirea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continuă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inspire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influențeze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cercetarea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științifică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contemporană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președinte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al Royal Society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între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1703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1727 (cand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el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murit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).</a:t>
            </a:r>
          </a:p>
        </p:txBody>
      </p:sp>
      <p:pic>
        <p:nvPicPr>
          <p:cNvPr id="11266" name="Picture 2" descr="Royal Society - Wikipedia">
            <a:extLst>
              <a:ext uri="{FF2B5EF4-FFF2-40B4-BE49-F238E27FC236}">
                <a16:creationId xmlns:a16="http://schemas.microsoft.com/office/drawing/2014/main" id="{40BBCD3A-C0A3-5DC2-F9C1-8CA9AAD1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036" y="2004635"/>
            <a:ext cx="4017964" cy="27754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A4D84-AAF9-CE2B-FAE3-2F80726ACC8C}"/>
              </a:ext>
            </a:extLst>
          </p:cNvPr>
          <p:cNvSpPr txBox="1"/>
          <p:nvPr/>
        </p:nvSpPr>
        <p:spPr>
          <a:xfrm>
            <a:off x="7539036" y="4855965"/>
            <a:ext cx="401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Cladirea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Royal Society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350158-BE8E-4432-1708-C5DF66F6A43F}"/>
              </a:ext>
            </a:extLst>
          </p:cNvPr>
          <p:cNvSpPr/>
          <p:nvPr/>
        </p:nvSpPr>
        <p:spPr>
          <a:xfrm>
            <a:off x="7690807" y="1847765"/>
            <a:ext cx="3714422" cy="3714422"/>
          </a:xfrm>
          <a:prstGeom prst="ellipse">
            <a:avLst/>
          </a:prstGeom>
          <a:solidFill>
            <a:schemeClr val="bg1">
              <a:alpha val="1000"/>
            </a:schemeClr>
          </a:solidFill>
          <a:ln>
            <a:noFill/>
          </a:ln>
          <a:effectLst>
            <a:glow rad="1257300">
              <a:schemeClr val="bg1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10A542-FE51-E646-1587-F3A8281A8895}"/>
              </a:ext>
            </a:extLst>
          </p:cNvPr>
          <p:cNvSpPr txBox="1"/>
          <p:nvPr/>
        </p:nvSpPr>
        <p:spPr>
          <a:xfrm>
            <a:off x="928255" y="-5384459"/>
            <a:ext cx="1033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DF7FC-59D9-52A6-8A1C-BB6C04C304B8}"/>
              </a:ext>
            </a:extLst>
          </p:cNvPr>
          <p:cNvSpPr txBox="1"/>
          <p:nvPr/>
        </p:nvSpPr>
        <p:spPr>
          <a:xfrm>
            <a:off x="928255" y="10439881"/>
            <a:ext cx="10335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Multumim</a:t>
            </a:r>
            <a:r>
              <a:rPr lang="en-US" sz="3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Pentru</a:t>
            </a:r>
            <a:r>
              <a:rPr lang="en-US" sz="3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atentie</a:t>
            </a:r>
            <a:endParaRPr lang="en-US" sz="32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5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CD978-DBAB-CCC2-8C14-B8B49C51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0206B2-C2C6-B6FE-80A6-E0BAF468C262}"/>
              </a:ext>
            </a:extLst>
          </p:cNvPr>
          <p:cNvSpPr/>
          <p:nvPr/>
        </p:nvSpPr>
        <p:spPr>
          <a:xfrm>
            <a:off x="-2" y="-29143"/>
            <a:ext cx="12192000" cy="6867141"/>
          </a:xfrm>
          <a:prstGeom prst="rect">
            <a:avLst/>
          </a:prstGeom>
          <a:gradFill>
            <a:gsLst>
              <a:gs pos="56000">
                <a:srgbClr val="131F24">
                  <a:alpha val="95000"/>
                </a:srgbClr>
              </a:gs>
              <a:gs pos="100000">
                <a:schemeClr val="tx1">
                  <a:alpha val="95000"/>
                </a:schemeClr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rgbClr val="131F24">
                      <a:alpha val="50000"/>
                    </a:srgbClr>
                  </a:gs>
                  <a:gs pos="46000">
                    <a:srgbClr val="A99A66"/>
                  </a:gs>
                  <a:gs pos="100000">
                    <a:srgbClr val="131F24"/>
                  </a:gs>
                </a:gsLst>
                <a:lin ang="0" scaled="1"/>
              </a:gra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D6517C-6ED4-477C-A737-44E49B65BECD}"/>
              </a:ext>
            </a:extLst>
          </p:cNvPr>
          <p:cNvCxnSpPr>
            <a:cxnSpLocks/>
          </p:cNvCxnSpPr>
          <p:nvPr/>
        </p:nvCxnSpPr>
        <p:spPr>
          <a:xfrm>
            <a:off x="425777" y="3404427"/>
            <a:ext cx="11340445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A11E1C-4C5E-59FA-C016-A966C9C6B33F}"/>
              </a:ext>
            </a:extLst>
          </p:cNvPr>
          <p:cNvCxnSpPr>
            <a:cxnSpLocks/>
          </p:cNvCxnSpPr>
          <p:nvPr/>
        </p:nvCxnSpPr>
        <p:spPr>
          <a:xfrm>
            <a:off x="427662" y="3410577"/>
            <a:ext cx="1133856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131F24"/>
                </a:gs>
                <a:gs pos="46000">
                  <a:srgbClr val="A99A66"/>
                </a:gs>
                <a:gs pos="100000">
                  <a:srgbClr val="131F24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ED2139B-1BCF-CBBC-4D37-62331FD64882}"/>
              </a:ext>
            </a:extLst>
          </p:cNvPr>
          <p:cNvSpPr txBox="1"/>
          <p:nvPr/>
        </p:nvSpPr>
        <p:spPr>
          <a:xfrm>
            <a:off x="10682513" y="537597"/>
            <a:ext cx="8810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Newton: </a:t>
            </a:r>
            <a:r>
              <a:rPr lang="en-US" sz="24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Concluzie</a:t>
            </a:r>
            <a:endParaRPr lang="en-US" sz="24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6EEE8-FFD7-72C5-0844-DA9981720C6B}"/>
              </a:ext>
            </a:extLst>
          </p:cNvPr>
          <p:cNvSpPr txBox="1"/>
          <p:nvPr/>
        </p:nvSpPr>
        <p:spPr>
          <a:xfrm>
            <a:off x="928255" y="2222836"/>
            <a:ext cx="1033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Isaac Newton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720A3-2595-142B-70E0-880B33D2EF78}"/>
              </a:ext>
            </a:extLst>
          </p:cNvPr>
          <p:cNvSpPr txBox="1"/>
          <p:nvPr/>
        </p:nvSpPr>
        <p:spPr>
          <a:xfrm>
            <a:off x="928255" y="3536436"/>
            <a:ext cx="10335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Multumim</a:t>
            </a:r>
            <a:r>
              <a:rPr lang="en-US" sz="3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Pentru</a:t>
            </a:r>
            <a:r>
              <a:rPr lang="en-US" sz="320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atentie</a:t>
            </a:r>
            <a:r>
              <a:rPr lang="en-US" sz="320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Castellar" panose="020A0402060406010301" pitchFamily="18" charset="0"/>
              </a:rPr>
              <a:t>!!!</a:t>
            </a:r>
            <a:endParaRPr lang="en-US" sz="3200" dirty="0">
              <a:solidFill>
                <a:schemeClr val="bg1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86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908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Biome</vt:lpstr>
      <vt:lpstr>Castellar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</dc:creator>
  <cp:lastModifiedBy>Matei</cp:lastModifiedBy>
  <cp:revision>4</cp:revision>
  <dcterms:created xsi:type="dcterms:W3CDTF">2025-04-01T06:52:27Z</dcterms:created>
  <dcterms:modified xsi:type="dcterms:W3CDTF">2025-04-16T08:08:51Z</dcterms:modified>
</cp:coreProperties>
</file>