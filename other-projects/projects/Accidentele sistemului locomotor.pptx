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 autoAdjust="0"/>
  </p:normalViewPr>
  <p:slideViewPr>
    <p:cSldViewPr snapToGrid="0">
      <p:cViewPr>
        <p:scale>
          <a:sx n="66" d="100"/>
          <a:sy n="66" d="100"/>
        </p:scale>
        <p:origin x="629" y="5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47:53.7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47:53.7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9:07:29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981D-6B47-4656-AE49-E3A13B17C56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125F4-EA3A-44C0-A3C2-B3897B58A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4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D1D6A-B496-021D-F0A7-76C0A6E3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2C2E6-C20A-2FFE-32F8-265218A6E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75E8F-25DD-6C78-A94E-6B695DB41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1D48-F09A-4512-2A27-09B96DE5C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125F4-EA3A-44C0-A3C2-B3897B58A7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16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35370-0835-17D7-DA58-6E0BDDF5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D0510-2CFB-666D-1320-793C96D8B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9D4C2-FECE-EA93-82F4-26F4E6111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05DFF-EE7A-1ADA-72EA-1563FE6F3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125F4-EA3A-44C0-A3C2-B3897B58A7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3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8ABDB-9B91-4E31-7A13-D2B82785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B4B19-2A94-6F00-3D78-774F9401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E9F1F-A77E-0CA7-9831-4F0F0D9A3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A66DC-7557-23EB-0B2C-93E993424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125F4-EA3A-44C0-A3C2-B3897B58A7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6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28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662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92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01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0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20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3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7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7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2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51">
            <a:extLst>
              <a:ext uri="{FF2B5EF4-FFF2-40B4-BE49-F238E27FC236}">
                <a16:creationId xmlns:a16="http://schemas.microsoft.com/office/drawing/2014/main" id="{5E0D0E5A-6E97-46A9-AF74-EAEA1E044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9417" y="6756322"/>
            <a:ext cx="5657849" cy="101678"/>
          </a:xfrm>
          <a:custGeom>
            <a:avLst/>
            <a:gdLst>
              <a:gd name="connsiteX0" fmla="*/ 0 w 2374107"/>
              <a:gd name="connsiteY0" fmla="*/ 0 h 45719"/>
              <a:gd name="connsiteX1" fmla="*/ 2374107 w 2374107"/>
              <a:gd name="connsiteY1" fmla="*/ 0 h 45719"/>
              <a:gd name="connsiteX2" fmla="*/ 2374107 w 2374107"/>
              <a:gd name="connsiteY2" fmla="*/ 45719 h 45719"/>
              <a:gd name="connsiteX3" fmla="*/ 0 w 2374107"/>
              <a:gd name="connsiteY3" fmla="*/ 45719 h 45719"/>
              <a:gd name="connsiteX4" fmla="*/ 0 w 2374107"/>
              <a:gd name="connsiteY4" fmla="*/ 0 h 45719"/>
              <a:gd name="connsiteX0" fmla="*/ 0 w 2430067"/>
              <a:gd name="connsiteY0" fmla="*/ 0 h 64769"/>
              <a:gd name="connsiteX1" fmla="*/ 2430067 w 2430067"/>
              <a:gd name="connsiteY1" fmla="*/ 19050 h 64769"/>
              <a:gd name="connsiteX2" fmla="*/ 2430067 w 2430067"/>
              <a:gd name="connsiteY2" fmla="*/ 64769 h 64769"/>
              <a:gd name="connsiteX3" fmla="*/ 55960 w 2430067"/>
              <a:gd name="connsiteY3" fmla="*/ 64769 h 64769"/>
              <a:gd name="connsiteX4" fmla="*/ 0 w 2430067"/>
              <a:gd name="connsiteY4" fmla="*/ 0 h 64769"/>
              <a:gd name="connsiteX0" fmla="*/ 0 w 2431088"/>
              <a:gd name="connsiteY0" fmla="*/ 0 h 94534"/>
              <a:gd name="connsiteX1" fmla="*/ 2431088 w 2431088"/>
              <a:gd name="connsiteY1" fmla="*/ 48815 h 94534"/>
              <a:gd name="connsiteX2" fmla="*/ 2431088 w 2431088"/>
              <a:gd name="connsiteY2" fmla="*/ 94534 h 94534"/>
              <a:gd name="connsiteX3" fmla="*/ 56981 w 2431088"/>
              <a:gd name="connsiteY3" fmla="*/ 94534 h 94534"/>
              <a:gd name="connsiteX4" fmla="*/ 0 w 2431088"/>
              <a:gd name="connsiteY4" fmla="*/ 0 h 94534"/>
              <a:gd name="connsiteX0" fmla="*/ 0 w 2425473"/>
              <a:gd name="connsiteY0" fmla="*/ 0 h 101678"/>
              <a:gd name="connsiteX1" fmla="*/ 2425473 w 2425473"/>
              <a:gd name="connsiteY1" fmla="*/ 55959 h 101678"/>
              <a:gd name="connsiteX2" fmla="*/ 2425473 w 2425473"/>
              <a:gd name="connsiteY2" fmla="*/ 101678 h 101678"/>
              <a:gd name="connsiteX3" fmla="*/ 51366 w 2425473"/>
              <a:gd name="connsiteY3" fmla="*/ 101678 h 101678"/>
              <a:gd name="connsiteX4" fmla="*/ 0 w 2425473"/>
              <a:gd name="connsiteY4" fmla="*/ 0 h 101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473" h="101678">
                <a:moveTo>
                  <a:pt x="0" y="0"/>
                </a:moveTo>
                <a:lnTo>
                  <a:pt x="2425473" y="55959"/>
                </a:lnTo>
                <a:lnTo>
                  <a:pt x="2425473" y="101678"/>
                </a:lnTo>
                <a:lnTo>
                  <a:pt x="51366" y="1016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52">
            <a:extLst>
              <a:ext uri="{FF2B5EF4-FFF2-40B4-BE49-F238E27FC236}">
                <a16:creationId xmlns:a16="http://schemas.microsoft.com/office/drawing/2014/main" id="{E197A7FD-CD8D-4609-AE35-64C89063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8697" y="6809135"/>
            <a:ext cx="160496" cy="48864"/>
          </a:xfrm>
          <a:custGeom>
            <a:avLst/>
            <a:gdLst>
              <a:gd name="connsiteX0" fmla="*/ 0 w 91440"/>
              <a:gd name="connsiteY0" fmla="*/ 0 h 27432"/>
              <a:gd name="connsiteX1" fmla="*/ 91440 w 91440"/>
              <a:gd name="connsiteY1" fmla="*/ 0 h 27432"/>
              <a:gd name="connsiteX2" fmla="*/ 91440 w 91440"/>
              <a:gd name="connsiteY2" fmla="*/ 27432 h 27432"/>
              <a:gd name="connsiteX3" fmla="*/ 0 w 91440"/>
              <a:gd name="connsiteY3" fmla="*/ 27432 h 27432"/>
              <a:gd name="connsiteX4" fmla="*/ 0 w 91440"/>
              <a:gd name="connsiteY4" fmla="*/ 0 h 27432"/>
              <a:gd name="connsiteX0" fmla="*/ 0 w 128350"/>
              <a:gd name="connsiteY0" fmla="*/ 0 h 36957"/>
              <a:gd name="connsiteX1" fmla="*/ 128350 w 128350"/>
              <a:gd name="connsiteY1" fmla="*/ 9525 h 36957"/>
              <a:gd name="connsiteX2" fmla="*/ 128350 w 128350"/>
              <a:gd name="connsiteY2" fmla="*/ 36957 h 36957"/>
              <a:gd name="connsiteX3" fmla="*/ 36910 w 128350"/>
              <a:gd name="connsiteY3" fmla="*/ 36957 h 36957"/>
              <a:gd name="connsiteX4" fmla="*/ 0 w 128350"/>
              <a:gd name="connsiteY4" fmla="*/ 0 h 36957"/>
              <a:gd name="connsiteX0" fmla="*/ 0 w 128350"/>
              <a:gd name="connsiteY0" fmla="*/ 0 h 36957"/>
              <a:gd name="connsiteX1" fmla="*/ 83106 w 128350"/>
              <a:gd name="connsiteY1" fmla="*/ 11906 h 36957"/>
              <a:gd name="connsiteX2" fmla="*/ 128350 w 128350"/>
              <a:gd name="connsiteY2" fmla="*/ 36957 h 36957"/>
              <a:gd name="connsiteX3" fmla="*/ 36910 w 128350"/>
              <a:gd name="connsiteY3" fmla="*/ 36957 h 36957"/>
              <a:gd name="connsiteX4" fmla="*/ 0 w 128350"/>
              <a:gd name="connsiteY4" fmla="*/ 0 h 36957"/>
              <a:gd name="connsiteX0" fmla="*/ 0 w 162878"/>
              <a:gd name="connsiteY0" fmla="*/ 0 h 44101"/>
              <a:gd name="connsiteX1" fmla="*/ 117634 w 162878"/>
              <a:gd name="connsiteY1" fmla="*/ 19050 h 44101"/>
              <a:gd name="connsiteX2" fmla="*/ 162878 w 162878"/>
              <a:gd name="connsiteY2" fmla="*/ 44101 h 44101"/>
              <a:gd name="connsiteX3" fmla="*/ 71438 w 162878"/>
              <a:gd name="connsiteY3" fmla="*/ 44101 h 44101"/>
              <a:gd name="connsiteX4" fmla="*/ 0 w 162878"/>
              <a:gd name="connsiteY4" fmla="*/ 0 h 44101"/>
              <a:gd name="connsiteX0" fmla="*/ 0 w 160496"/>
              <a:gd name="connsiteY0" fmla="*/ 0 h 48864"/>
              <a:gd name="connsiteX1" fmla="*/ 115252 w 160496"/>
              <a:gd name="connsiteY1" fmla="*/ 23813 h 48864"/>
              <a:gd name="connsiteX2" fmla="*/ 160496 w 160496"/>
              <a:gd name="connsiteY2" fmla="*/ 48864 h 48864"/>
              <a:gd name="connsiteX3" fmla="*/ 69056 w 160496"/>
              <a:gd name="connsiteY3" fmla="*/ 48864 h 48864"/>
              <a:gd name="connsiteX4" fmla="*/ 0 w 160496"/>
              <a:gd name="connsiteY4" fmla="*/ 0 h 48864"/>
              <a:gd name="connsiteX0" fmla="*/ 0 w 160496"/>
              <a:gd name="connsiteY0" fmla="*/ 0 h 48864"/>
              <a:gd name="connsiteX1" fmla="*/ 115252 w 160496"/>
              <a:gd name="connsiteY1" fmla="*/ 23813 h 48864"/>
              <a:gd name="connsiteX2" fmla="*/ 160496 w 160496"/>
              <a:gd name="connsiteY2" fmla="*/ 48864 h 48864"/>
              <a:gd name="connsiteX3" fmla="*/ 61912 w 160496"/>
              <a:gd name="connsiteY3" fmla="*/ 48864 h 48864"/>
              <a:gd name="connsiteX4" fmla="*/ 0 w 160496"/>
              <a:gd name="connsiteY4" fmla="*/ 0 h 4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496" h="48864">
                <a:moveTo>
                  <a:pt x="0" y="0"/>
                </a:moveTo>
                <a:lnTo>
                  <a:pt x="115252" y="23813"/>
                </a:lnTo>
                <a:lnTo>
                  <a:pt x="160496" y="48864"/>
                </a:lnTo>
                <a:lnTo>
                  <a:pt x="61912" y="4886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9CE71-2559-CB95-BC23-A2EB34ED8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 err="1">
                <a:solidFill>
                  <a:srgbClr val="FFFFFF"/>
                </a:solidFill>
              </a:rPr>
              <a:t>Accidentele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sistemului</a:t>
            </a:r>
            <a:r>
              <a:rPr lang="en-US" sz="4800" dirty="0">
                <a:solidFill>
                  <a:srgbClr val="FFFFFF"/>
                </a:solidFill>
              </a:rPr>
              <a:t> locomotor.</a:t>
            </a:r>
            <a:br>
              <a:rPr lang="en-US" sz="4800" dirty="0">
                <a:solidFill>
                  <a:srgbClr val="FFFFFF"/>
                </a:solidFill>
              </a:rPr>
            </a:b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89A04-E5DB-11DA-739B-EC267F395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3200">
                <a:solidFill>
                  <a:srgbClr val="FFFFFF"/>
                </a:solidFill>
              </a:rPr>
              <a:t>Proiect realizat de: Petrescu Matei, Nicu Raissa, Paraschiv Vlad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C0B64B74-19BE-47D9-8BB8-7081BF0E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71257-8F92-8475-5368-214C06ABE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D9D7F-59AF-55EC-C900-BE6624B7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638089"/>
            <a:ext cx="5337270" cy="147680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rgbClr val="FFFFFF"/>
                </a:solidFill>
              </a:rPr>
              <a:t>Entorsa - </a:t>
            </a:r>
            <a:r>
              <a:rPr lang="pt-BR" dirty="0">
                <a:solidFill>
                  <a:srgbClr val="FFFFFF"/>
                </a:solidFill>
              </a:rPr>
              <a:t>Ce este o entorsă &amp; Cauze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BE997-BFFB-08E7-C640-E5598C5E9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166" y="2313837"/>
            <a:ext cx="6584208" cy="4281034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O </a:t>
            </a:r>
            <a:r>
              <a:rPr lang="en-US" sz="1800" b="1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entorsă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este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o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leziune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care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rezultă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din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ruperea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sau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întinderea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unuia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sau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mai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multor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ligamente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ale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unei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articulații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.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Aceasta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se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întâmplă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obicei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urma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unei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mișcări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bruște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sau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unui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traumatism. Cele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mai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frecvente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articulații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afectate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sunt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glezna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și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încheietura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mâinii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Cauze</a:t>
            </a:r>
            <a:r>
              <a:rPr lang="en-US" sz="1800" b="1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  <a:endParaRPr lang="en-US" sz="1800" dirty="0">
              <a:solidFill>
                <a:srgbClr val="FFFFFF"/>
              </a:solidFill>
              <a:latin typeface="Comic Sans MS" panose="030F0702030302020204" pitchFamily="66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Mișcări</a:t>
            </a:r>
            <a:r>
              <a:rPr lang="en-US" sz="1800" b="1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bruște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: O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entorsă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poate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apărea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atunci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când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o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articulație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este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forțată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să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se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miște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încolo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și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înapoi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răsucită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sau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îndoită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peste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limitele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normale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Traume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Căderile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accidentele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sportive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sau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alte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traume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pot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provoca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entorse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Acțiuni</a:t>
            </a:r>
            <a:r>
              <a:rPr lang="en-US" sz="1800" b="1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repetitive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Uneori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activitățile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repetitive care pun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presiune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pe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articulații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pot duce la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entorse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cronice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rgbClr val="FFFFFF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A diagram of a foot&#10;&#10;AI-generated content may be incorrect.">
            <a:extLst>
              <a:ext uri="{FF2B5EF4-FFF2-40B4-BE49-F238E27FC236}">
                <a16:creationId xmlns:a16="http://schemas.microsoft.com/office/drawing/2014/main" id="{E177B4F1-44CB-DA42-50BD-96402B11F6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26" y="1797309"/>
            <a:ext cx="4240741" cy="326338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FB3C42-5815-388B-17EA-55634FB4B7DC}"/>
              </a:ext>
            </a:extLst>
          </p:cNvPr>
          <p:cNvCxnSpPr>
            <a:cxnSpLocks/>
          </p:cNvCxnSpPr>
          <p:nvPr/>
        </p:nvCxnSpPr>
        <p:spPr>
          <a:xfrm>
            <a:off x="5661537" y="2179070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2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49976-7998-05E2-9B7E-14A40810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47911E-7204-D6AE-4422-8606C633E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2B2DC23-49AD-2838-2872-EE06F639D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8F680-09F9-68F0-566D-DA37D512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537" y="638089"/>
            <a:ext cx="6238363" cy="147680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rgbClr val="FFFFFF"/>
                </a:solidFill>
              </a:rPr>
              <a:t>Entorsa – Simptome &amp; Tratament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3610668-D65B-E554-61CB-A26699DDB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B55DA-CD4D-7C88-CBCB-8479DF965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166" y="2313837"/>
            <a:ext cx="3126460" cy="428103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Simptome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Durere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Umflare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și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tumefiere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Sensibilitate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la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atingere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Echimoza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(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învinețire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).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Imposibilitatea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de 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folosi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articulația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sau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de 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pune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greutatea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pe ea.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Rigiditate.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A8765DD-CF9C-105F-998A-F6C4D53B5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A8765DD-CF9C-105F-998A-F6C4D53B5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535893-0CEB-0AA7-1282-5D24543EE240}"/>
              </a:ext>
            </a:extLst>
          </p:cNvPr>
          <p:cNvCxnSpPr>
            <a:cxnSpLocks/>
          </p:cNvCxnSpPr>
          <p:nvPr/>
        </p:nvCxnSpPr>
        <p:spPr>
          <a:xfrm>
            <a:off x="5661537" y="2179070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D1F49E-D024-804B-097A-07EB02CFCAB1}"/>
              </a:ext>
            </a:extLst>
          </p:cNvPr>
          <p:cNvSpPr txBox="1">
            <a:spLocks/>
          </p:cNvSpPr>
          <p:nvPr/>
        </p:nvSpPr>
        <p:spPr>
          <a:xfrm>
            <a:off x="8410996" y="2313837"/>
            <a:ext cx="3126460" cy="4281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Tratament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R.I.C.E.: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Odihnă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aplicarea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gheață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compresie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și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înălțarea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membrei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afectate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Medicamente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Antialgice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antiinflamatoare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Fizioterapie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Exerciții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pentru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restabili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forța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și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flexibilitatea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  <a:endParaRPr lang="ro-RO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Intervenție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chirurgicală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Uneori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pentru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entorse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severe,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poate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fi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necesară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o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intervenție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chirurgicală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</a:p>
        </p:txBody>
      </p:sp>
      <p:pic>
        <p:nvPicPr>
          <p:cNvPr id="8" name="Picture 7" descr="A diagram of a foot and ankle&#10;&#10;AI-generated content may be incorrect.">
            <a:extLst>
              <a:ext uri="{FF2B5EF4-FFF2-40B4-BE49-F238E27FC236}">
                <a16:creationId xmlns:a16="http://schemas.microsoft.com/office/drawing/2014/main" id="{FFC8076D-3DBF-CF0D-64B5-9E155AA4A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4" y="1971579"/>
            <a:ext cx="4162425" cy="249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5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05FEB-7E9F-CF14-A773-E858C577F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FCE256E-218C-E3EB-D54C-14CF0218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8B7FF1-E7A5-35A8-1097-BDB9666C9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2A785-8714-4AAC-8B8A-425DE880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537" y="638089"/>
            <a:ext cx="6238363" cy="147680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rgbClr val="FFFFFF"/>
                </a:solidFill>
              </a:rPr>
              <a:t>Entorsa –  Prevenție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CF72E368-6B89-4CC3-7CA1-EEA1D3D9C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B9F913A-39C8-CA15-1D49-6F3C30728F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B9F913A-39C8-CA15-1D49-6F3C30728F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B5A699-703B-80B5-F613-F8C5097A5FDF}"/>
              </a:ext>
            </a:extLst>
          </p:cNvPr>
          <p:cNvCxnSpPr>
            <a:cxnSpLocks/>
          </p:cNvCxnSpPr>
          <p:nvPr/>
        </p:nvCxnSpPr>
        <p:spPr>
          <a:xfrm>
            <a:off x="5661537" y="2179070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522832-86A6-D763-D552-09A6E4A3C5AB}"/>
              </a:ext>
            </a:extLst>
          </p:cNvPr>
          <p:cNvSpPr txBox="1">
            <a:spLocks/>
          </p:cNvSpPr>
          <p:nvPr/>
        </p:nvSpPr>
        <p:spPr>
          <a:xfrm>
            <a:off x="5448300" y="2313837"/>
            <a:ext cx="6089156" cy="4281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Prevenție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Întindere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adecvată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Întinderea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regulată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mușchilor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și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ligamentelor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din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jurul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articulațiilor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Utilizarea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echipamentului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protecție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timpul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activităților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sportive,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folosirea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protecțiilor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potrivite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Evitarea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activităților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riscante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Încet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evita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activitățile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care pot duce la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traume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Purtare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adecvată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încălțămintei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: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Încălțămintea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adecvată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pentru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activitatea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fizică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poate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ajuta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la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prevenirea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entorselor</a:t>
            </a:r>
            <a:r>
              <a:rPr lang="en-US" sz="1800" dirty="0">
                <a:solidFill>
                  <a:srgbClr val="FFFFFF"/>
                </a:solidFill>
                <a:latin typeface="Comic Sans MS" panose="030F0702030302020204" pitchFamily="66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800" dirty="0">
              <a:solidFill>
                <a:srgbClr val="FFFFFF"/>
              </a:solidFill>
              <a:latin typeface="Comic Sans MS" panose="030F0702030302020204" pitchFamily="66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8" name="Picture 7" descr="A diagram of a foot and ankle&#10;&#10;AI-generated content may be incorrect.">
            <a:extLst>
              <a:ext uri="{FF2B5EF4-FFF2-40B4-BE49-F238E27FC236}">
                <a16:creationId xmlns:a16="http://schemas.microsoft.com/office/drawing/2014/main" id="{79927846-A5C1-E0F6-DFAF-B7BF6506D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4" y="1971579"/>
            <a:ext cx="4162425" cy="249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3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A7E4E-D7EF-285C-B5F9-851832AA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27FC6F-B480-D8FA-08FD-0DE5D81B408F}"/>
              </a:ext>
            </a:extLst>
          </p:cNvPr>
          <p:cNvGrpSpPr/>
          <p:nvPr/>
        </p:nvGrpSpPr>
        <p:grpSpPr>
          <a:xfrm>
            <a:off x="489984" y="589280"/>
            <a:ext cx="4846320" cy="5431536"/>
            <a:chOff x="603504" y="640080"/>
            <a:chExt cx="4846320" cy="543153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CEBCD5-9D91-461E-0B80-37E8301FF0C7}"/>
                </a:ext>
              </a:extLst>
            </p:cNvPr>
            <p:cNvSpPr txBox="1"/>
            <p:nvPr/>
          </p:nvSpPr>
          <p:spPr>
            <a:xfrm>
              <a:off x="630936" y="640080"/>
              <a:ext cx="4818888" cy="148132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3900">
                  <a:latin typeface="+mj-lt"/>
                  <a:ea typeface="+mj-ea"/>
                  <a:cs typeface="+mj-cs"/>
                </a:rPr>
                <a:t>Luxatia - Ce reprezinta luxatia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3C7448-EC08-E687-58DA-D06B687E327D}"/>
                </a:ext>
              </a:extLst>
            </p:cNvPr>
            <p:cNvSpPr txBox="1"/>
            <p:nvPr/>
          </p:nvSpPr>
          <p:spPr>
            <a:xfrm>
              <a:off x="603504" y="2523744"/>
              <a:ext cx="4818888" cy="354787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/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US" sz="1600" dirty="0" err="1">
                  <a:latin typeface="Comic Sans MS" panose="030F0702030302020204" pitchFamily="66" charset="0"/>
                </a:rPr>
                <a:t>Luxatia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sau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dislocarea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articulara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reprezinta</a:t>
              </a:r>
              <a:r>
                <a:rPr lang="en-US" sz="1600" dirty="0">
                  <a:latin typeface="Comic Sans MS" panose="030F0702030302020204" pitchFamily="66" charset="0"/>
                </a:rPr>
                <a:t> un traumatism </a:t>
              </a:r>
              <a:r>
                <a:rPr lang="en-US" sz="1600" dirty="0" err="1">
                  <a:latin typeface="Comic Sans MS" panose="030F0702030302020204" pitchFamily="66" charset="0"/>
                </a:rPr>
                <a:t>ligamentar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insotit</a:t>
              </a:r>
              <a:r>
                <a:rPr lang="en-US" sz="1600" dirty="0">
                  <a:latin typeface="Comic Sans MS" panose="030F0702030302020204" pitchFamily="66" charset="0"/>
                </a:rPr>
                <a:t> de </a:t>
              </a:r>
              <a:r>
                <a:rPr lang="en-US" sz="1600" dirty="0" err="1">
                  <a:latin typeface="Comic Sans MS" panose="030F0702030302020204" pitchFamily="66" charset="0"/>
                </a:rPr>
                <a:t>deplasarea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capetelor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distale</a:t>
              </a:r>
              <a:r>
                <a:rPr lang="en-US" sz="1600" dirty="0">
                  <a:latin typeface="Comic Sans MS" panose="030F0702030302020204" pitchFamily="66" charset="0"/>
                </a:rPr>
                <a:t> al </a:t>
              </a:r>
              <a:r>
                <a:rPr lang="en-US" sz="1600" dirty="0" err="1">
                  <a:latin typeface="Comic Sans MS" panose="030F0702030302020204" pitchFamily="66" charset="0"/>
                </a:rPr>
                <a:t>oaselor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unei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articulatii</a:t>
              </a:r>
              <a:r>
                <a:rPr lang="en-US" sz="1600" dirty="0">
                  <a:latin typeface="Comic Sans MS" panose="030F0702030302020204" pitchFamily="66" charset="0"/>
                </a:rPr>
                <a:t>, cu </a:t>
              </a:r>
              <a:r>
                <a:rPr lang="en-US" sz="1600" dirty="0" err="1">
                  <a:latin typeface="Comic Sans MS" panose="030F0702030302020204" pitchFamily="66" charset="0"/>
                </a:rPr>
                <a:t>pierderea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raportului</a:t>
              </a:r>
              <a:r>
                <a:rPr lang="en-US" sz="1600" dirty="0">
                  <a:latin typeface="Comic Sans MS" panose="030F0702030302020204" pitchFamily="66" charset="0"/>
                </a:rPr>
                <a:t> anatomic normal al </a:t>
              </a:r>
              <a:r>
                <a:rPr lang="en-US" sz="1600" dirty="0" err="1">
                  <a:latin typeface="Comic Sans MS" panose="030F0702030302020204" pitchFamily="66" charset="0"/>
                </a:rPr>
                <a:t>suprafetelor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articulare</a:t>
              </a:r>
              <a:r>
                <a:rPr lang="en-US" sz="1600" dirty="0">
                  <a:latin typeface="Comic Sans MS" panose="030F0702030302020204" pitchFamily="66" charset="0"/>
                </a:rPr>
                <a:t>. </a:t>
              </a:r>
              <a:r>
                <a:rPr lang="en-US" sz="1600" dirty="0" err="1">
                  <a:latin typeface="Comic Sans MS" panose="030F0702030302020204" pitchFamily="66" charset="0"/>
                </a:rPr>
                <a:t>Dislocarea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articulara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poate</a:t>
              </a:r>
              <a:r>
                <a:rPr lang="en-US" sz="1600" dirty="0">
                  <a:latin typeface="Comic Sans MS" panose="030F0702030302020204" pitchFamily="66" charset="0"/>
                </a:rPr>
                <a:t> fi </a:t>
              </a:r>
              <a:r>
                <a:rPr lang="en-US" sz="1600" dirty="0" err="1">
                  <a:latin typeface="Comic Sans MS" panose="030F0702030302020204" pitchFamily="66" charset="0"/>
                </a:rPr>
                <a:t>partiala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atunci</a:t>
              </a:r>
              <a:r>
                <a:rPr lang="en-US" sz="1600" dirty="0">
                  <a:latin typeface="Comic Sans MS" panose="030F0702030302020204" pitchFamily="66" charset="0"/>
                </a:rPr>
                <a:t> cand </a:t>
              </a:r>
              <a:r>
                <a:rPr lang="en-US" sz="1600" dirty="0" err="1">
                  <a:latin typeface="Comic Sans MS" panose="030F0702030302020204" pitchFamily="66" charset="0"/>
                </a:rPr>
                <a:t>contactul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dintre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oasele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afectate</a:t>
              </a:r>
              <a:r>
                <a:rPr lang="en-US" sz="1600" dirty="0">
                  <a:latin typeface="Comic Sans MS" panose="030F0702030302020204" pitchFamily="66" charset="0"/>
                </a:rPr>
                <a:t> se </a:t>
              </a:r>
              <a:r>
                <a:rPr lang="en-US" sz="1600" dirty="0" err="1">
                  <a:latin typeface="Comic Sans MS" panose="030F0702030302020204" pitchFamily="66" charset="0"/>
                </a:rPr>
                <a:t>realizeaza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doar</a:t>
              </a:r>
              <a:r>
                <a:rPr lang="en-US" sz="1600" dirty="0">
                  <a:latin typeface="Comic Sans MS" panose="030F0702030302020204" pitchFamily="66" charset="0"/>
                </a:rPr>
                <a:t> pe o </a:t>
              </a:r>
              <a:r>
                <a:rPr lang="en-US" sz="1600" dirty="0" err="1">
                  <a:latin typeface="Comic Sans MS" panose="030F0702030302020204" pitchFamily="66" charset="0"/>
                </a:rPr>
                <a:t>anumita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suprafata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totala</a:t>
              </a:r>
              <a:r>
                <a:rPr lang="en-US" sz="1600" dirty="0">
                  <a:latin typeface="Comic Sans MS" panose="030F0702030302020204" pitchFamily="66" charset="0"/>
                </a:rPr>
                <a:t> in </a:t>
              </a:r>
              <a:r>
                <a:rPr lang="en-US" sz="1600" dirty="0" err="1">
                  <a:latin typeface="Comic Sans MS" panose="030F0702030302020204" pitchFamily="66" charset="0"/>
                </a:rPr>
                <a:t>situatia</a:t>
              </a:r>
              <a:r>
                <a:rPr lang="en-US" sz="1600" dirty="0">
                  <a:latin typeface="Comic Sans MS" panose="030F0702030302020204" pitchFamily="66" charset="0"/>
                </a:rPr>
                <a:t> in care </a:t>
              </a:r>
              <a:r>
                <a:rPr lang="en-US" sz="1600" dirty="0" err="1">
                  <a:latin typeface="Comic Sans MS" panose="030F0702030302020204" pitchFamily="66" charset="0"/>
                </a:rPr>
                <a:t>deplasarea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determina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desprinderea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completa</a:t>
              </a:r>
              <a:r>
                <a:rPr lang="en-US" sz="1600" dirty="0">
                  <a:latin typeface="Comic Sans MS" panose="030F0702030302020204" pitchFamily="66" charset="0"/>
                </a:rPr>
                <a:t> a </a:t>
              </a:r>
              <a:r>
                <a:rPr lang="en-US" sz="1600" dirty="0" err="1">
                  <a:latin typeface="Comic Sans MS" panose="030F0702030302020204" pitchFamily="66" charset="0"/>
                </a:rPr>
                <a:t>structurilor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osoase</a:t>
              </a:r>
              <a:r>
                <a:rPr lang="en-US" sz="1600" dirty="0">
                  <a:latin typeface="Comic Sans MS" panose="030F0702030302020204" pitchFamily="66" charset="0"/>
                </a:rPr>
                <a:t> la </a:t>
              </a:r>
              <a:r>
                <a:rPr lang="en-US" sz="1600" dirty="0" err="1">
                  <a:latin typeface="Comic Sans MS" panose="030F0702030302020204" pitchFamily="66" charset="0"/>
                </a:rPr>
                <a:t>nivelul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articulatiei</a:t>
              </a:r>
              <a:r>
                <a:rPr lang="en-US" sz="1600" dirty="0">
                  <a:latin typeface="Comic Sans MS" panose="030F0702030302020204" pitchFamily="66" charset="0"/>
                </a:rPr>
                <a:t>.</a:t>
              </a:r>
            </a:p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US" sz="1600" dirty="0" err="1">
                  <a:latin typeface="Comic Sans MS" panose="030F0702030302020204" pitchFamily="66" charset="0"/>
                </a:rPr>
                <a:t>Luxatia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poate</a:t>
              </a:r>
              <a:r>
                <a:rPr lang="en-US" sz="1600" dirty="0">
                  <a:latin typeface="Comic Sans MS" panose="030F0702030302020204" pitchFamily="66" charset="0"/>
                </a:rPr>
                <a:t> fi </a:t>
              </a:r>
              <a:r>
                <a:rPr lang="en-US" sz="1600" dirty="0" err="1">
                  <a:latin typeface="Comic Sans MS" panose="030F0702030302020204" pitchFamily="66" charset="0"/>
                </a:rPr>
                <a:t>prezenta</a:t>
              </a:r>
              <a:r>
                <a:rPr lang="en-US" sz="1600" dirty="0">
                  <a:latin typeface="Comic Sans MS" panose="030F0702030302020204" pitchFamily="66" charset="0"/>
                </a:rPr>
                <a:t> la </a:t>
              </a:r>
              <a:r>
                <a:rPr lang="en-US" sz="1600" dirty="0" err="1">
                  <a:latin typeface="Comic Sans MS" panose="030F0702030302020204" pitchFamily="66" charset="0"/>
                </a:rPr>
                <a:t>nivelul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membrului</a:t>
              </a:r>
              <a:r>
                <a:rPr lang="en-US" sz="1600" dirty="0">
                  <a:latin typeface="Comic Sans MS" panose="030F0702030302020204" pitchFamily="66" charset="0"/>
                </a:rPr>
                <a:t> inferior </a:t>
              </a:r>
              <a:r>
                <a:rPr lang="en-US" sz="1600" dirty="0" err="1">
                  <a:latin typeface="Comic Sans MS" panose="030F0702030302020204" pitchFamily="66" charset="0"/>
                </a:rPr>
                <a:t>si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poate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afecta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articulatia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soldului</a:t>
              </a:r>
              <a:r>
                <a:rPr lang="en-US" sz="1600" dirty="0">
                  <a:latin typeface="Comic Sans MS" panose="030F0702030302020204" pitchFamily="66" charset="0"/>
                </a:rPr>
                <a:t>, </a:t>
              </a:r>
              <a:r>
                <a:rPr lang="en-US" sz="1600" dirty="0" err="1">
                  <a:latin typeface="Comic Sans MS" panose="030F0702030302020204" pitchFamily="66" charset="0"/>
                </a:rPr>
                <a:t>genunchiului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glezna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sau</a:t>
              </a:r>
              <a:r>
                <a:rPr lang="en-US" sz="1600" dirty="0">
                  <a:latin typeface="Comic Sans MS" panose="030F0702030302020204" pitchFamily="66" charset="0"/>
                </a:rPr>
                <a:t> la </a:t>
              </a:r>
              <a:r>
                <a:rPr lang="en-US" sz="1600" dirty="0" err="1">
                  <a:latin typeface="Comic Sans MS" panose="030F0702030302020204" pitchFamily="66" charset="0"/>
                </a:rPr>
                <a:t>nivelul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membrelor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superioare</a:t>
              </a:r>
              <a:r>
                <a:rPr lang="en-US" sz="1600" dirty="0">
                  <a:latin typeface="Comic Sans MS" panose="030F0702030302020204" pitchFamily="66" charset="0"/>
                </a:rPr>
                <a:t>- </a:t>
              </a:r>
              <a:r>
                <a:rPr lang="en-US" sz="1600" dirty="0" err="1">
                  <a:latin typeface="Comic Sans MS" panose="030F0702030302020204" pitchFamily="66" charset="0"/>
                </a:rPr>
                <a:t>umar</a:t>
              </a:r>
              <a:r>
                <a:rPr lang="en-US" sz="1600" dirty="0">
                  <a:latin typeface="Comic Sans MS" panose="030F0702030302020204" pitchFamily="66" charset="0"/>
                </a:rPr>
                <a:t>, cot </a:t>
              </a:r>
              <a:r>
                <a:rPr lang="en-US" sz="1600" dirty="0" err="1">
                  <a:latin typeface="Comic Sans MS" panose="030F0702030302020204" pitchFamily="66" charset="0"/>
                </a:rPr>
                <a:t>sau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incheietura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mainii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si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mai</a:t>
              </a:r>
              <a:r>
                <a:rPr lang="en-US" sz="1600" dirty="0">
                  <a:latin typeface="Comic Sans MS" panose="030F0702030302020204" pitchFamily="66" charset="0"/>
                </a:rPr>
                <a:t> </a:t>
              </a:r>
              <a:r>
                <a:rPr lang="en-US" sz="1600" dirty="0" err="1">
                  <a:latin typeface="Comic Sans MS" panose="030F0702030302020204" pitchFamily="66" charset="0"/>
                </a:rPr>
                <a:t>putin</a:t>
              </a:r>
              <a:r>
                <a:rPr lang="en-US" sz="1600" dirty="0">
                  <a:latin typeface="Comic Sans MS" panose="030F0702030302020204" pitchFamily="66" charset="0"/>
                </a:rPr>
                <a:t> la </a:t>
              </a:r>
              <a:r>
                <a:rPr lang="en-US" sz="1600" dirty="0" err="1">
                  <a:latin typeface="Comic Sans MS" panose="030F0702030302020204" pitchFamily="66" charset="0"/>
                </a:rPr>
                <a:t>nivelul</a:t>
              </a:r>
              <a:r>
                <a:rPr lang="en-US" sz="1600" dirty="0">
                  <a:latin typeface="Comic Sans MS" panose="030F0702030302020204" pitchFamily="66" charset="0"/>
                </a:rPr>
                <a:t> </a:t>
              </a:r>
              <a:r>
                <a:rPr lang="en-US" sz="1600" dirty="0" err="1">
                  <a:latin typeface="Comic Sans MS" panose="030F0702030302020204" pitchFamily="66" charset="0"/>
                </a:rPr>
                <a:t>degetelor</a:t>
              </a:r>
              <a:r>
                <a:rPr lang="en-US" sz="1600" dirty="0">
                  <a:latin typeface="Comic Sans MS" panose="030F0702030302020204" pitchFamily="66" charset="0"/>
                </a:rPr>
                <a:t>.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 descr="A diagram of the shoulder joint&#10;&#10;AI-generated content may be incorrect.">
            <a:extLst>
              <a:ext uri="{FF2B5EF4-FFF2-40B4-BE49-F238E27FC236}">
                <a16:creationId xmlns:a16="http://schemas.microsoft.com/office/drawing/2014/main" id="{EDC2DC4C-BB9B-C8A7-F5A8-7BA6C5E9E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3" b="29125"/>
          <a:stretch>
            <a:fillRect/>
          </a:stretch>
        </p:blipFill>
        <p:spPr>
          <a:xfrm>
            <a:off x="5247314" y="1709928"/>
            <a:ext cx="6313750" cy="289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9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7D24D-CF7A-DEF2-EA06-0AAFE984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0ADB7F5-2C20-B8BA-8DEE-485F1799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2CE3673-A57B-E09E-4C7C-2EF03F33A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6">
            <a:extLst>
              <a:ext uri="{FF2B5EF4-FFF2-40B4-BE49-F238E27FC236}">
                <a16:creationId xmlns:a16="http://schemas.microsoft.com/office/drawing/2014/main" id="{693A7F37-1A44-CC3C-02C4-93177B5FD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43467-1C22-1AAB-2C2C-B0915122B1B1}"/>
              </a:ext>
            </a:extLst>
          </p:cNvPr>
          <p:cNvSpPr txBox="1"/>
          <p:nvPr/>
        </p:nvSpPr>
        <p:spPr>
          <a:xfrm>
            <a:off x="517416" y="5892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>
                <a:latin typeface="+mj-lt"/>
                <a:ea typeface="+mj-ea"/>
                <a:cs typeface="+mj-cs"/>
              </a:rPr>
              <a:t>Luxatia –</a:t>
            </a:r>
            <a:r>
              <a:rPr lang="ro-RO" sz="3900">
                <a:latin typeface="+mj-lt"/>
                <a:ea typeface="+mj-ea"/>
                <a:cs typeface="+mj-cs"/>
              </a:rPr>
              <a:t> Diagnosticul luxatiei</a:t>
            </a:r>
            <a:endParaRPr lang="en-US" sz="3900" dirty="0"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B2781F-C377-7476-2CE6-50322E0EC7A6}"/>
              </a:ext>
            </a:extLst>
          </p:cNvPr>
          <p:cNvSpPr txBox="1"/>
          <p:nvPr/>
        </p:nvSpPr>
        <p:spPr>
          <a:xfrm>
            <a:off x="489984" y="247294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omic Sans MS" panose="030F0702030302020204" pitchFamily="66" charset="0"/>
              </a:rPr>
              <a:t>Diagnosticul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luxatieiDiagnosticul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luxatiei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este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stabilit</a:t>
            </a:r>
            <a:r>
              <a:rPr lang="en-US" dirty="0">
                <a:latin typeface="Comic Sans MS" panose="030F0702030302020204" pitchFamily="66" charset="0"/>
              </a:rPr>
              <a:t> de </a:t>
            </a:r>
            <a:r>
              <a:rPr lang="en-US" dirty="0" err="1">
                <a:latin typeface="Comic Sans MS" panose="030F0702030302020204" pitchFamily="66" charset="0"/>
              </a:rPr>
              <a:t>catre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medicul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ortoped</a:t>
            </a:r>
            <a:r>
              <a:rPr lang="en-US" dirty="0">
                <a:latin typeface="Comic Sans MS" panose="030F0702030302020204" pitchFamily="66" charset="0"/>
              </a:rPr>
              <a:t> pe </a:t>
            </a:r>
            <a:r>
              <a:rPr lang="en-US" dirty="0" err="1">
                <a:latin typeface="Comic Sans MS" panose="030F0702030302020204" pitchFamily="66" charset="0"/>
              </a:rPr>
              <a:t>baza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anamnezei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examenului</a:t>
            </a:r>
            <a:r>
              <a:rPr lang="en-US" dirty="0">
                <a:latin typeface="Comic Sans MS" panose="030F0702030302020204" pitchFamily="66" charset="0"/>
              </a:rPr>
              <a:t> clinic al </a:t>
            </a:r>
            <a:r>
              <a:rPr lang="en-US" dirty="0" err="1">
                <a:latin typeface="Comic Sans MS" panose="030F0702030302020204" pitchFamily="66" charset="0"/>
              </a:rPr>
              <a:t>pacientului</a:t>
            </a:r>
            <a:r>
              <a:rPr lang="en-US" dirty="0">
                <a:latin typeface="Comic Sans MS" panose="030F0702030302020204" pitchFamily="66" charset="0"/>
              </a:rPr>
              <a:t>. In </a:t>
            </a:r>
            <a:r>
              <a:rPr lang="en-US" dirty="0" err="1">
                <a:latin typeface="Comic Sans MS" panose="030F0702030302020204" pitchFamily="66" charset="0"/>
              </a:rPr>
              <a:t>anumite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situatii</a:t>
            </a:r>
            <a:r>
              <a:rPr lang="en-US" dirty="0">
                <a:latin typeface="Comic Sans MS" panose="030F0702030302020204" pitchFamily="66" charset="0"/>
              </a:rPr>
              <a:t>, </a:t>
            </a:r>
            <a:r>
              <a:rPr lang="en-US" dirty="0" err="1">
                <a:latin typeface="Comic Sans MS" panose="030F0702030302020204" pitchFamily="66" charset="0"/>
              </a:rPr>
              <a:t>medicul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curant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poate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solicita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efectuarea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unor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investigatii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suplimentare</a:t>
            </a:r>
            <a:r>
              <a:rPr lang="en-US" dirty="0">
                <a:latin typeface="Comic Sans MS" panose="030F0702030302020204" pitchFamily="66" charset="0"/>
              </a:rPr>
              <a:t> de </a:t>
            </a:r>
            <a:r>
              <a:rPr lang="en-US" dirty="0" err="1">
                <a:latin typeface="Comic Sans MS" panose="030F0702030302020204" pitchFamily="66" charset="0"/>
              </a:rPr>
              <a:t>imagistica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medicala</a:t>
            </a:r>
            <a:r>
              <a:rPr lang="en-US" dirty="0">
                <a:latin typeface="Comic Sans MS" panose="030F0702030302020204" pitchFamily="66" charset="0"/>
              </a:rPr>
              <a:t> de </a:t>
            </a:r>
            <a:r>
              <a:rPr lang="en-US" dirty="0" err="1">
                <a:latin typeface="Comic Sans MS" panose="030F0702030302020204" pitchFamily="66" charset="0"/>
              </a:rPr>
              <a:t>tipul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radiografiilor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sau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rezonantei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magnetice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nucleare</a:t>
            </a:r>
            <a:r>
              <a:rPr lang="en-US" dirty="0">
                <a:latin typeface="Comic Sans MS" panose="030F0702030302020204" pitchFamily="66" charset="0"/>
              </a:rPr>
              <a:t> RMN </a:t>
            </a:r>
            <a:r>
              <a:rPr lang="en-US" dirty="0" err="1">
                <a:latin typeface="Comic Sans MS" panose="030F0702030302020204" pitchFamily="66" charset="0"/>
              </a:rPr>
              <a:t>pentru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evaluarea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severitatii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luxatiei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stabilirea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unui</a:t>
            </a:r>
            <a:r>
              <a:rPr lang="en-US" dirty="0">
                <a:latin typeface="Comic Sans MS" panose="030F0702030302020204" pitchFamily="66" charset="0"/>
              </a:rPr>
              <a:t> plan </a:t>
            </a:r>
            <a:r>
              <a:rPr lang="en-US" dirty="0" err="1">
                <a:latin typeface="Comic Sans MS" panose="030F0702030302020204" pitchFamily="66" charset="0"/>
              </a:rPr>
              <a:t>terapeutic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adecvat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fiecarui</a:t>
            </a:r>
            <a:r>
              <a:rPr lang="en-US" dirty="0">
                <a:latin typeface="Comic Sans MS" panose="030F0702030302020204" pitchFamily="66" charset="0"/>
              </a:rPr>
              <a:t> </a:t>
            </a:r>
            <a:r>
              <a:rPr lang="en-US" dirty="0" err="1">
                <a:latin typeface="Comic Sans MS" panose="030F0702030302020204" pitchFamily="66" charset="0"/>
              </a:rPr>
              <a:t>caz</a:t>
            </a:r>
            <a:r>
              <a:rPr lang="en-US" dirty="0">
                <a:latin typeface="Comic Sans MS" panose="030F0702030302020204" pitchFamily="66" charset="0"/>
              </a:rPr>
              <a:t> in </a:t>
            </a:r>
            <a:r>
              <a:rPr lang="en-US" dirty="0" err="1">
                <a:latin typeface="Comic Sans MS" panose="030F0702030302020204" pitchFamily="66" charset="0"/>
              </a:rPr>
              <a:t>parte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33BAC28-4C2D-DBF0-B4BD-FDA8C1AFDC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33BAC28-4C2D-DBF0-B4BD-FDA8C1AFDC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A diagram of the shoulder joint&#10;&#10;AI-generated content may be incorrect.">
            <a:extLst>
              <a:ext uri="{FF2B5EF4-FFF2-40B4-BE49-F238E27FC236}">
                <a16:creationId xmlns:a16="http://schemas.microsoft.com/office/drawing/2014/main" id="{E79E87F5-D753-1A94-3717-99E8C59D0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3" b="29125"/>
          <a:stretch>
            <a:fillRect/>
          </a:stretch>
        </p:blipFill>
        <p:spPr>
          <a:xfrm>
            <a:off x="5247314" y="1709928"/>
            <a:ext cx="6313750" cy="289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2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6D237-7ACA-6002-8840-94EB6B58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28FF1-7B7C-FED3-D2C0-9805548A3683}"/>
              </a:ext>
            </a:extLst>
          </p:cNvPr>
          <p:cNvSpPr txBox="1"/>
          <p:nvPr/>
        </p:nvSpPr>
        <p:spPr>
          <a:xfrm>
            <a:off x="841248" y="548640"/>
            <a:ext cx="341954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000" dirty="0" err="1">
                <a:latin typeface="+mj-lt"/>
                <a:ea typeface="+mj-ea"/>
                <a:cs typeface="+mj-cs"/>
              </a:rPr>
              <a:t>Luxatia</a:t>
            </a:r>
            <a:r>
              <a:rPr lang="en-US" sz="5000" dirty="0">
                <a:latin typeface="+mj-lt"/>
                <a:ea typeface="+mj-ea"/>
                <a:cs typeface="+mj-cs"/>
              </a:rPr>
              <a:t> – Metode de </a:t>
            </a:r>
            <a:r>
              <a:rPr lang="en-US" sz="5000" dirty="0" err="1">
                <a:latin typeface="+mj-lt"/>
                <a:ea typeface="+mj-ea"/>
                <a:cs typeface="+mj-cs"/>
              </a:rPr>
              <a:t>tratare</a:t>
            </a:r>
            <a:r>
              <a:rPr lang="en-US" sz="5000" dirty="0">
                <a:latin typeface="+mj-lt"/>
                <a:ea typeface="+mj-ea"/>
                <a:cs typeface="+mj-cs"/>
              </a:rPr>
              <a:t> (</a:t>
            </a:r>
            <a:r>
              <a:rPr lang="ro-RO" sz="5000" dirty="0">
                <a:latin typeface="+mj-lt"/>
                <a:ea typeface="+mj-ea"/>
                <a:cs typeface="+mj-cs"/>
              </a:rPr>
              <a:t>partea 1</a:t>
            </a:r>
            <a:r>
              <a:rPr lang="en-US" sz="5000" dirty="0"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61A5B8-C37F-FF12-087C-15C98B60D763}"/>
              </a:ext>
            </a:extLst>
          </p:cNvPr>
          <p:cNvSpPr txBox="1"/>
          <p:nvPr/>
        </p:nvSpPr>
        <p:spPr>
          <a:xfrm>
            <a:off x="5298595" y="552091"/>
            <a:ext cx="6052158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latin typeface="Comic Sans MS" panose="030F0702030302020204" pitchFamily="66" charset="0"/>
              </a:rPr>
              <a:t>Tratamentul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dislocarii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articulare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consta</a:t>
            </a:r>
            <a:r>
              <a:rPr lang="en-US" sz="1800" dirty="0">
                <a:latin typeface="Comic Sans MS" panose="030F0702030302020204" pitchFamily="66" charset="0"/>
              </a:rPr>
              <a:t> in </a:t>
            </a:r>
            <a:r>
              <a:rPr lang="en-US" sz="1800" dirty="0" err="1">
                <a:latin typeface="Comic Sans MS" panose="030F0702030302020204" pitchFamily="66" charset="0"/>
              </a:rPr>
              <a:t>restabilirea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raporturilor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anatomice</a:t>
            </a:r>
            <a:r>
              <a:rPr lang="en-US" sz="1800" dirty="0">
                <a:latin typeface="Comic Sans MS" panose="030F0702030302020204" pitchFamily="66" charset="0"/>
              </a:rPr>
              <a:t> ale </a:t>
            </a:r>
            <a:r>
              <a:rPr lang="en-US" sz="1800" dirty="0" err="1">
                <a:latin typeface="Comic Sans MS" panose="030F0702030302020204" pitchFamily="66" charset="0"/>
              </a:rPr>
              <a:t>suprafețelor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articulare</a:t>
            </a:r>
            <a:r>
              <a:rPr lang="en-US" sz="1800" dirty="0">
                <a:latin typeface="Comic Sans MS" panose="030F0702030302020204" pitchFamily="66" charset="0"/>
              </a:rPr>
              <a:t>, </a:t>
            </a:r>
            <a:r>
              <a:rPr lang="en-US" sz="1800" dirty="0" err="1">
                <a:latin typeface="Comic Sans MS" panose="030F0702030302020204" pitchFamily="66" charset="0"/>
              </a:rPr>
              <a:t>stabilizare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neurovasculara</a:t>
            </a:r>
            <a:r>
              <a:rPr lang="en-US" sz="1800" dirty="0">
                <a:latin typeface="Comic Sans MS" panose="030F0702030302020204" pitchFamily="66" charset="0"/>
              </a:rPr>
              <a:t> (in </a:t>
            </a:r>
            <a:r>
              <a:rPr lang="en-US" sz="1800" dirty="0" err="1">
                <a:latin typeface="Comic Sans MS" panose="030F0702030302020204" pitchFamily="66" charset="0"/>
              </a:rPr>
              <a:t>prezenta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leziunilor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structurilor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colaterale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nervoase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si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vasculare</a:t>
            </a:r>
            <a:r>
              <a:rPr lang="en-US" sz="1800" dirty="0">
                <a:latin typeface="Comic Sans MS" panose="030F0702030302020204" pitchFamily="66" charset="0"/>
              </a:rPr>
              <a:t>) </a:t>
            </a:r>
            <a:r>
              <a:rPr lang="en-US" sz="1800" dirty="0" err="1">
                <a:latin typeface="Comic Sans MS" panose="030F0702030302020204" pitchFamily="66" charset="0"/>
              </a:rPr>
              <a:t>si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imobilizare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gipsata</a:t>
            </a:r>
            <a:r>
              <a:rPr lang="en-US" sz="1800" dirty="0">
                <a:latin typeface="Comic Sans MS" panose="030F0702030302020204" pitchFamily="66" charset="0"/>
              </a:rPr>
              <a:t> a </a:t>
            </a:r>
            <a:r>
              <a:rPr lang="en-US" sz="1800" dirty="0" err="1">
                <a:latin typeface="Comic Sans MS" panose="030F0702030302020204" pitchFamily="66" charset="0"/>
              </a:rPr>
              <a:t>articulatiei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afectate</a:t>
            </a:r>
            <a:r>
              <a:rPr lang="en-US" sz="1800" dirty="0">
                <a:latin typeface="Comic Sans MS" panose="030F0702030302020204" pitchFamily="66" charset="0"/>
              </a:rPr>
              <a:t>.</a:t>
            </a:r>
            <a:endParaRPr lang="ro-RO" sz="1800" dirty="0">
              <a:latin typeface="Comic Sans MS" panose="030F0702030302020204" pitchFamily="66" charset="0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latin typeface="Comic Sans MS" panose="030F0702030302020204" pitchFamily="66" charset="0"/>
              </a:rPr>
              <a:t>Dislocarea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articulară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poate</a:t>
            </a:r>
            <a:r>
              <a:rPr lang="en-US" sz="1800" dirty="0">
                <a:latin typeface="Comic Sans MS" panose="030F0702030302020204" pitchFamily="66" charset="0"/>
              </a:rPr>
              <a:t> fi </a:t>
            </a:r>
            <a:r>
              <a:rPr lang="en-US" sz="1800" dirty="0" err="1">
                <a:latin typeface="Comic Sans MS" panose="030F0702030302020204" pitchFamily="66" charset="0"/>
              </a:rPr>
              <a:t>tratata</a:t>
            </a:r>
            <a:r>
              <a:rPr lang="en-US" sz="1800" dirty="0">
                <a:latin typeface="Comic Sans MS" panose="030F0702030302020204" pitchFamily="66" charset="0"/>
              </a:rPr>
              <a:t> chirurgical </a:t>
            </a:r>
            <a:r>
              <a:rPr lang="en-US" sz="1800" dirty="0" err="1">
                <a:latin typeface="Comic Sans MS" panose="030F0702030302020204" pitchFamily="66" charset="0"/>
              </a:rPr>
              <a:t>prin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intermediul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artroscopiei</a:t>
            </a:r>
            <a:r>
              <a:rPr lang="en-US" sz="1800" dirty="0">
                <a:latin typeface="Comic Sans MS" panose="030F0702030302020204" pitchFamily="66" charset="0"/>
              </a:rPr>
              <a:t> in </a:t>
            </a:r>
            <a:r>
              <a:rPr lang="en-US" sz="1800" dirty="0" err="1">
                <a:latin typeface="Comic Sans MS" panose="030F0702030302020204" pitchFamily="66" charset="0"/>
              </a:rPr>
              <a:t>situatia</a:t>
            </a:r>
            <a:r>
              <a:rPr lang="en-US" sz="1800" dirty="0">
                <a:latin typeface="Comic Sans MS" panose="030F0702030302020204" pitchFamily="66" charset="0"/>
              </a:rPr>
              <a:t> in care </a:t>
            </a:r>
            <a:r>
              <a:rPr lang="en-US" sz="1800" dirty="0" err="1">
                <a:latin typeface="Comic Sans MS" panose="030F0702030302020204" pitchFamily="66" charset="0"/>
              </a:rPr>
              <a:t>structurile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afectate</a:t>
            </a:r>
            <a:r>
              <a:rPr lang="en-US" sz="1800" dirty="0">
                <a:latin typeface="Comic Sans MS" panose="030F0702030302020204" pitchFamily="66" charset="0"/>
              </a:rPr>
              <a:t> (</a:t>
            </a:r>
            <a:r>
              <a:rPr lang="en-US" sz="1800" dirty="0" err="1">
                <a:latin typeface="Comic Sans MS" panose="030F0702030302020204" pitchFamily="66" charset="0"/>
              </a:rPr>
              <a:t>tendoane</a:t>
            </a:r>
            <a:r>
              <a:rPr lang="en-US" sz="1800" dirty="0">
                <a:latin typeface="Comic Sans MS" panose="030F0702030302020204" pitchFamily="66" charset="0"/>
              </a:rPr>
              <a:t>, </a:t>
            </a:r>
            <a:r>
              <a:rPr lang="en-US" sz="1800" dirty="0" err="1">
                <a:latin typeface="Comic Sans MS" panose="030F0702030302020204" pitchFamily="66" charset="0"/>
              </a:rPr>
              <a:t>ligamente</a:t>
            </a:r>
            <a:r>
              <a:rPr lang="en-US" sz="1800" dirty="0">
                <a:latin typeface="Comic Sans MS" panose="030F0702030302020204" pitchFamily="66" charset="0"/>
              </a:rPr>
              <a:t>, </a:t>
            </a:r>
            <a:r>
              <a:rPr lang="en-US" sz="1800" dirty="0" err="1">
                <a:latin typeface="Comic Sans MS" panose="030F0702030302020204" pitchFamily="66" charset="0"/>
              </a:rPr>
              <a:t>cartilaje</a:t>
            </a:r>
            <a:r>
              <a:rPr lang="en-US" sz="1800" dirty="0">
                <a:latin typeface="Comic Sans MS" panose="030F0702030302020204" pitchFamily="66" charset="0"/>
              </a:rPr>
              <a:t>, </a:t>
            </a:r>
            <a:r>
              <a:rPr lang="en-US" sz="1800" dirty="0" err="1">
                <a:latin typeface="Comic Sans MS" panose="030F0702030302020204" pitchFamily="66" charset="0"/>
              </a:rPr>
              <a:t>oase</a:t>
            </a:r>
            <a:r>
              <a:rPr lang="en-US" sz="1800" dirty="0">
                <a:latin typeface="Comic Sans MS" panose="030F0702030302020204" pitchFamily="66" charset="0"/>
              </a:rPr>
              <a:t>) </a:t>
            </a:r>
            <a:r>
              <a:rPr lang="en-US" sz="1800" dirty="0" err="1">
                <a:latin typeface="Comic Sans MS" panose="030F0702030302020204" pitchFamily="66" charset="0"/>
              </a:rPr>
              <a:t>prezinta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leziuni</a:t>
            </a:r>
            <a:r>
              <a:rPr lang="en-US" sz="1800" dirty="0">
                <a:latin typeface="Comic Sans MS" panose="030F0702030302020204" pitchFamily="66" charset="0"/>
              </a:rPr>
              <a:t> cu </a:t>
            </a:r>
            <a:r>
              <a:rPr lang="en-US" sz="1800" dirty="0" err="1">
                <a:latin typeface="Comic Sans MS" panose="030F0702030302020204" pitchFamily="66" charset="0"/>
              </a:rPr>
              <a:t>risc</a:t>
            </a:r>
            <a:r>
              <a:rPr lang="en-US" sz="1800" dirty="0">
                <a:latin typeface="Comic Sans MS" panose="030F0702030302020204" pitchFamily="66" charset="0"/>
              </a:rPr>
              <a:t> de </a:t>
            </a:r>
            <a:r>
              <a:rPr lang="en-US" sz="1800" dirty="0" err="1">
                <a:latin typeface="Comic Sans MS" panose="030F0702030302020204" pitchFamily="66" charset="0"/>
              </a:rPr>
              <a:t>recidiva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si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evolutie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nefavorabila</a:t>
            </a:r>
            <a:r>
              <a:rPr lang="en-US" sz="1800" dirty="0">
                <a:latin typeface="Comic Sans MS" panose="030F0702030302020204" pitchFamily="66" charset="0"/>
              </a:rPr>
              <a:t> pe termen lung. </a:t>
            </a:r>
            <a:r>
              <a:rPr lang="en-US" sz="1800" dirty="0" err="1">
                <a:latin typeface="Comic Sans MS" panose="030F0702030302020204" pitchFamily="66" charset="0"/>
              </a:rPr>
              <a:t>Interventia</a:t>
            </a:r>
            <a:r>
              <a:rPr lang="en-US" sz="1800" dirty="0">
                <a:latin typeface="Comic Sans MS" panose="030F0702030302020204" pitchFamily="66" charset="0"/>
              </a:rPr>
              <a:t> minim </a:t>
            </a:r>
            <a:r>
              <a:rPr lang="en-US" sz="1800" dirty="0" err="1">
                <a:latin typeface="Comic Sans MS" panose="030F0702030302020204" pitchFamily="66" charset="0"/>
              </a:rPr>
              <a:t>invaziva</a:t>
            </a:r>
            <a:r>
              <a:rPr lang="en-US" sz="1800" dirty="0">
                <a:latin typeface="Comic Sans MS" panose="030F0702030302020204" pitchFamily="66" charset="0"/>
              </a:rPr>
              <a:t> are ca scop </a:t>
            </a:r>
            <a:r>
              <a:rPr lang="en-US" sz="1800" dirty="0" err="1">
                <a:latin typeface="Comic Sans MS" panose="030F0702030302020204" pitchFamily="66" charset="0"/>
              </a:rPr>
              <a:t>remedierea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rapida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si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eficienta</a:t>
            </a:r>
            <a:r>
              <a:rPr lang="en-US" sz="1800" dirty="0">
                <a:latin typeface="Comic Sans MS" panose="030F0702030302020204" pitchFamily="66" charset="0"/>
              </a:rPr>
              <a:t> a </a:t>
            </a:r>
            <a:r>
              <a:rPr lang="en-US" sz="1800" dirty="0" err="1">
                <a:latin typeface="Comic Sans MS" panose="030F0702030302020204" pitchFamily="66" charset="0"/>
              </a:rPr>
              <a:t>leziunilor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articulare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pentru</a:t>
            </a:r>
            <a:r>
              <a:rPr lang="en-US" sz="1800" dirty="0">
                <a:latin typeface="Comic Sans MS" panose="030F0702030302020204" pitchFamily="66" charset="0"/>
              </a:rPr>
              <a:t> a </a:t>
            </a:r>
            <a:r>
              <a:rPr lang="en-US" sz="1800" dirty="0" err="1">
                <a:latin typeface="Comic Sans MS" panose="030F0702030302020204" pitchFamily="66" charset="0"/>
              </a:rPr>
              <a:t>evita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riscul</a:t>
            </a:r>
            <a:r>
              <a:rPr lang="en-US" sz="1800" dirty="0">
                <a:latin typeface="Comic Sans MS" panose="030F0702030302020204" pitchFamily="66" charset="0"/>
              </a:rPr>
              <a:t> de </a:t>
            </a:r>
            <a:r>
              <a:rPr lang="en-US" sz="1800" dirty="0" err="1">
                <a:latin typeface="Comic Sans MS" panose="030F0702030302020204" pitchFamily="66" charset="0"/>
              </a:rPr>
              <a:t>aparitie</a:t>
            </a:r>
            <a:r>
              <a:rPr lang="en-US" sz="1800" dirty="0">
                <a:latin typeface="Comic Sans MS" panose="030F0702030302020204" pitchFamily="66" charset="0"/>
              </a:rPr>
              <a:t> al </a:t>
            </a:r>
            <a:r>
              <a:rPr lang="en-US" sz="1800" dirty="0" err="1">
                <a:latin typeface="Comic Sans MS" panose="030F0702030302020204" pitchFamily="66" charset="0"/>
              </a:rPr>
              <a:t>complicatiilor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si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favorizarea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recuperarii</a:t>
            </a:r>
            <a:r>
              <a:rPr lang="en-US" sz="1800" dirty="0">
                <a:latin typeface="Comic Sans MS" panose="030F0702030302020204" pitchFamily="66" charset="0"/>
              </a:rPr>
              <a:t> </a:t>
            </a:r>
            <a:r>
              <a:rPr lang="en-US" sz="1800" dirty="0" err="1">
                <a:latin typeface="Comic Sans MS" panose="030F0702030302020204" pitchFamily="66" charset="0"/>
              </a:rPr>
              <a:t>rapide</a:t>
            </a:r>
            <a:r>
              <a:rPr lang="en-US" sz="1800" dirty="0">
                <a:latin typeface="Comic Sans MS" panose="030F0702030302020204" pitchFamily="66" charset="0"/>
              </a:rPr>
              <a:t> a </a:t>
            </a:r>
            <a:r>
              <a:rPr lang="en-US" sz="1800" dirty="0" err="1">
                <a:latin typeface="Comic Sans MS" panose="030F0702030302020204" pitchFamily="66" charset="0"/>
              </a:rPr>
              <a:t>pacientului</a:t>
            </a:r>
            <a:r>
              <a:rPr lang="en-US" sz="18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403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A4B13-BF90-1A47-97C3-250BAA76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74BDF-D024-9ACF-E8EE-02B8ED483554}"/>
              </a:ext>
            </a:extLst>
          </p:cNvPr>
          <p:cNvSpPr txBox="1"/>
          <p:nvPr/>
        </p:nvSpPr>
        <p:spPr>
          <a:xfrm>
            <a:off x="841248" y="548640"/>
            <a:ext cx="341954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000" dirty="0" err="1">
                <a:latin typeface="+mj-lt"/>
                <a:ea typeface="+mj-ea"/>
                <a:cs typeface="+mj-cs"/>
              </a:rPr>
              <a:t>Luxatia</a:t>
            </a:r>
            <a:r>
              <a:rPr lang="en-US" sz="5000" dirty="0">
                <a:latin typeface="+mj-lt"/>
                <a:ea typeface="+mj-ea"/>
                <a:cs typeface="+mj-cs"/>
              </a:rPr>
              <a:t> – Metode de </a:t>
            </a:r>
            <a:r>
              <a:rPr lang="en-US" sz="5000" dirty="0" err="1">
                <a:latin typeface="+mj-lt"/>
                <a:ea typeface="+mj-ea"/>
                <a:cs typeface="+mj-cs"/>
              </a:rPr>
              <a:t>tratare</a:t>
            </a:r>
            <a:r>
              <a:rPr lang="en-US" sz="5000" dirty="0">
                <a:latin typeface="+mj-lt"/>
                <a:ea typeface="+mj-ea"/>
                <a:cs typeface="+mj-cs"/>
              </a:rPr>
              <a:t> (</a:t>
            </a:r>
            <a:r>
              <a:rPr lang="ro-RO" sz="5000" dirty="0">
                <a:latin typeface="+mj-lt"/>
                <a:ea typeface="+mj-ea"/>
                <a:cs typeface="+mj-cs"/>
              </a:rPr>
              <a:t>partea 2</a:t>
            </a:r>
            <a:r>
              <a:rPr lang="en-US" sz="5000" dirty="0"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5AF28-E541-B19F-B933-0C57F4F354CB}"/>
              </a:ext>
            </a:extLst>
          </p:cNvPr>
          <p:cNvSpPr txBox="1"/>
          <p:nvPr/>
        </p:nvSpPr>
        <p:spPr>
          <a:xfrm>
            <a:off x="5298595" y="552091"/>
            <a:ext cx="6052158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omic Sans MS" panose="030F0702030302020204" pitchFamily="66" charset="0"/>
              </a:rPr>
              <a:t>Fizioterapia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utilizeaza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ultrasunete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sau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curenti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dinamici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pentru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diminuarea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durerii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inflamatiei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articulare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prin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stimularea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circulatiei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sangvine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accelerarea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proceselor</a:t>
            </a:r>
            <a:r>
              <a:rPr lang="en-US" dirty="0">
                <a:latin typeface="Comic Sans MS" panose="030F0702030302020204" pitchFamily="66" charset="0"/>
              </a:rPr>
              <a:t> de </a:t>
            </a:r>
            <a:r>
              <a:rPr lang="en-US" dirty="0" err="1">
                <a:latin typeface="Comic Sans MS" panose="030F0702030302020204" pitchFamily="66" charset="0"/>
              </a:rPr>
              <a:t>vindecare</a:t>
            </a:r>
            <a:r>
              <a:rPr lang="en-US" dirty="0">
                <a:latin typeface="Comic Sans MS" panose="030F0702030302020204" pitchFamily="66" charset="0"/>
              </a:rPr>
              <a:t>. </a:t>
            </a:r>
            <a:r>
              <a:rPr lang="en-US" dirty="0" err="1">
                <a:latin typeface="Comic Sans MS" panose="030F0702030302020204" pitchFamily="66" charset="0"/>
              </a:rPr>
              <a:t>Metoda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poate</a:t>
            </a:r>
            <a:r>
              <a:rPr lang="en-US" dirty="0">
                <a:latin typeface="Comic Sans MS" panose="030F0702030302020204" pitchFamily="66" charset="0"/>
              </a:rPr>
              <a:t> fi </a:t>
            </a:r>
            <a:r>
              <a:rPr lang="en-US" dirty="0" err="1">
                <a:latin typeface="Comic Sans MS" panose="030F0702030302020204" pitchFamily="66" charset="0"/>
              </a:rPr>
              <a:t>aplicata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atat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dupa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reducerea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luxatiei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indepartarea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gipsului</a:t>
            </a:r>
            <a:r>
              <a:rPr lang="en-US" dirty="0">
                <a:latin typeface="Comic Sans MS" panose="030F0702030302020204" pitchFamily="66" charset="0"/>
              </a:rPr>
              <a:t> cat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dupa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interventia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chirurgicala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artroscopica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pentru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recuperarea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medicala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postoperatorie</a:t>
            </a:r>
            <a:r>
              <a:rPr lang="en-US" dirty="0">
                <a:latin typeface="Comic Sans MS" panose="030F0702030302020204" pitchFamily="66" charset="0"/>
              </a:rPr>
              <a:t> a </a:t>
            </a:r>
            <a:r>
              <a:rPr lang="en-US" dirty="0" err="1">
                <a:latin typeface="Comic Sans MS" panose="030F0702030302020204" pitchFamily="66" charset="0"/>
              </a:rPr>
              <a:t>pacientului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omic Sans MS" panose="030F0702030302020204" pitchFamily="66" charset="0"/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omic Sans MS" panose="030F0702030302020204" pitchFamily="66" charset="0"/>
              </a:rPr>
              <a:t>Kinetoterapia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presupune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mobilizarea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articulatiei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afectate</a:t>
            </a:r>
            <a:r>
              <a:rPr lang="en-US" dirty="0">
                <a:latin typeface="Comic Sans MS" panose="030F0702030302020204" pitchFamily="66" charset="0"/>
              </a:rPr>
              <a:t> in mod </a:t>
            </a:r>
            <a:r>
              <a:rPr lang="en-US" dirty="0" err="1">
                <a:latin typeface="Comic Sans MS" panose="030F0702030302020204" pitchFamily="66" charset="0"/>
              </a:rPr>
              <a:t>pasiv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prin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exercitii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specifice</a:t>
            </a:r>
            <a:r>
              <a:rPr lang="en-US" dirty="0">
                <a:latin typeface="Comic Sans MS" panose="030F0702030302020204" pitchFamily="66" charset="0"/>
              </a:rPr>
              <a:t> care </a:t>
            </a:r>
            <a:r>
              <a:rPr lang="en-US" dirty="0" err="1">
                <a:latin typeface="Comic Sans MS" panose="030F0702030302020204" pitchFamily="66" charset="0"/>
              </a:rPr>
              <a:t>previn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rigidizarea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articulara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favorizeaza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redobandirea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functiilor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motorii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de </a:t>
            </a:r>
            <a:r>
              <a:rPr lang="en-US" dirty="0" err="1">
                <a:latin typeface="Comic Sans MS" panose="030F0702030302020204" pitchFamily="66" charset="0"/>
              </a:rPr>
              <a:t>sustinere</a:t>
            </a:r>
            <a:r>
              <a:rPr lang="en-US" dirty="0">
                <a:latin typeface="Comic Sans MS" panose="030F0702030302020204" pitchFamily="66" charset="0"/>
              </a:rPr>
              <a:t> ale </a:t>
            </a:r>
            <a:r>
              <a:rPr lang="en-US" dirty="0" err="1">
                <a:latin typeface="Comic Sans MS" panose="030F0702030302020204" pitchFamily="66" charset="0"/>
              </a:rPr>
              <a:t>membrului</a:t>
            </a:r>
            <a:r>
              <a:rPr lang="en-US" dirty="0">
                <a:latin typeface="Comic Sans MS" panose="030F0702030302020204" pitchFamily="66" charset="0"/>
              </a:rPr>
              <a:t> </a:t>
            </a:r>
            <a:r>
              <a:rPr lang="en-US" dirty="0" err="1">
                <a:latin typeface="Comic Sans MS" panose="030F0702030302020204" pitchFamily="66" charset="0"/>
              </a:rPr>
              <a:t>afectat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40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A388B-A326-4792-7265-AF892C7C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C5DE371-4884-B896-7A17-759ED19BC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6C83931-430D-9374-D43D-E50A84E84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C039C-774B-5BED-1924-E8B55C9EBD08}"/>
              </a:ext>
            </a:extLst>
          </p:cNvPr>
          <p:cNvSpPr txBox="1"/>
          <p:nvPr/>
        </p:nvSpPr>
        <p:spPr>
          <a:xfrm>
            <a:off x="841248" y="548640"/>
            <a:ext cx="341954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latin typeface="+mj-lt"/>
                <a:ea typeface="+mj-ea"/>
                <a:cs typeface="+mj-cs"/>
              </a:rPr>
              <a:t>Luxatia</a:t>
            </a:r>
            <a:r>
              <a:rPr lang="en-US" sz="4400" dirty="0">
                <a:latin typeface="+mj-lt"/>
                <a:ea typeface="+mj-ea"/>
                <a:cs typeface="+mj-cs"/>
              </a:rPr>
              <a:t> – De </a:t>
            </a:r>
            <a:r>
              <a:rPr lang="en-US" sz="4400" dirty="0" err="1">
                <a:latin typeface="+mj-lt"/>
                <a:ea typeface="+mj-ea"/>
                <a:cs typeface="+mj-cs"/>
              </a:rPr>
              <a:t>ce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apare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dislocarea</a:t>
            </a:r>
            <a:r>
              <a:rPr lang="en-US" sz="4400" dirty="0">
                <a:latin typeface="+mj-lt"/>
                <a:ea typeface="+mj-ea"/>
                <a:cs typeface="+mj-cs"/>
              </a:rPr>
              <a:t> articular</a:t>
            </a:r>
            <a:r>
              <a:rPr lang="ro-RO" sz="4400" dirty="0">
                <a:latin typeface="+mj-lt"/>
                <a:ea typeface="+mj-ea"/>
                <a:cs typeface="+mj-cs"/>
              </a:rPr>
              <a:t>?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ro-RO" sz="4400" dirty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ro-RO" sz="4400" dirty="0">
                <a:latin typeface="+mj-lt"/>
                <a:ea typeface="+mj-ea"/>
                <a:cs typeface="+mj-cs"/>
              </a:rPr>
              <a:t>Care sunt simptomele luxatiei?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DD03843-F126-554D-F5EE-0BA8D367B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0368B7-B740-3F4C-4713-D74A7A09D1F9}"/>
              </a:ext>
            </a:extLst>
          </p:cNvPr>
          <p:cNvSpPr txBox="1"/>
          <p:nvPr/>
        </p:nvSpPr>
        <p:spPr>
          <a:xfrm>
            <a:off x="5298595" y="254000"/>
            <a:ext cx="6052158" cy="6347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- </a:t>
            </a:r>
            <a:r>
              <a:rPr lang="en-US" dirty="0">
                <a:latin typeface="Comic Sans MS" panose="030F0702030302020204" pitchFamily="66" charset="0"/>
              </a:rPr>
              <a:t>De </a:t>
            </a:r>
            <a:r>
              <a:rPr lang="en-US" dirty="0" err="1">
                <a:latin typeface="Comic Sans MS" panose="030F0702030302020204" pitchFamily="66" charset="0"/>
              </a:rPr>
              <a:t>ce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apare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dislocarea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articulara</a:t>
            </a:r>
            <a:r>
              <a:rPr lang="ro-RO" dirty="0">
                <a:latin typeface="Comic Sans MS" panose="030F0702030302020204" pitchFamily="66" charset="0"/>
              </a:rPr>
              <a:t>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latin typeface="Comic Sans MS" panose="030F0702030302020204" pitchFamily="66" charset="0"/>
              </a:rPr>
              <a:t>Luxatia</a:t>
            </a:r>
            <a:r>
              <a:rPr lang="en-US" dirty="0">
                <a:latin typeface="Comic Sans MS" panose="030F0702030302020204" pitchFamily="66" charset="0"/>
              </a:rPr>
              <a:t> se </a:t>
            </a:r>
            <a:r>
              <a:rPr lang="en-US" dirty="0" err="1">
                <a:latin typeface="Comic Sans MS" panose="030F0702030302020204" pitchFamily="66" charset="0"/>
              </a:rPr>
              <a:t>poate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datora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unui</a:t>
            </a:r>
            <a:r>
              <a:rPr lang="en-US" dirty="0">
                <a:latin typeface="Comic Sans MS" panose="030F0702030302020204" pitchFamily="66" charset="0"/>
              </a:rPr>
              <a:t> traumatism (</a:t>
            </a:r>
            <a:r>
              <a:rPr lang="en-US" dirty="0" err="1">
                <a:latin typeface="Comic Sans MS" panose="030F0702030302020204" pitchFamily="66" charset="0"/>
              </a:rPr>
              <a:t>caderi</a:t>
            </a:r>
            <a:r>
              <a:rPr lang="en-US" dirty="0">
                <a:latin typeface="Comic Sans MS" panose="030F0702030302020204" pitchFamily="66" charset="0"/>
              </a:rPr>
              <a:t> de la </a:t>
            </a:r>
            <a:r>
              <a:rPr lang="en-US" dirty="0" err="1">
                <a:latin typeface="Comic Sans MS" panose="030F0702030302020204" pitchFamily="66" charset="0"/>
              </a:rPr>
              <a:t>inaltime</a:t>
            </a:r>
            <a:r>
              <a:rPr lang="en-US" dirty="0">
                <a:latin typeface="Comic Sans MS" panose="030F0702030302020204" pitchFamily="66" charset="0"/>
              </a:rPr>
              <a:t>, </a:t>
            </a:r>
            <a:r>
              <a:rPr lang="en-US" dirty="0" err="1">
                <a:latin typeface="Comic Sans MS" panose="030F0702030302020204" pitchFamily="66" charset="0"/>
              </a:rPr>
              <a:t>accidente</a:t>
            </a:r>
            <a:r>
              <a:rPr lang="en-US" dirty="0">
                <a:latin typeface="Comic Sans MS" panose="030F0702030302020204" pitchFamily="66" charset="0"/>
              </a:rPr>
              <a:t> auto) </a:t>
            </a:r>
            <a:r>
              <a:rPr lang="en-US" dirty="0" err="1">
                <a:latin typeface="Comic Sans MS" panose="030F0702030302020204" pitchFamily="66" charset="0"/>
              </a:rPr>
              <a:t>sau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stres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mecanic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intens</a:t>
            </a:r>
            <a:r>
              <a:rPr lang="en-US" dirty="0">
                <a:latin typeface="Comic Sans MS" panose="030F0702030302020204" pitchFamily="66" charset="0"/>
              </a:rPr>
              <a:t> (</a:t>
            </a:r>
            <a:r>
              <a:rPr lang="en-US" dirty="0" err="1">
                <a:latin typeface="Comic Sans MS" panose="030F0702030302020204" pitchFamily="66" charset="0"/>
              </a:rPr>
              <a:t>efort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fizic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brusc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fara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incalzire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prealabila</a:t>
            </a:r>
            <a:r>
              <a:rPr lang="en-US" dirty="0">
                <a:latin typeface="Comic Sans MS" panose="030F0702030302020204" pitchFamily="66" charset="0"/>
              </a:rPr>
              <a:t>), </a:t>
            </a:r>
            <a:r>
              <a:rPr lang="en-US" dirty="0" err="1">
                <a:latin typeface="Comic Sans MS" panose="030F0702030302020204" pitchFamily="66" charset="0"/>
              </a:rPr>
              <a:t>insa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poate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avea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si</a:t>
            </a:r>
            <a:r>
              <a:rPr lang="en-US" dirty="0">
                <a:latin typeface="Comic Sans MS" panose="030F0702030302020204" pitchFamily="66" charset="0"/>
              </a:rPr>
              <a:t> determinism genetic (</a:t>
            </a:r>
            <a:r>
              <a:rPr lang="en-US" dirty="0" err="1">
                <a:latin typeface="Comic Sans MS" panose="030F0702030302020204" pitchFamily="66" charset="0"/>
              </a:rPr>
              <a:t>malformatii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congenitale</a:t>
            </a:r>
            <a:r>
              <a:rPr lang="en-US" dirty="0">
                <a:latin typeface="Comic Sans MS" panose="030F0702030302020204" pitchFamily="66" charset="0"/>
              </a:rPr>
              <a:t>) </a:t>
            </a:r>
            <a:r>
              <a:rPr lang="en-US" dirty="0" err="1">
                <a:latin typeface="Comic Sans MS" panose="030F0702030302020204" pitchFamily="66" charset="0"/>
              </a:rPr>
              <a:t>putand</a:t>
            </a:r>
            <a:r>
              <a:rPr lang="en-US" dirty="0">
                <a:latin typeface="Comic Sans MS" panose="030F0702030302020204" pitchFamily="66" charset="0"/>
              </a:rPr>
              <a:t> fi </a:t>
            </a:r>
            <a:r>
              <a:rPr lang="en-US" dirty="0" err="1">
                <a:latin typeface="Comic Sans MS" panose="030F0702030302020204" pitchFamily="66" charset="0"/>
              </a:rPr>
              <a:t>prezenta</a:t>
            </a:r>
            <a:r>
              <a:rPr lang="en-US" dirty="0">
                <a:latin typeface="Comic Sans MS" panose="030F0702030302020204" pitchFamily="66" charset="0"/>
              </a:rPr>
              <a:t> la </a:t>
            </a:r>
            <a:r>
              <a:rPr lang="en-US" dirty="0" err="1">
                <a:latin typeface="Comic Sans MS" panose="030F0702030302020204" pitchFamily="66" charset="0"/>
              </a:rPr>
              <a:t>toate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categoriile</a:t>
            </a:r>
            <a:r>
              <a:rPr lang="en-US" dirty="0">
                <a:latin typeface="Comic Sans MS" panose="030F0702030302020204" pitchFamily="66" charset="0"/>
              </a:rPr>
              <a:t> de </a:t>
            </a:r>
            <a:r>
              <a:rPr lang="en-US" dirty="0" err="1">
                <a:latin typeface="Comic Sans MS" panose="030F0702030302020204" pitchFamily="66" charset="0"/>
              </a:rPr>
              <a:t>varsta</a:t>
            </a:r>
            <a:r>
              <a:rPr lang="en-US" dirty="0">
                <a:latin typeface="Comic Sans MS" panose="030F0702030302020204" pitchFamily="66" charset="0"/>
              </a:rPr>
              <a:t>.</a:t>
            </a:r>
            <a:br>
              <a:rPr lang="ro-RO" dirty="0">
                <a:latin typeface="Comic Sans MS" panose="030F0702030302020204" pitchFamily="66" charset="0"/>
              </a:rPr>
            </a:br>
            <a:br>
              <a:rPr lang="ro-RO" dirty="0">
                <a:latin typeface="Comic Sans MS" panose="030F0702030302020204" pitchFamily="66" charset="0"/>
              </a:rPr>
            </a:br>
            <a:r>
              <a:rPr lang="ro-RO" dirty="0">
                <a:latin typeface="Comic Sans MS" panose="030F0702030302020204" pitchFamily="66" charset="0"/>
              </a:rPr>
              <a:t>- Care sunt simptomele luxatiei?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Dislocarea articulației determina într o prima etapa aparitia durerii în zona afectata, durere severa care se insoteste de impotenta functionala a articulației membrului afectat. Alte simptome prezente in cazul luxatiei care pot aparea in cazul rupturilor ligamentare si afectarea structurilor nervoase adiacente sunt reprezentate de: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Tumefiere;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Deformarea accentuata a articulatiei;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Mobilitate anormala a structurilor osoase din componenta articulatiei afectate;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Lipsa pulsului periferic;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ro-RO" dirty="0">
                <a:latin typeface="Comic Sans MS" panose="030F0702030302020204" pitchFamily="66" charset="0"/>
              </a:rPr>
              <a:t>Senzatia de rece la nivelul articulatiei.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77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FEF86-39F9-7387-5EF2-B8A93D08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4F53D3-DC7E-4BFC-F175-F36289C4D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2CA15B3-D1DE-06AC-C425-A9173E632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D376E14-CA56-3238-118D-A36AFB192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95F520D-05CA-4DED-D72E-6B9EC5A17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95F520D-05CA-4DED-D72E-6B9EC5A17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1077B66-9D86-C3D5-73C2-18960A80D197}"/>
              </a:ext>
            </a:extLst>
          </p:cNvPr>
          <p:cNvSpPr txBox="1"/>
          <p:nvPr/>
        </p:nvSpPr>
        <p:spPr>
          <a:xfrm>
            <a:off x="5661537" y="653450"/>
            <a:ext cx="5708324" cy="2414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Fractura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Ce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este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Fractura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78433-B2B6-AB61-5734-6C87B29A30B9}"/>
              </a:ext>
            </a:extLst>
          </p:cNvPr>
          <p:cNvSpPr txBox="1"/>
          <p:nvPr/>
        </p:nvSpPr>
        <p:spPr>
          <a:xfrm>
            <a:off x="5661537" y="2197357"/>
            <a:ext cx="6196546" cy="45249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FRACTURĂ </a:t>
            </a:r>
            <a:r>
              <a:rPr lang="en-US" dirty="0" err="1">
                <a:solidFill>
                  <a:schemeClr val="bg1"/>
                </a:solidFill>
              </a:rPr>
              <a:t>însemna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întreruperea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continuității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unui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</a:t>
            </a:r>
            <a:r>
              <a:rPr lang="en-US" dirty="0">
                <a:solidFill>
                  <a:schemeClr val="bg1"/>
                </a:solidFill>
              </a:rPr>
              <a:t>. Cel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des </a:t>
            </a:r>
            <a:r>
              <a:rPr lang="en-US" dirty="0" err="1">
                <a:solidFill>
                  <a:schemeClr val="bg1"/>
                </a:solidFill>
              </a:rPr>
              <a:t>survine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urma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unui</a:t>
            </a:r>
            <a:r>
              <a:rPr lang="en-US" dirty="0">
                <a:solidFill>
                  <a:schemeClr val="bg1"/>
                </a:solidFill>
              </a:rPr>
              <a:t> traumatism; </a:t>
            </a:r>
            <a:r>
              <a:rPr lang="en-US" dirty="0" err="1">
                <a:solidFill>
                  <a:schemeClr val="bg1"/>
                </a:solidFill>
              </a:rPr>
              <a:t>uneori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survine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lipsa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unui</a:t>
            </a:r>
            <a:r>
              <a:rPr lang="en-US" dirty="0">
                <a:solidFill>
                  <a:schemeClr val="bg1"/>
                </a:solidFill>
              </a:rPr>
              <a:t> traumatism </a:t>
            </a:r>
            <a:r>
              <a:rPr lang="en-US" dirty="0" err="1">
                <a:solidFill>
                  <a:schemeClr val="bg1"/>
                </a:solidFill>
              </a:rPr>
              <a:t>semnificativ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dacă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respectiv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afectat</a:t>
            </a:r>
            <a:r>
              <a:rPr lang="en-US" dirty="0">
                <a:solidFill>
                  <a:schemeClr val="bg1"/>
                </a:solidFill>
              </a:rPr>
              <a:t> de un </a:t>
            </a:r>
            <a:r>
              <a:rPr lang="en-US" dirty="0" err="1">
                <a:solidFill>
                  <a:schemeClr val="bg1"/>
                </a:solidFill>
              </a:rPr>
              <a:t>proces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patologic</a:t>
            </a:r>
            <a:r>
              <a:rPr lang="en-US" dirty="0">
                <a:solidFill>
                  <a:schemeClr val="bg1"/>
                </a:solidFill>
              </a:rPr>
              <a:t>, cum </a:t>
            </a:r>
            <a:r>
              <a:rPr lang="en-US" dirty="0" err="1">
                <a:solidFill>
                  <a:schemeClr val="bg1"/>
                </a:solidFill>
              </a:rPr>
              <a:t>ar</a:t>
            </a:r>
            <a:r>
              <a:rPr lang="en-US" dirty="0">
                <a:solidFill>
                  <a:schemeClr val="bg1"/>
                </a:solidFill>
              </a:rPr>
              <a:t> fi </a:t>
            </a:r>
            <a:r>
              <a:rPr lang="en-US" dirty="0" err="1">
                <a:solidFill>
                  <a:schemeClr val="bg1"/>
                </a:solidFill>
              </a:rPr>
              <a:t>osteoporoza</a:t>
            </a:r>
            <a:r>
              <a:rPr lang="en-US" dirty="0">
                <a:solidFill>
                  <a:schemeClr val="bg1"/>
                </a:solidFill>
              </a:rPr>
              <a:t>, o </a:t>
            </a:r>
            <a:r>
              <a:rPr lang="en-US" dirty="0" err="1">
                <a:solidFill>
                  <a:schemeClr val="bg1"/>
                </a:solidFill>
              </a:rPr>
              <a:t>infecție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tumoră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Clasificarea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fracturilor</a:t>
            </a:r>
            <a:r>
              <a:rPr lang="en-US" dirty="0">
                <a:solidFill>
                  <a:schemeClr val="bg1"/>
                </a:solidFill>
              </a:rPr>
              <a:t> se </a:t>
            </a:r>
            <a:r>
              <a:rPr lang="en-US" dirty="0" err="1">
                <a:solidFill>
                  <a:schemeClr val="bg1"/>
                </a:solidFill>
              </a:rPr>
              <a:t>poate</a:t>
            </a:r>
            <a:r>
              <a:rPr lang="en-US" dirty="0">
                <a:solidFill>
                  <a:schemeClr val="bg1"/>
                </a:solidFill>
              </a:rPr>
              <a:t> face </a:t>
            </a:r>
            <a:r>
              <a:rPr lang="en-US" dirty="0" err="1">
                <a:solidFill>
                  <a:schemeClr val="bg1"/>
                </a:solidFill>
              </a:rPr>
              <a:t>după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multe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criterii.În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functie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aspectul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pielii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deosebim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fracturi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închise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piele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intactă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fracturi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deschise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Dacă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luăm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considerare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numărul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locurilor</a:t>
            </a:r>
            <a:r>
              <a:rPr lang="en-US" dirty="0">
                <a:solidFill>
                  <a:schemeClr val="bg1"/>
                </a:solidFill>
              </a:rPr>
              <a:t> pe </a:t>
            </a:r>
            <a:r>
              <a:rPr lang="en-US" dirty="0" err="1">
                <a:solidFill>
                  <a:schemeClr val="bg1"/>
                </a:solidFill>
              </a:rPr>
              <a:t>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care s-a </a:t>
            </a:r>
            <a:r>
              <a:rPr lang="en-US" dirty="0" err="1">
                <a:solidFill>
                  <a:schemeClr val="bg1"/>
                </a:solidFill>
              </a:rPr>
              <a:t>produs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fractura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fractură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simpla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osul</a:t>
            </a:r>
            <a:r>
              <a:rPr lang="en-US" dirty="0">
                <a:solidFill>
                  <a:schemeClr val="bg1"/>
                </a:solidFill>
              </a:rPr>
              <a:t> s-a </a:t>
            </a:r>
            <a:r>
              <a:rPr lang="en-US" dirty="0" err="1">
                <a:solidFill>
                  <a:schemeClr val="bg1"/>
                </a:solidFill>
              </a:rPr>
              <a:t>rupt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într</a:t>
            </a:r>
            <a:r>
              <a:rPr lang="en-US" dirty="0">
                <a:solidFill>
                  <a:schemeClr val="bg1"/>
                </a:solidFill>
              </a:rPr>
              <a:t>-un </a:t>
            </a:r>
            <a:r>
              <a:rPr lang="en-US" dirty="0" err="1">
                <a:solidFill>
                  <a:schemeClr val="bg1"/>
                </a:solidFill>
              </a:rPr>
              <a:t>singur</a:t>
            </a:r>
            <a:r>
              <a:rPr lang="en-US" dirty="0">
                <a:solidFill>
                  <a:schemeClr val="bg1"/>
                </a:solidFill>
              </a:rPr>
              <a:t> loc, </a:t>
            </a:r>
            <a:r>
              <a:rPr lang="en-US" dirty="0" err="1">
                <a:solidFill>
                  <a:schemeClr val="bg1"/>
                </a:solidFill>
              </a:rPr>
              <a:t>deci</a:t>
            </a:r>
            <a:r>
              <a:rPr lang="en-US" dirty="0">
                <a:solidFill>
                  <a:schemeClr val="bg1"/>
                </a:solidFill>
              </a:rPr>
              <a:t> au </a:t>
            </a:r>
            <a:r>
              <a:rPr lang="en-US" dirty="0" err="1">
                <a:solidFill>
                  <a:schemeClr val="bg1"/>
                </a:solidFill>
              </a:rPr>
              <a:t>rezultat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doua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segmente</a:t>
            </a:r>
            <a:r>
              <a:rPr lang="en-US" dirty="0">
                <a:solidFill>
                  <a:schemeClr val="bg1"/>
                </a:solidFill>
              </a:rPr>
              <a:t>),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fractură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cominutivă</a:t>
            </a:r>
            <a:r>
              <a:rPr lang="en-US" dirty="0">
                <a:solidFill>
                  <a:schemeClr val="bg1"/>
                </a:solidFill>
              </a:rPr>
              <a:t> (au </a:t>
            </a:r>
            <a:r>
              <a:rPr lang="en-US" dirty="0" err="1">
                <a:solidFill>
                  <a:schemeClr val="bg1"/>
                </a:solidFill>
              </a:rPr>
              <a:t>rezultat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trei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multe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segmente</a:t>
            </a:r>
            <a:r>
              <a:rPr lang="en-US" dirty="0">
                <a:solidFill>
                  <a:schemeClr val="bg1"/>
                </a:solidFill>
              </a:rPr>
              <a:t>). </a:t>
            </a:r>
            <a:r>
              <a:rPr lang="en-US" dirty="0" err="1">
                <a:solidFill>
                  <a:schemeClr val="bg1"/>
                </a:solidFill>
              </a:rPr>
              <a:t>Fractura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lemn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specifică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copiilor</a:t>
            </a:r>
            <a:r>
              <a:rPr lang="en-US" dirty="0">
                <a:solidFill>
                  <a:schemeClr val="bg1"/>
                </a:solidFill>
              </a:rPr>
              <a:t>, la care </a:t>
            </a:r>
            <a:r>
              <a:rPr lang="en-US" dirty="0" err="1">
                <a:solidFill>
                  <a:schemeClr val="bg1"/>
                </a:solidFill>
              </a:rPr>
              <a:t>oasele</a:t>
            </a:r>
            <a:r>
              <a:rPr lang="en-US" dirty="0">
                <a:solidFill>
                  <a:schemeClr val="bg1"/>
                </a:solidFill>
              </a:rPr>
              <a:t> sunt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elastice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chiar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forțe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mari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osul</a:t>
            </a:r>
            <a:r>
              <a:rPr lang="en-US" dirty="0">
                <a:solidFill>
                  <a:schemeClr val="bg1"/>
                </a:solidFill>
              </a:rPr>
              <a:t> nu se </a:t>
            </a:r>
            <a:r>
              <a:rPr lang="en-US" dirty="0" err="1">
                <a:solidFill>
                  <a:schemeClr val="bg1"/>
                </a:solidFill>
              </a:rPr>
              <a:t>rupe</a:t>
            </a:r>
            <a:r>
              <a:rPr lang="en-US" dirty="0">
                <a:solidFill>
                  <a:schemeClr val="bg1"/>
                </a:solidFill>
              </a:rPr>
              <a:t> ci </a:t>
            </a:r>
            <a:r>
              <a:rPr lang="en-US" dirty="0" err="1">
                <a:solidFill>
                  <a:schemeClr val="bg1"/>
                </a:solidFill>
              </a:rPr>
              <a:t>apare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fisură</a:t>
            </a:r>
            <a:r>
              <a:rPr lang="en-US" dirty="0">
                <a:solidFill>
                  <a:schemeClr val="bg1"/>
                </a:solidFill>
              </a:rPr>
              <a:t> de-a </a:t>
            </a:r>
            <a:r>
              <a:rPr lang="en-US" dirty="0" err="1">
                <a:solidFill>
                  <a:schemeClr val="bg1"/>
                </a:solidFill>
              </a:rPr>
              <a:t>lungul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lui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8" name="Picture 17" descr="A diagram of bones showing different types of bones&#10;&#10;AI-generated content may be incorrect.">
            <a:extLst>
              <a:ext uri="{FF2B5EF4-FFF2-40B4-BE49-F238E27FC236}">
                <a16:creationId xmlns:a16="http://schemas.microsoft.com/office/drawing/2014/main" id="{0A5F0477-ADF5-0D12-171F-B118ECF68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4" y="2197357"/>
            <a:ext cx="4061685" cy="285472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8B5318-C59B-84D5-4102-50C57CECFE0E}"/>
              </a:ext>
            </a:extLst>
          </p:cNvPr>
          <p:cNvCxnSpPr>
            <a:cxnSpLocks/>
          </p:cNvCxnSpPr>
          <p:nvPr/>
        </p:nvCxnSpPr>
        <p:spPr>
          <a:xfrm>
            <a:off x="5661537" y="2179070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33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5F9DF-CAA9-61D2-3B1A-2B2FA920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126FC6-F6B5-6B17-5994-E4E731ED3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ACF99F-7982-C9A1-1E9E-39E69D8E2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15B69-082B-FFE4-AF2F-E558CE728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817FC11-019D-353A-37F7-6AD0E1DD2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817FC11-019D-353A-37F7-6AD0E1DD2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D054A4-BEEE-35D6-DEA5-04BE7AB28F9F}"/>
              </a:ext>
            </a:extLst>
          </p:cNvPr>
          <p:cNvSpPr txBox="1"/>
          <p:nvPr/>
        </p:nvSpPr>
        <p:spPr>
          <a:xfrm>
            <a:off x="5711300" y="478714"/>
            <a:ext cx="5708324" cy="20434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Fractura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Care sunt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cauzele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Fracturilor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D24DF-3FEF-7DCD-D6FC-4045046B5450}"/>
              </a:ext>
            </a:extLst>
          </p:cNvPr>
          <p:cNvSpPr txBox="1"/>
          <p:nvPr/>
        </p:nvSpPr>
        <p:spPr>
          <a:xfrm>
            <a:off x="5711300" y="2333015"/>
            <a:ext cx="6196546" cy="4524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Oasele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sănătoase</a:t>
            </a:r>
            <a:r>
              <a:rPr lang="en-US" dirty="0">
                <a:solidFill>
                  <a:schemeClr val="bg1"/>
                </a:solidFill>
              </a:rPr>
              <a:t> sunt </a:t>
            </a:r>
            <a:r>
              <a:rPr lang="en-US" dirty="0" err="1">
                <a:solidFill>
                  <a:schemeClr val="bg1"/>
                </a:solidFill>
              </a:rPr>
              <a:t>extrem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rezistente</a:t>
            </a:r>
            <a:r>
              <a:rPr lang="en-US" dirty="0">
                <a:solidFill>
                  <a:schemeClr val="bg1"/>
                </a:solidFill>
              </a:rPr>
              <a:t> la impact </a:t>
            </a:r>
            <a:r>
              <a:rPr lang="en-US" dirty="0" err="1">
                <a:solidFill>
                  <a:schemeClr val="bg1"/>
                </a:solidFill>
              </a:rPr>
              <a:t>puternic</a:t>
            </a:r>
            <a:r>
              <a:rPr lang="en-US" dirty="0">
                <a:solidFill>
                  <a:schemeClr val="bg1"/>
                </a:solidFill>
              </a:rPr>
              <a:t>. Cu </a:t>
            </a:r>
            <a:r>
              <a:rPr lang="en-US" dirty="0" err="1">
                <a:solidFill>
                  <a:schemeClr val="bg1"/>
                </a:solidFill>
              </a:rPr>
              <a:t>toate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acestea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anumite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situații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ele</a:t>
            </a:r>
            <a:r>
              <a:rPr lang="en-US" dirty="0">
                <a:solidFill>
                  <a:schemeClr val="bg1"/>
                </a:solidFill>
              </a:rPr>
              <a:t> se pot sparge 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rupe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Traumele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fizice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suprasolicitarea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condițiile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sănătate</a:t>
            </a:r>
            <a:r>
              <a:rPr lang="en-US" dirty="0">
                <a:solidFill>
                  <a:schemeClr val="bg1"/>
                </a:solidFill>
              </a:rPr>
              <a:t> care </a:t>
            </a:r>
            <a:r>
              <a:rPr lang="en-US" dirty="0" err="1">
                <a:solidFill>
                  <a:schemeClr val="bg1"/>
                </a:solidFill>
              </a:rPr>
              <a:t>slăbesc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oasele</a:t>
            </a:r>
            <a:r>
              <a:rPr lang="en-US" dirty="0">
                <a:solidFill>
                  <a:schemeClr val="bg1"/>
                </a:solidFill>
              </a:rPr>
              <a:t>, cum </a:t>
            </a:r>
            <a:r>
              <a:rPr lang="en-US" dirty="0" err="1">
                <a:solidFill>
                  <a:schemeClr val="bg1"/>
                </a:solidFill>
              </a:rPr>
              <a:t>ar</a:t>
            </a:r>
            <a:r>
              <a:rPr lang="en-US" dirty="0">
                <a:solidFill>
                  <a:schemeClr val="bg1"/>
                </a:solidFill>
              </a:rPr>
              <a:t> fi </a:t>
            </a:r>
            <a:r>
              <a:rPr lang="en-US" dirty="0" err="1">
                <a:solidFill>
                  <a:schemeClr val="bg1"/>
                </a:solidFill>
              </a:rPr>
              <a:t>osteoporoza</a:t>
            </a:r>
            <a:r>
              <a:rPr lang="en-US" dirty="0">
                <a:solidFill>
                  <a:schemeClr val="bg1"/>
                </a:solidFill>
              </a:rPr>
              <a:t>, sunt </a:t>
            </a:r>
            <a:r>
              <a:rPr lang="en-US" dirty="0" err="1">
                <a:solidFill>
                  <a:schemeClr val="bg1"/>
                </a:solidFill>
              </a:rPr>
              <a:t>principalele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cauze</a:t>
            </a:r>
            <a:r>
              <a:rPr lang="en-US" dirty="0">
                <a:solidFill>
                  <a:schemeClr val="bg1"/>
                </a:solidFill>
              </a:rPr>
              <a:t> ale </a:t>
            </a:r>
            <a:r>
              <a:rPr lang="en-US" dirty="0" err="1">
                <a:solidFill>
                  <a:schemeClr val="bg1"/>
                </a:solidFill>
              </a:rPr>
              <a:t>fracturilor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osoase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Alți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factori</a:t>
            </a:r>
            <a:r>
              <a:rPr lang="en-US" dirty="0">
                <a:solidFill>
                  <a:schemeClr val="bg1"/>
                </a:solidFill>
              </a:rPr>
              <a:t> pot </a:t>
            </a:r>
            <a:r>
              <a:rPr lang="en-US" dirty="0" err="1">
                <a:solidFill>
                  <a:schemeClr val="bg1"/>
                </a:solidFill>
              </a:rPr>
              <a:t>crește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riscul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apariție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unor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fracturi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Odată</a:t>
            </a:r>
            <a:r>
              <a:rPr lang="en-US" dirty="0">
                <a:solidFill>
                  <a:schemeClr val="bg1"/>
                </a:solidFill>
              </a:rPr>
              <a:t> cu </a:t>
            </a:r>
            <a:r>
              <a:rPr lang="en-US" dirty="0" err="1">
                <a:solidFill>
                  <a:schemeClr val="bg1"/>
                </a:solidFill>
              </a:rPr>
              <a:t>procesul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îmbătrânire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probabilitatea</a:t>
            </a:r>
            <a:r>
              <a:rPr lang="en-US" dirty="0">
                <a:solidFill>
                  <a:schemeClr val="bg1"/>
                </a:solidFill>
              </a:rPr>
              <a:t> de a </a:t>
            </a:r>
            <a:r>
              <a:rPr lang="en-US" dirty="0" err="1">
                <a:solidFill>
                  <a:schemeClr val="bg1"/>
                </a:solidFill>
              </a:rPr>
              <a:t>dezvolta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afecțiune</a:t>
            </a:r>
            <a:r>
              <a:rPr lang="en-US" dirty="0">
                <a:solidFill>
                  <a:schemeClr val="bg1"/>
                </a:solidFill>
              </a:rPr>
              <a:t> care </a:t>
            </a:r>
            <a:r>
              <a:rPr lang="en-US" dirty="0" err="1">
                <a:solidFill>
                  <a:schemeClr val="bg1"/>
                </a:solidFill>
              </a:rPr>
              <a:t>slăbește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oasele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ridicată.Exercițiul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fizic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efectuat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mod </a:t>
            </a:r>
            <a:r>
              <a:rPr lang="en-US" dirty="0" err="1">
                <a:solidFill>
                  <a:schemeClr val="bg1"/>
                </a:solidFill>
              </a:rPr>
              <a:t>regulat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susținut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contribuie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menținerea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rezistenței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osoase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inclusiv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antrenarea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structurilor</a:t>
            </a:r>
            <a:r>
              <a:rPr lang="en-US" dirty="0">
                <a:solidFill>
                  <a:schemeClr val="bg1"/>
                </a:solidFill>
              </a:rPr>
              <a:t> care </a:t>
            </a:r>
            <a:r>
              <a:rPr lang="en-US" dirty="0" err="1">
                <a:solidFill>
                  <a:schemeClr val="bg1"/>
                </a:solidFill>
              </a:rPr>
              <a:t>susțin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scheletul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reglează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mișcarea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musculatura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ligamentele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tendoanele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Acestea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trebuie</a:t>
            </a:r>
            <a:r>
              <a:rPr lang="en-US" dirty="0">
                <a:solidFill>
                  <a:schemeClr val="bg1"/>
                </a:solidFill>
              </a:rPr>
              <a:t>, de </a:t>
            </a:r>
            <a:r>
              <a:rPr lang="en-US" dirty="0" err="1">
                <a:solidFill>
                  <a:schemeClr val="bg1"/>
                </a:solidFill>
              </a:rPr>
              <a:t>asemenea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protejate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vindecarea</a:t>
            </a:r>
            <a:r>
              <a:rPr lang="en-US" dirty="0">
                <a:solidFill>
                  <a:schemeClr val="bg1"/>
                </a:solidFill>
              </a:rPr>
              <a:t> lor </a:t>
            </a:r>
            <a:r>
              <a:rPr lang="en-US" dirty="0" err="1">
                <a:solidFill>
                  <a:schemeClr val="bg1"/>
                </a:solidFill>
              </a:rPr>
              <a:t>fiind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cazuri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problematică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decât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vindecarea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unei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fracturi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Află</a:t>
            </a:r>
            <a:r>
              <a:rPr lang="en-US" dirty="0">
                <a:solidFill>
                  <a:schemeClr val="bg1"/>
                </a:solidFill>
              </a:rPr>
              <a:t> cum </a:t>
            </a:r>
            <a:r>
              <a:rPr lang="en-US" dirty="0" err="1">
                <a:solidFill>
                  <a:schemeClr val="bg1"/>
                </a:solidFill>
              </a:rPr>
              <a:t>să</a:t>
            </a:r>
            <a:r>
              <a:rPr lang="en-US" dirty="0">
                <a:solidFill>
                  <a:schemeClr val="bg1"/>
                </a:solidFill>
              </a:rPr>
              <a:t> ai </a:t>
            </a:r>
            <a:r>
              <a:rPr lang="en-US" dirty="0" err="1">
                <a:solidFill>
                  <a:schemeClr val="bg1"/>
                </a:solidFill>
              </a:rPr>
              <a:t>grijă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mușchii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ligamentele</a:t>
            </a:r>
            <a:r>
              <a:rPr lang="en-US" dirty="0">
                <a:solidFill>
                  <a:schemeClr val="bg1"/>
                </a:solidFill>
              </a:rPr>
              <a:t> tale,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ales </a:t>
            </a:r>
            <a:r>
              <a:rPr lang="en-US" dirty="0" err="1">
                <a:solidFill>
                  <a:schemeClr val="bg1"/>
                </a:solidFill>
              </a:rPr>
              <a:t>atunci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când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desfășori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activități</a:t>
            </a:r>
            <a:r>
              <a:rPr lang="en-US" dirty="0">
                <a:solidFill>
                  <a:schemeClr val="bg1"/>
                </a:solidFill>
              </a:rPr>
              <a:t> sportive!</a:t>
            </a:r>
          </a:p>
        </p:txBody>
      </p:sp>
      <p:pic>
        <p:nvPicPr>
          <p:cNvPr id="18" name="Picture 17" descr="A diagram of bones showing different types of bones&#10;&#10;AI-generated content may be incorrect.">
            <a:extLst>
              <a:ext uri="{FF2B5EF4-FFF2-40B4-BE49-F238E27FC236}">
                <a16:creationId xmlns:a16="http://schemas.microsoft.com/office/drawing/2014/main" id="{CF0C94F1-8920-CCCA-79C4-A93D97B14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4" y="2197357"/>
            <a:ext cx="4061685" cy="285472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46DE91-57CF-245C-F947-0055CBF67197}"/>
              </a:ext>
            </a:extLst>
          </p:cNvPr>
          <p:cNvCxnSpPr>
            <a:cxnSpLocks/>
          </p:cNvCxnSpPr>
          <p:nvPr/>
        </p:nvCxnSpPr>
        <p:spPr>
          <a:xfrm>
            <a:off x="5711300" y="2314728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3B826-969A-C1E8-D1D2-1CF90FE2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DEDF68-A67A-D12D-C5EB-313B1CEA5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6BF684-C5B9-EFCB-489E-B2FD888DD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81A67B3-E627-B18B-B58E-F40D4825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8E57684-2626-6FE5-AA8E-7FFB6B6429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8E57684-2626-6FE5-AA8E-7FFB6B6429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E248B63-7ABD-9FC6-BE57-958E075EFA7C}"/>
              </a:ext>
            </a:extLst>
          </p:cNvPr>
          <p:cNvSpPr txBox="1"/>
          <p:nvPr/>
        </p:nvSpPr>
        <p:spPr>
          <a:xfrm>
            <a:off x="5673112" y="621322"/>
            <a:ext cx="5708324" cy="20434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Ce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este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genuchiului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4A6EAF-79CE-8876-876B-2F37FB7BD232}"/>
              </a:ext>
            </a:extLst>
          </p:cNvPr>
          <p:cNvSpPr txBox="1"/>
          <p:nvPr/>
        </p:nvSpPr>
        <p:spPr>
          <a:xfrm>
            <a:off x="5673112" y="2579321"/>
            <a:ext cx="6196546" cy="4524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O </a:t>
            </a:r>
            <a:r>
              <a:rPr lang="en-US" sz="2000" dirty="0" err="1">
                <a:solidFill>
                  <a:schemeClr val="bg1"/>
                </a:solidFill>
              </a:rPr>
              <a:t>contuzie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cunoscută</a:t>
            </a:r>
            <a:r>
              <a:rPr lang="en-US" sz="2000" dirty="0">
                <a:solidFill>
                  <a:schemeClr val="bg1"/>
                </a:solidFill>
              </a:rPr>
              <a:t> popular ca </a:t>
            </a:r>
            <a:r>
              <a:rPr lang="en-US" sz="2000" dirty="0" err="1">
                <a:solidFill>
                  <a:schemeClr val="bg1"/>
                </a:solidFill>
              </a:rPr>
              <a:t>vânătaie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este</a:t>
            </a:r>
            <a:r>
              <a:rPr lang="en-US" sz="2000" dirty="0">
                <a:solidFill>
                  <a:schemeClr val="bg1"/>
                </a:solidFill>
              </a:rPr>
              <a:t> un tip de </a:t>
            </a:r>
            <a:r>
              <a:rPr lang="en-US" sz="2000" dirty="0" err="1">
                <a:solidFill>
                  <a:schemeClr val="bg1"/>
                </a:solidFill>
              </a:rPr>
              <a:t>hematom</a:t>
            </a:r>
            <a:r>
              <a:rPr lang="en-US" sz="2000" dirty="0">
                <a:solidFill>
                  <a:schemeClr val="bg1"/>
                </a:solidFill>
              </a:rPr>
              <a:t> al </a:t>
            </a:r>
            <a:r>
              <a:rPr lang="en-US" sz="2000" dirty="0" err="1">
                <a:solidFill>
                  <a:schemeClr val="bg1"/>
                </a:solidFill>
              </a:rPr>
              <a:t>țesutului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care </a:t>
            </a:r>
            <a:r>
              <a:rPr lang="en-US" sz="2000" dirty="0" err="1">
                <a:solidFill>
                  <a:schemeClr val="bg1"/>
                </a:solidFill>
              </a:rPr>
              <a:t>capilarele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uneori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venulele</a:t>
            </a:r>
            <a:r>
              <a:rPr lang="en-US" sz="2000" dirty="0">
                <a:solidFill>
                  <a:schemeClr val="bg1"/>
                </a:solidFill>
              </a:rPr>
              <a:t> sunt </a:t>
            </a:r>
            <a:r>
              <a:rPr lang="en-US" sz="2000" dirty="0" err="1">
                <a:solidFill>
                  <a:schemeClr val="bg1"/>
                </a:solidFill>
              </a:rPr>
              <a:t>afectate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traumatisme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permițând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sângelui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să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infiltreze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producă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hemoragie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sau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pătrundă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țesuturile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interstițiale</a:t>
            </a:r>
            <a:r>
              <a:rPr lang="en-US" sz="2000" dirty="0">
                <a:solidFill>
                  <a:schemeClr val="bg1"/>
                </a:solidFill>
              </a:rPr>
              <a:t> din </a:t>
            </a:r>
            <a:r>
              <a:rPr lang="en-US" sz="2000" dirty="0" err="1">
                <a:solidFill>
                  <a:schemeClr val="bg1"/>
                </a:solidFill>
              </a:rPr>
              <a:t>apropiere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Vânătăile</a:t>
            </a:r>
            <a:r>
              <a:rPr lang="en-US" sz="2000" dirty="0">
                <a:solidFill>
                  <a:schemeClr val="bg1"/>
                </a:solidFill>
              </a:rPr>
              <a:t>, care nu sunt </a:t>
            </a:r>
            <a:r>
              <a:rPr lang="en-US" sz="2000" dirty="0" err="1">
                <a:solidFill>
                  <a:schemeClr val="bg1"/>
                </a:solidFill>
              </a:rPr>
              <a:t>cauzate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presiune</a:t>
            </a:r>
            <a:r>
              <a:rPr lang="en-US" sz="2000" dirty="0">
                <a:solidFill>
                  <a:schemeClr val="bg1"/>
                </a:solidFill>
              </a:rPr>
              <a:t>, pot fi la </a:t>
            </a:r>
            <a:r>
              <a:rPr lang="en-US" sz="2000" dirty="0" err="1">
                <a:solidFill>
                  <a:schemeClr val="bg1"/>
                </a:solidFill>
              </a:rPr>
              <a:t>nivelul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pielii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țesutului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subcutanat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mușchilor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oaselor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Vânătăile</a:t>
            </a:r>
            <a:r>
              <a:rPr lang="en-US" sz="2000" dirty="0">
                <a:solidFill>
                  <a:schemeClr val="bg1"/>
                </a:solidFill>
              </a:rPr>
              <a:t> nu </a:t>
            </a:r>
            <a:r>
              <a:rPr lang="en-US" sz="2000" dirty="0" err="1">
                <a:solidFill>
                  <a:schemeClr val="bg1"/>
                </a:solidFill>
              </a:rPr>
              <a:t>trebuie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confundat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alte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leziuni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similare</a:t>
            </a:r>
            <a:r>
              <a:rPr lang="en-US" sz="2000" dirty="0">
                <a:solidFill>
                  <a:schemeClr val="bg1"/>
                </a:solidFill>
              </a:rPr>
              <a:t> de care se </a:t>
            </a:r>
            <a:r>
              <a:rPr lang="en-US" sz="2000" dirty="0" err="1">
                <a:solidFill>
                  <a:schemeClr val="bg1"/>
                </a:solidFill>
              </a:rPr>
              <a:t>deosebesc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primul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rând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prin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diametrul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legătură</a:t>
            </a:r>
            <a:r>
              <a:rPr lang="en-US" sz="2000" dirty="0">
                <a:solidFill>
                  <a:schemeClr val="bg1"/>
                </a:solidFill>
              </a:rPr>
              <a:t> de </a:t>
            </a:r>
            <a:r>
              <a:rPr lang="en-US" sz="2000" dirty="0" err="1">
                <a:solidFill>
                  <a:schemeClr val="bg1"/>
                </a:solidFill>
              </a:rPr>
              <a:t>cauzalitate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98FCB8-25C4-D22D-95DC-4A647714ECC2}"/>
              </a:ext>
            </a:extLst>
          </p:cNvPr>
          <p:cNvCxnSpPr>
            <a:cxnSpLocks/>
          </p:cNvCxnSpPr>
          <p:nvPr/>
        </p:nvCxnSpPr>
        <p:spPr>
          <a:xfrm>
            <a:off x="5673112" y="2561034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bruise on a person's back&#10;&#10;AI-generated content may be incorrect.">
            <a:extLst>
              <a:ext uri="{FF2B5EF4-FFF2-40B4-BE49-F238E27FC236}">
                <a16:creationId xmlns:a16="http://schemas.microsoft.com/office/drawing/2014/main" id="{E91E58FE-23A8-277B-92AF-A18AB0394C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90" y="2197357"/>
            <a:ext cx="3700629" cy="246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948F9-6440-2B06-42C2-F3BF1D9F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5A2D43-9AEB-504B-6571-B30D3D257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36B2C8-BD3F-C72A-DB2E-81DF74AD7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99133880-B62C-6125-31FD-16B805EC2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DD11DA5-D32A-CB32-5AEC-56FFDC73F0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DD11DA5-D32A-CB32-5AEC-56FFDC73F0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794A1C6-EA1C-C289-9831-2199E6355F90}"/>
              </a:ext>
            </a:extLst>
          </p:cNvPr>
          <p:cNvSpPr txBox="1"/>
          <p:nvPr/>
        </p:nvSpPr>
        <p:spPr>
          <a:xfrm>
            <a:off x="5514806" y="1065548"/>
            <a:ext cx="5994169" cy="20434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Despre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genuchiului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DB7B39-C5B5-E989-F674-D8855114CE12}"/>
              </a:ext>
            </a:extLst>
          </p:cNvPr>
          <p:cNvSpPr txBox="1"/>
          <p:nvPr/>
        </p:nvSpPr>
        <p:spPr>
          <a:xfrm>
            <a:off x="5514806" y="2938137"/>
            <a:ext cx="6196546" cy="4524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Contuzia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genunchiului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expresia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unui</a:t>
            </a:r>
            <a:r>
              <a:rPr lang="en-US" dirty="0">
                <a:solidFill>
                  <a:schemeClr val="bg1"/>
                </a:solidFill>
              </a:rPr>
              <a:t> traumatism </a:t>
            </a:r>
            <a:r>
              <a:rPr lang="en-US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mecanism</a:t>
            </a:r>
            <a:r>
              <a:rPr lang="en-US" dirty="0">
                <a:solidFill>
                  <a:schemeClr val="bg1"/>
                </a:solidFill>
              </a:rPr>
              <a:t> direct care are ca </a:t>
            </a:r>
            <a:r>
              <a:rPr lang="en-US" dirty="0" err="1">
                <a:solidFill>
                  <a:schemeClr val="bg1"/>
                </a:solidFill>
              </a:rPr>
              <a:t>rezultat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strivirea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ţesuturilor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profunde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fără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întreruperea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tegumentului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cunoscută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ca o </a:t>
            </a:r>
            <a:r>
              <a:rPr lang="en-US" dirty="0" err="1">
                <a:solidFill>
                  <a:schemeClr val="bg1"/>
                </a:solidFill>
              </a:rPr>
              <a:t>vânătaie</a:t>
            </a:r>
            <a:r>
              <a:rPr lang="en-US" dirty="0">
                <a:solidFill>
                  <a:schemeClr val="bg1"/>
                </a:solidFill>
              </a:rPr>
              <a:t>, se </a:t>
            </a:r>
            <a:r>
              <a:rPr lang="en-US" dirty="0" err="1">
                <a:solidFill>
                  <a:schemeClr val="bg1"/>
                </a:solidFill>
              </a:rPr>
              <a:t>referă</a:t>
            </a:r>
            <a:r>
              <a:rPr lang="en-US" dirty="0">
                <a:solidFill>
                  <a:schemeClr val="bg1"/>
                </a:solidFill>
              </a:rPr>
              <a:t> la o </a:t>
            </a:r>
            <a:r>
              <a:rPr lang="en-US" dirty="0" err="1">
                <a:solidFill>
                  <a:schemeClr val="bg1"/>
                </a:solidFill>
              </a:rPr>
              <a:t>leziune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țesuturilor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moi</a:t>
            </a:r>
            <a:r>
              <a:rPr lang="en-US" dirty="0">
                <a:solidFill>
                  <a:schemeClr val="bg1"/>
                </a:solidFill>
              </a:rPr>
              <a:t> din </a:t>
            </a:r>
            <a:r>
              <a:rPr lang="en-US" dirty="0" err="1">
                <a:solidFill>
                  <a:schemeClr val="bg1"/>
                </a:solidFill>
              </a:rPr>
              <a:t>genunchi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fără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deteriora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oasele</a:t>
            </a:r>
            <a:r>
              <a:rPr lang="en-US" dirty="0">
                <a:solidFill>
                  <a:schemeClr val="bg1"/>
                </a:solidFill>
              </a:rPr>
              <a:t> din zona </a:t>
            </a:r>
            <a:r>
              <a:rPr lang="en-US" dirty="0" err="1">
                <a:solidFill>
                  <a:schemeClr val="bg1"/>
                </a:solidFill>
              </a:rPr>
              <a:t>respectivă</a:t>
            </a:r>
            <a:r>
              <a:rPr lang="en-US" dirty="0">
                <a:solidFill>
                  <a:schemeClr val="bg1"/>
                </a:solidFill>
              </a:rPr>
              <a:t>. Este </a:t>
            </a:r>
            <a:r>
              <a:rPr lang="en-US" dirty="0" err="1">
                <a:solidFill>
                  <a:schemeClr val="bg1"/>
                </a:solidFill>
              </a:rPr>
              <a:t>diferită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fractură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entorsă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6984E-9C71-7C9C-D18F-A5305FDE2112}"/>
              </a:ext>
            </a:extLst>
          </p:cNvPr>
          <p:cNvCxnSpPr>
            <a:cxnSpLocks/>
          </p:cNvCxnSpPr>
          <p:nvPr/>
        </p:nvCxnSpPr>
        <p:spPr>
          <a:xfrm>
            <a:off x="5514806" y="2919850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erson holding a bruise on their knee&#10;&#10;AI-generated content may be incorrect.">
            <a:extLst>
              <a:ext uri="{FF2B5EF4-FFF2-40B4-BE49-F238E27FC236}">
                <a16:creationId xmlns:a16="http://schemas.microsoft.com/office/drawing/2014/main" id="{3B665A92-08E0-8C24-FDDE-0414A1865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48" y="2179070"/>
            <a:ext cx="3946967" cy="268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47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B925A-372F-11AF-E9E7-0C0E6380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E9B7D9-7B93-9007-3BB1-920923A0A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4CC519-8699-7756-338F-E317CABD1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FECE698-4FF8-76EA-FFFA-25148B586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B9E4BC7-3113-6C08-D629-14F83F401C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B9E4BC7-3113-6C08-D629-14F83F401C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607281E-7CCD-4DBE-0122-7D7A97C4D8C2}"/>
              </a:ext>
            </a:extLst>
          </p:cNvPr>
          <p:cNvSpPr txBox="1"/>
          <p:nvPr/>
        </p:nvSpPr>
        <p:spPr>
          <a:xfrm>
            <a:off x="5549530" y="556262"/>
            <a:ext cx="5994169" cy="20434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Cauze</a:t>
            </a:r>
            <a:endParaRPr lang="en-US" sz="4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95E752-5E14-6ACF-6CA4-54CE1C1986F8}"/>
              </a:ext>
            </a:extLst>
          </p:cNvPr>
          <p:cNvSpPr txBox="1"/>
          <p:nvPr/>
        </p:nvSpPr>
        <p:spPr>
          <a:xfrm>
            <a:off x="5549530" y="1462293"/>
            <a:ext cx="6196546" cy="47324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</a:rPr>
              <a:t>O </a:t>
            </a:r>
            <a:r>
              <a:rPr lang="en-US" sz="1300" dirty="0" err="1">
                <a:solidFill>
                  <a:schemeClr val="bg1"/>
                </a:solidFill>
              </a:rPr>
              <a:t>contuzie</a:t>
            </a:r>
            <a:r>
              <a:rPr lang="en-US" sz="1300" dirty="0">
                <a:solidFill>
                  <a:schemeClr val="bg1"/>
                </a:solidFill>
              </a:rPr>
              <a:t> la </a:t>
            </a:r>
            <a:r>
              <a:rPr lang="en-US" sz="1300" dirty="0" err="1">
                <a:solidFill>
                  <a:schemeClr val="bg1"/>
                </a:solidFill>
              </a:rPr>
              <a:t>genunchi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poate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apărea</a:t>
            </a:r>
            <a:r>
              <a:rPr lang="en-US" sz="1300" dirty="0">
                <a:solidFill>
                  <a:schemeClr val="bg1"/>
                </a:solidFill>
              </a:rPr>
              <a:t> din </a:t>
            </a:r>
            <a:r>
              <a:rPr lang="en-US" sz="1300" dirty="0" err="1">
                <a:solidFill>
                  <a:schemeClr val="bg1"/>
                </a:solidFill>
              </a:rPr>
              <a:t>cauza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unei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leziuni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pielii</a:t>
            </a:r>
            <a:r>
              <a:rPr lang="en-US" sz="1300" dirty="0">
                <a:solidFill>
                  <a:schemeClr val="bg1"/>
                </a:solidFill>
              </a:rPr>
              <a:t>, a </a:t>
            </a:r>
            <a:r>
              <a:rPr lang="en-US" sz="1300" dirty="0" err="1">
                <a:solidFill>
                  <a:schemeClr val="bg1"/>
                </a:solidFill>
              </a:rPr>
              <a:t>ţesutului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subcutanat</a:t>
            </a:r>
            <a:r>
              <a:rPr lang="en-US" sz="1300" dirty="0">
                <a:solidFill>
                  <a:schemeClr val="bg1"/>
                </a:solidFill>
              </a:rPr>
              <a:t>, a </a:t>
            </a:r>
            <a:r>
              <a:rPr lang="en-US" sz="1300" dirty="0" err="1">
                <a:solidFill>
                  <a:schemeClr val="bg1"/>
                </a:solidFill>
              </a:rPr>
              <a:t>tendoanelor</a:t>
            </a:r>
            <a:r>
              <a:rPr lang="en-US" sz="1300" dirty="0">
                <a:solidFill>
                  <a:schemeClr val="bg1"/>
                </a:solidFill>
              </a:rPr>
              <a:t>, </a:t>
            </a:r>
            <a:r>
              <a:rPr lang="en-US" sz="1300" dirty="0" err="1">
                <a:solidFill>
                  <a:schemeClr val="bg1"/>
                </a:solidFill>
              </a:rPr>
              <a:t>ligamentelor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osului</a:t>
            </a:r>
            <a:r>
              <a:rPr lang="en-US" sz="1300" dirty="0">
                <a:solidFill>
                  <a:schemeClr val="bg1"/>
                </a:solidFill>
              </a:rPr>
              <a:t> din </a:t>
            </a:r>
            <a:r>
              <a:rPr lang="en-US" sz="1300" dirty="0" err="1">
                <a:solidFill>
                  <a:schemeClr val="bg1"/>
                </a:solidFill>
              </a:rPr>
              <a:t>regiunea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genunchiului</a:t>
            </a:r>
            <a:r>
              <a:rPr lang="en-US" sz="1300" dirty="0">
                <a:solidFill>
                  <a:schemeClr val="bg1"/>
                </a:solidFill>
              </a:rPr>
              <a:t>. Cele </a:t>
            </a:r>
            <a:r>
              <a:rPr lang="en-US" sz="1300" dirty="0" err="1">
                <a:solidFill>
                  <a:schemeClr val="bg1"/>
                </a:solidFill>
              </a:rPr>
              <a:t>mai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frecvente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cauze</a:t>
            </a:r>
            <a:r>
              <a:rPr lang="en-US" sz="1300" dirty="0">
                <a:solidFill>
                  <a:schemeClr val="bg1"/>
                </a:solidFill>
              </a:rPr>
              <a:t> ale </a:t>
            </a:r>
            <a:r>
              <a:rPr lang="en-US" sz="1300" dirty="0" err="1">
                <a:solidFill>
                  <a:schemeClr val="bg1"/>
                </a:solidFill>
              </a:rPr>
              <a:t>contuziilor</a:t>
            </a:r>
            <a:r>
              <a:rPr lang="en-US" sz="1300" dirty="0">
                <a:solidFill>
                  <a:schemeClr val="bg1"/>
                </a:solidFill>
              </a:rPr>
              <a:t> sunt: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</a:rPr>
              <a:t>accidentele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minore</a:t>
            </a:r>
            <a:r>
              <a:rPr lang="en-US" sz="1300" dirty="0">
                <a:solidFill>
                  <a:schemeClr val="bg1"/>
                </a:solidFill>
              </a:rPr>
              <a:t> - o </a:t>
            </a:r>
            <a:r>
              <a:rPr lang="en-US" sz="1300" dirty="0" err="1">
                <a:solidFill>
                  <a:schemeClr val="bg1"/>
                </a:solidFill>
              </a:rPr>
              <a:t>căzătură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în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genunchi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o </a:t>
            </a:r>
            <a:r>
              <a:rPr lang="en-US" sz="1300" dirty="0" err="1">
                <a:solidFill>
                  <a:schemeClr val="bg1"/>
                </a:solidFill>
              </a:rPr>
              <a:t>lovitură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directă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în</a:t>
            </a:r>
            <a:r>
              <a:rPr lang="en-US" sz="1300" dirty="0">
                <a:solidFill>
                  <a:schemeClr val="bg1"/>
                </a:solidFill>
              </a:rPr>
              <a:t> zona </a:t>
            </a:r>
            <a:r>
              <a:rPr lang="en-US" sz="1300" dirty="0" err="1">
                <a:solidFill>
                  <a:schemeClr val="bg1"/>
                </a:solidFill>
              </a:rPr>
              <a:t>genunchiului</a:t>
            </a:r>
            <a:r>
              <a:rPr lang="en-US" sz="1300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</a:rPr>
              <a:t>accidente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rutiere</a:t>
            </a:r>
            <a:r>
              <a:rPr lang="en-US" sz="1300" dirty="0">
                <a:solidFill>
                  <a:schemeClr val="bg1"/>
                </a:solidFill>
              </a:rPr>
              <a:t> - </a:t>
            </a:r>
            <a:r>
              <a:rPr lang="en-US" sz="1300" dirty="0" err="1">
                <a:solidFill>
                  <a:schemeClr val="bg1"/>
                </a:solidFill>
              </a:rPr>
              <a:t>în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cazul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unui</a:t>
            </a:r>
            <a:r>
              <a:rPr lang="en-US" sz="1300" dirty="0">
                <a:solidFill>
                  <a:schemeClr val="bg1"/>
                </a:solidFill>
              </a:rPr>
              <a:t> accident auto, </a:t>
            </a:r>
            <a:r>
              <a:rPr lang="en-US" sz="1300" dirty="0" err="1">
                <a:solidFill>
                  <a:schemeClr val="bg1"/>
                </a:solidFill>
              </a:rPr>
              <a:t>genunchii</a:t>
            </a:r>
            <a:r>
              <a:rPr lang="en-US" sz="1300" dirty="0">
                <a:solidFill>
                  <a:schemeClr val="bg1"/>
                </a:solidFill>
              </a:rPr>
              <a:t> pot </a:t>
            </a:r>
            <a:r>
              <a:rPr lang="en-US" sz="1300" dirty="0" err="1">
                <a:solidFill>
                  <a:schemeClr val="bg1"/>
                </a:solidFill>
              </a:rPr>
              <a:t>lovi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bordul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mașinii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alte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structuri</a:t>
            </a:r>
            <a:r>
              <a:rPr lang="en-US" sz="1300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</a:rPr>
              <a:t>căderi</a:t>
            </a:r>
            <a:r>
              <a:rPr lang="en-US" sz="1300" dirty="0">
                <a:solidFill>
                  <a:schemeClr val="bg1"/>
                </a:solidFill>
              </a:rPr>
              <a:t> de la </a:t>
            </a:r>
            <a:r>
              <a:rPr lang="en-US" sz="1300" dirty="0" err="1">
                <a:solidFill>
                  <a:schemeClr val="bg1"/>
                </a:solidFill>
              </a:rPr>
              <a:t>înălțime</a:t>
            </a:r>
            <a:r>
              <a:rPr lang="en-US" sz="1300" dirty="0">
                <a:solidFill>
                  <a:schemeClr val="bg1"/>
                </a:solidFill>
              </a:rPr>
              <a:t> - </a:t>
            </a:r>
            <a:r>
              <a:rPr lang="en-US" sz="1300" dirty="0" err="1">
                <a:solidFill>
                  <a:schemeClr val="bg1"/>
                </a:solidFill>
              </a:rPr>
              <a:t>căderea</a:t>
            </a:r>
            <a:r>
              <a:rPr lang="en-US" sz="1300" dirty="0">
                <a:solidFill>
                  <a:schemeClr val="bg1"/>
                </a:solidFill>
              </a:rPr>
              <a:t> de pe o </a:t>
            </a:r>
            <a:r>
              <a:rPr lang="en-US" sz="1300" dirty="0" err="1">
                <a:solidFill>
                  <a:schemeClr val="bg1"/>
                </a:solidFill>
              </a:rPr>
              <a:t>scară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de la o </a:t>
            </a:r>
            <a:r>
              <a:rPr lang="en-US" sz="1300" dirty="0" err="1">
                <a:solidFill>
                  <a:schemeClr val="bg1"/>
                </a:solidFill>
              </a:rPr>
              <a:t>înălțime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considerabilă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poate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provoca</a:t>
            </a:r>
            <a:r>
              <a:rPr lang="en-US" sz="1300" dirty="0">
                <a:solidFill>
                  <a:schemeClr val="bg1"/>
                </a:solidFill>
              </a:rPr>
              <a:t> o </a:t>
            </a:r>
            <a:r>
              <a:rPr lang="en-US" sz="1300" dirty="0" err="1">
                <a:solidFill>
                  <a:schemeClr val="bg1"/>
                </a:solidFill>
              </a:rPr>
              <a:t>contuzie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dacă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genunchiul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absoarbe</a:t>
            </a:r>
            <a:r>
              <a:rPr lang="en-US" sz="1300" dirty="0">
                <a:solidFill>
                  <a:schemeClr val="bg1"/>
                </a:solidFill>
              </a:rPr>
              <a:t> o </a:t>
            </a:r>
            <a:r>
              <a:rPr lang="en-US" sz="1300" dirty="0" err="1">
                <a:solidFill>
                  <a:schemeClr val="bg1"/>
                </a:solidFill>
              </a:rPr>
              <a:t>parte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semnificativă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impactului</a:t>
            </a:r>
            <a:r>
              <a:rPr lang="en-US" sz="1300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</a:rPr>
              <a:t>lovituri</a:t>
            </a:r>
            <a:r>
              <a:rPr lang="en-US" sz="1300" dirty="0">
                <a:solidFill>
                  <a:schemeClr val="bg1"/>
                </a:solidFill>
              </a:rPr>
              <a:t> la </a:t>
            </a:r>
            <a:r>
              <a:rPr lang="en-US" sz="1300" dirty="0" err="1">
                <a:solidFill>
                  <a:schemeClr val="bg1"/>
                </a:solidFill>
              </a:rPr>
              <a:t>genunchi</a:t>
            </a:r>
            <a:r>
              <a:rPr lang="en-US" sz="1300" dirty="0">
                <a:solidFill>
                  <a:schemeClr val="bg1"/>
                </a:solidFill>
              </a:rPr>
              <a:t> - </a:t>
            </a:r>
            <a:r>
              <a:rPr lang="en-US" sz="1300" dirty="0" err="1">
                <a:solidFill>
                  <a:schemeClr val="bg1"/>
                </a:solidFill>
              </a:rPr>
              <a:t>acest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lucru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poate</a:t>
            </a:r>
            <a:r>
              <a:rPr lang="en-US" sz="1300" dirty="0">
                <a:solidFill>
                  <a:schemeClr val="bg1"/>
                </a:solidFill>
              </a:rPr>
              <a:t> fi </a:t>
            </a:r>
            <a:r>
              <a:rPr lang="en-US" sz="1300" dirty="0" err="1">
                <a:solidFill>
                  <a:schemeClr val="bg1"/>
                </a:solidFill>
              </a:rPr>
              <a:t>cauzat</a:t>
            </a:r>
            <a:r>
              <a:rPr lang="en-US" sz="1300" dirty="0">
                <a:solidFill>
                  <a:schemeClr val="bg1"/>
                </a:solidFill>
              </a:rPr>
              <a:t> de </a:t>
            </a:r>
            <a:r>
              <a:rPr lang="en-US" sz="1300" dirty="0" err="1">
                <a:solidFill>
                  <a:schemeClr val="bg1"/>
                </a:solidFill>
              </a:rPr>
              <a:t>lovirea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accidentală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genunchiului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rotulei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genunchiului</a:t>
            </a:r>
            <a:r>
              <a:rPr lang="en-US" sz="1300" dirty="0">
                <a:solidFill>
                  <a:schemeClr val="bg1"/>
                </a:solidFill>
              </a:rPr>
              <a:t> de </a:t>
            </a:r>
            <a:r>
              <a:rPr lang="en-US" sz="1300" dirty="0" err="1">
                <a:solidFill>
                  <a:schemeClr val="bg1"/>
                </a:solidFill>
              </a:rPr>
              <a:t>colțul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unui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birou</a:t>
            </a:r>
            <a:r>
              <a:rPr lang="en-US" sz="1300" dirty="0">
                <a:solidFill>
                  <a:schemeClr val="bg1"/>
                </a:solidFill>
              </a:rPr>
              <a:t>, al </a:t>
            </a:r>
            <a:r>
              <a:rPr lang="en-US" sz="1300" dirty="0" err="1">
                <a:solidFill>
                  <a:schemeClr val="bg1"/>
                </a:solidFill>
              </a:rPr>
              <a:t>unui</a:t>
            </a:r>
            <a:r>
              <a:rPr lang="en-US" sz="1300" dirty="0">
                <a:solidFill>
                  <a:schemeClr val="bg1"/>
                </a:solidFill>
              </a:rPr>
              <a:t> pat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al </a:t>
            </a:r>
            <a:r>
              <a:rPr lang="en-US" sz="1300" dirty="0" err="1">
                <a:solidFill>
                  <a:schemeClr val="bg1"/>
                </a:solidFill>
              </a:rPr>
              <a:t>unui</a:t>
            </a:r>
            <a:r>
              <a:rPr lang="en-US" sz="1300" dirty="0">
                <a:solidFill>
                  <a:schemeClr val="bg1"/>
                </a:solidFill>
              </a:rPr>
              <a:t> alt </a:t>
            </a:r>
            <a:r>
              <a:rPr lang="en-US" sz="1300" dirty="0" err="1">
                <a:solidFill>
                  <a:schemeClr val="bg1"/>
                </a:solidFill>
              </a:rPr>
              <a:t>obiect</a:t>
            </a:r>
            <a:r>
              <a:rPr lang="en-US" sz="1300" dirty="0">
                <a:solidFill>
                  <a:schemeClr val="bg1"/>
                </a:solidFill>
              </a:rPr>
              <a:t> solid;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</a:rPr>
              <a:t>intervenții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chirurgicale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proceduri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medicale</a:t>
            </a:r>
            <a:r>
              <a:rPr lang="en-US" sz="1300" dirty="0">
                <a:solidFill>
                  <a:schemeClr val="bg1"/>
                </a:solidFill>
              </a:rPr>
              <a:t> - </a:t>
            </a:r>
            <a:r>
              <a:rPr lang="en-US" sz="1300" dirty="0" err="1">
                <a:solidFill>
                  <a:schemeClr val="bg1"/>
                </a:solidFill>
              </a:rPr>
              <a:t>în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anumite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cazuri</a:t>
            </a:r>
            <a:r>
              <a:rPr lang="en-US" sz="1300" dirty="0">
                <a:solidFill>
                  <a:schemeClr val="bg1"/>
                </a:solidFill>
              </a:rPr>
              <a:t>, </a:t>
            </a:r>
            <a:r>
              <a:rPr lang="en-US" sz="1300" dirty="0" err="1">
                <a:solidFill>
                  <a:schemeClr val="bg1"/>
                </a:solidFill>
              </a:rPr>
              <a:t>contuziile</a:t>
            </a:r>
            <a:r>
              <a:rPr lang="en-US" sz="1300" dirty="0">
                <a:solidFill>
                  <a:schemeClr val="bg1"/>
                </a:solidFill>
              </a:rPr>
              <a:t> pot </a:t>
            </a:r>
            <a:r>
              <a:rPr lang="en-US" sz="1300" dirty="0" err="1">
                <a:solidFill>
                  <a:schemeClr val="bg1"/>
                </a:solidFill>
              </a:rPr>
              <a:t>rezulta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în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urma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intervențiilor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chirurgicale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procedurilor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medicale</a:t>
            </a:r>
            <a:r>
              <a:rPr lang="en-US" sz="1300" dirty="0">
                <a:solidFill>
                  <a:schemeClr val="bg1"/>
                </a:solidFill>
              </a:rPr>
              <a:t> care </a:t>
            </a:r>
            <a:r>
              <a:rPr lang="en-US" sz="1300" dirty="0" err="1">
                <a:solidFill>
                  <a:schemeClr val="bg1"/>
                </a:solidFill>
              </a:rPr>
              <a:t>implică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genunchiul</a:t>
            </a:r>
            <a:r>
              <a:rPr lang="en-US" sz="13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1300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</a:rPr>
              <a:t>Este important de </a:t>
            </a:r>
            <a:r>
              <a:rPr lang="en-US" sz="1300" dirty="0" err="1">
                <a:solidFill>
                  <a:schemeClr val="bg1"/>
                </a:solidFill>
              </a:rPr>
              <a:t>menționat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orice</a:t>
            </a:r>
            <a:r>
              <a:rPr lang="en-US" sz="1300" dirty="0">
                <a:solidFill>
                  <a:schemeClr val="bg1"/>
                </a:solidFill>
              </a:rPr>
              <a:t> impact direct </a:t>
            </a:r>
            <a:r>
              <a:rPr lang="en-US" sz="1300" dirty="0" err="1">
                <a:solidFill>
                  <a:schemeClr val="bg1"/>
                </a:solidFill>
              </a:rPr>
              <a:t>sau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forță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aplicată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asupra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genunchiului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poate</a:t>
            </a:r>
            <a:r>
              <a:rPr lang="en-US" sz="1300" dirty="0">
                <a:solidFill>
                  <a:schemeClr val="bg1"/>
                </a:solidFill>
              </a:rPr>
              <a:t> duce la o </a:t>
            </a:r>
            <a:r>
              <a:rPr lang="en-US" sz="1300" dirty="0" err="1">
                <a:solidFill>
                  <a:schemeClr val="bg1"/>
                </a:solidFill>
              </a:rPr>
              <a:t>contuzie</a:t>
            </a:r>
            <a:r>
              <a:rPr lang="en-US" sz="1300" dirty="0">
                <a:solidFill>
                  <a:schemeClr val="bg1"/>
                </a:solidFill>
              </a:rPr>
              <a:t>, </a:t>
            </a:r>
            <a:r>
              <a:rPr lang="en-US" sz="1300" dirty="0" err="1">
                <a:solidFill>
                  <a:schemeClr val="bg1"/>
                </a:solidFill>
              </a:rPr>
              <a:t>în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funcție</a:t>
            </a:r>
            <a:r>
              <a:rPr lang="en-US" sz="1300" dirty="0">
                <a:solidFill>
                  <a:schemeClr val="bg1"/>
                </a:solidFill>
              </a:rPr>
              <a:t> de </a:t>
            </a:r>
            <a:r>
              <a:rPr lang="en-US" sz="1300" dirty="0" err="1">
                <a:solidFill>
                  <a:schemeClr val="bg1"/>
                </a:solidFill>
              </a:rPr>
              <a:t>intensitatea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și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direcția</a:t>
            </a:r>
            <a:r>
              <a:rPr lang="en-US" sz="1300" dirty="0">
                <a:solidFill>
                  <a:schemeClr val="bg1"/>
                </a:solidFill>
              </a:rPr>
              <a:t> </a:t>
            </a:r>
            <a:r>
              <a:rPr lang="en-US" sz="1300" dirty="0" err="1">
                <a:solidFill>
                  <a:schemeClr val="bg1"/>
                </a:solidFill>
              </a:rPr>
              <a:t>forței</a:t>
            </a:r>
            <a:r>
              <a:rPr lang="en-US" sz="13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544546-87D8-FD54-7715-D2B900AFDE76}"/>
              </a:ext>
            </a:extLst>
          </p:cNvPr>
          <p:cNvCxnSpPr>
            <a:cxnSpLocks/>
          </p:cNvCxnSpPr>
          <p:nvPr/>
        </p:nvCxnSpPr>
        <p:spPr>
          <a:xfrm>
            <a:off x="5649844" y="1462293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bruise on a person's back&#10;&#10;AI-generated content may be incorrect.">
            <a:extLst>
              <a:ext uri="{FF2B5EF4-FFF2-40B4-BE49-F238E27FC236}">
                <a16:creationId xmlns:a16="http://schemas.microsoft.com/office/drawing/2014/main" id="{C0843A7B-A0E5-783C-46B8-F56DA6675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2" y="2236892"/>
            <a:ext cx="3829646" cy="25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62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67370-BB18-AE7D-D782-7554CD81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EA7DF6-D8EA-799F-881B-BA71DF063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6A22CA4-FB36-295D-C09B-E6730DFFC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5509EA3-7252-5EE7-2744-883AA7399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56C3A8D-E5CA-53B4-C5DB-12A006C7EC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56C3A8D-E5CA-53B4-C5DB-12A006C7EC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DBE84DD-A385-17C4-6D21-E57FC4831AA5}"/>
              </a:ext>
            </a:extLst>
          </p:cNvPr>
          <p:cNvSpPr txBox="1"/>
          <p:nvPr/>
        </p:nvSpPr>
        <p:spPr>
          <a:xfrm>
            <a:off x="5649844" y="527574"/>
            <a:ext cx="7349805" cy="14440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Diagnosticare</a:t>
            </a:r>
            <a:endParaRPr lang="en-US" sz="3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2FDF3-7B24-C03E-D55D-7E2DD4CD108F}"/>
              </a:ext>
            </a:extLst>
          </p:cNvPr>
          <p:cNvSpPr txBox="1"/>
          <p:nvPr/>
        </p:nvSpPr>
        <p:spPr>
          <a:xfrm>
            <a:off x="5504871" y="1369694"/>
            <a:ext cx="6474925" cy="548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funcție</a:t>
            </a:r>
            <a:r>
              <a:rPr lang="en-US" sz="1250" dirty="0">
                <a:solidFill>
                  <a:schemeClr val="bg1"/>
                </a:solidFill>
              </a:rPr>
              <a:t> de </a:t>
            </a:r>
            <a:r>
              <a:rPr lang="en-US" sz="1250" dirty="0" err="1">
                <a:solidFill>
                  <a:schemeClr val="bg1"/>
                </a:solidFill>
              </a:rPr>
              <a:t>severitatea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simptomelor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de context, </a:t>
            </a:r>
            <a:r>
              <a:rPr lang="en-US" sz="1250" dirty="0" err="1">
                <a:solidFill>
                  <a:schemeClr val="bg1"/>
                </a:solidFill>
              </a:rPr>
              <a:t>diferiți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specialiști</a:t>
            </a:r>
            <a:r>
              <a:rPr lang="en-US" sz="1250" dirty="0">
                <a:solidFill>
                  <a:schemeClr val="bg1"/>
                </a:solidFill>
              </a:rPr>
              <a:t> pot fi </a:t>
            </a:r>
            <a:r>
              <a:rPr lang="en-US" sz="1250" dirty="0" err="1">
                <a:solidFill>
                  <a:schemeClr val="bg1"/>
                </a:solidFill>
              </a:rPr>
              <a:t>implicați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diagnostic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tratament</a:t>
            </a:r>
            <a:r>
              <a:rPr lang="en-US" sz="1250" dirty="0">
                <a:solidFill>
                  <a:schemeClr val="bg1"/>
                </a:solidFill>
              </a:rPr>
              <a:t>: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de </a:t>
            </a:r>
            <a:r>
              <a:rPr lang="en-US" sz="1250" dirty="0" err="1">
                <a:solidFill>
                  <a:schemeClr val="bg1"/>
                </a:solidFill>
              </a:rPr>
              <a:t>familie</a:t>
            </a:r>
            <a:endParaRPr lang="en-US" sz="12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ortoped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kinetoterapeutul</a:t>
            </a:r>
            <a:r>
              <a:rPr lang="en-US" sz="1250" dirty="0">
                <a:solidFill>
                  <a:schemeClr val="bg1"/>
                </a:solidFill>
              </a:rPr>
              <a:t> - se </a:t>
            </a:r>
            <a:r>
              <a:rPr lang="en-US" sz="1250" dirty="0" err="1">
                <a:solidFill>
                  <a:schemeClr val="bg1"/>
                </a:solidFill>
              </a:rPr>
              <a:t>ocupă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special, de </a:t>
            </a:r>
            <a:r>
              <a:rPr lang="en-US" sz="1250" dirty="0" err="1">
                <a:solidFill>
                  <a:schemeClr val="bg1"/>
                </a:solidFill>
              </a:rPr>
              <a:t>leziunile</a:t>
            </a:r>
            <a:r>
              <a:rPr lang="en-US" sz="1250" dirty="0">
                <a:solidFill>
                  <a:schemeClr val="bg1"/>
                </a:solidFill>
              </a:rPr>
              <a:t> legate de sport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avea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experiență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gestionarea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reabilitarea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contuziilor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genunchiului</a:t>
            </a:r>
            <a:r>
              <a:rPr lang="en-US" sz="125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diagnostica</a:t>
            </a:r>
            <a:r>
              <a:rPr lang="en-US" sz="1250" dirty="0">
                <a:solidFill>
                  <a:schemeClr val="bg1"/>
                </a:solidFill>
              </a:rPr>
              <a:t> o </a:t>
            </a:r>
            <a:r>
              <a:rPr lang="en-US" sz="1250" dirty="0" err="1">
                <a:solidFill>
                  <a:schemeClr val="bg1"/>
                </a:solidFill>
              </a:rPr>
              <a:t>contuzie</a:t>
            </a:r>
            <a:r>
              <a:rPr lang="en-US" sz="1250" dirty="0">
                <a:solidFill>
                  <a:schemeClr val="bg1"/>
                </a:solidFill>
              </a:rPr>
              <a:t> la </a:t>
            </a:r>
            <a:r>
              <a:rPr lang="en-US" sz="1250" dirty="0" err="1">
                <a:solidFill>
                  <a:schemeClr val="bg1"/>
                </a:solidFill>
              </a:rPr>
              <a:t>genunchi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a exclude </a:t>
            </a:r>
            <a:r>
              <a:rPr lang="en-US" sz="1250" dirty="0" err="1">
                <a:solidFill>
                  <a:schemeClr val="bg1"/>
                </a:solidFill>
              </a:rPr>
              <a:t>alte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leziuni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potențiale</a:t>
            </a:r>
            <a:r>
              <a:rPr lang="en-US" sz="1250" dirty="0">
                <a:solidFill>
                  <a:schemeClr val="bg1"/>
                </a:solidFill>
              </a:rPr>
              <a:t>, precum </a:t>
            </a:r>
            <a:r>
              <a:rPr lang="en-US" sz="1250" dirty="0" err="1">
                <a:solidFill>
                  <a:schemeClr val="bg1"/>
                </a:solidFill>
              </a:rPr>
              <a:t>fracturile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sau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leziunile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ligamentelor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recomanda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următoarele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investigații</a:t>
            </a:r>
            <a:r>
              <a:rPr lang="en-US" sz="1250" dirty="0">
                <a:solidFill>
                  <a:schemeClr val="bg1"/>
                </a:solidFill>
              </a:rPr>
              <a:t>: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examinare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fizică</a:t>
            </a:r>
            <a:r>
              <a:rPr lang="en-US" sz="1250" dirty="0">
                <a:solidFill>
                  <a:schemeClr val="bg1"/>
                </a:solidFill>
              </a:rPr>
              <a:t> - </a:t>
            </a: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va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examina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genunchiul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urma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loviturii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evalua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umflătura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vânătăile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mobilitatea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identifica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zonele</a:t>
            </a:r>
            <a:r>
              <a:rPr lang="en-US" sz="1250" dirty="0">
                <a:solidFill>
                  <a:schemeClr val="bg1"/>
                </a:solidFill>
              </a:rPr>
              <a:t> de </a:t>
            </a:r>
            <a:r>
              <a:rPr lang="en-US" sz="1250" dirty="0" err="1">
                <a:solidFill>
                  <a:schemeClr val="bg1"/>
                </a:solidFill>
              </a:rPr>
              <a:t>sensibilitate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sau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durere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radiografie</a:t>
            </a:r>
            <a:r>
              <a:rPr lang="en-US" sz="1250" dirty="0">
                <a:solidFill>
                  <a:schemeClr val="bg1"/>
                </a:solidFill>
              </a:rPr>
              <a:t> - </a:t>
            </a:r>
            <a:r>
              <a:rPr lang="en-US" sz="1250" dirty="0" err="1">
                <a:solidFill>
                  <a:schemeClr val="bg1"/>
                </a:solidFill>
              </a:rPr>
              <a:t>aceasta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este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adesea</a:t>
            </a:r>
            <a:r>
              <a:rPr lang="en-US" sz="1250" dirty="0">
                <a:solidFill>
                  <a:schemeClr val="bg1"/>
                </a:solidFill>
              </a:rPr>
              <a:t>, prima </a:t>
            </a:r>
            <a:r>
              <a:rPr lang="en-US" sz="1250" dirty="0" err="1">
                <a:solidFill>
                  <a:schemeClr val="bg1"/>
                </a:solidFill>
              </a:rPr>
              <a:t>investigație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recomandată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exclude </a:t>
            </a:r>
            <a:r>
              <a:rPr lang="en-US" sz="1250" dirty="0" err="1">
                <a:solidFill>
                  <a:schemeClr val="bg1"/>
                </a:solidFill>
              </a:rPr>
              <a:t>fracturile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osoase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imagistică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prin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rezonanță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magnetică</a:t>
            </a:r>
            <a:r>
              <a:rPr lang="en-US" sz="1250" dirty="0">
                <a:solidFill>
                  <a:schemeClr val="bg1"/>
                </a:solidFill>
              </a:rPr>
              <a:t> (RMN) -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folosită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obține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imagini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detaliate</a:t>
            </a:r>
            <a:r>
              <a:rPr lang="en-US" sz="1250" dirty="0">
                <a:solidFill>
                  <a:schemeClr val="bg1"/>
                </a:solidFill>
              </a:rPr>
              <a:t> ale </a:t>
            </a:r>
            <a:r>
              <a:rPr lang="en-US" sz="1250" dirty="0" err="1">
                <a:solidFill>
                  <a:schemeClr val="bg1"/>
                </a:solidFill>
              </a:rPr>
              <a:t>țesuturilor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moi</a:t>
            </a:r>
            <a:r>
              <a:rPr lang="en-US" sz="1250" dirty="0">
                <a:solidFill>
                  <a:schemeClr val="bg1"/>
                </a:solidFill>
              </a:rPr>
              <a:t> ale </a:t>
            </a:r>
            <a:r>
              <a:rPr lang="en-US" sz="1250" dirty="0" err="1">
                <a:solidFill>
                  <a:schemeClr val="bg1"/>
                </a:solidFill>
              </a:rPr>
              <a:t>genunchiului</a:t>
            </a:r>
            <a:r>
              <a:rPr lang="en-US" sz="1250" dirty="0">
                <a:solidFill>
                  <a:schemeClr val="bg1"/>
                </a:solidFill>
              </a:rPr>
              <a:t>, cum </a:t>
            </a:r>
            <a:r>
              <a:rPr lang="en-US" sz="1250" dirty="0" err="1">
                <a:solidFill>
                  <a:schemeClr val="bg1"/>
                </a:solidFill>
              </a:rPr>
              <a:t>ar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ligamente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tendoane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cartilaje</a:t>
            </a:r>
            <a:r>
              <a:rPr lang="en-US" sz="1250" dirty="0">
                <a:solidFill>
                  <a:schemeClr val="bg1"/>
                </a:solidFill>
              </a:rPr>
              <a:t>;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utilă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dacă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suspectează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alte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leziuni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afara </a:t>
            </a:r>
            <a:r>
              <a:rPr lang="en-US" sz="1250" dirty="0" err="1">
                <a:solidFill>
                  <a:schemeClr val="bg1"/>
                </a:solidFill>
              </a:rPr>
              <a:t>contuziei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ecografie</a:t>
            </a:r>
            <a:r>
              <a:rPr lang="en-US" sz="1250" dirty="0">
                <a:solidFill>
                  <a:schemeClr val="bg1"/>
                </a:solidFill>
              </a:rPr>
              <a:t> -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folosită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evalua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țesuturile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moi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identifica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eventualele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hematoame</a:t>
            </a:r>
            <a:r>
              <a:rPr lang="en-US" sz="1250" dirty="0">
                <a:solidFill>
                  <a:schemeClr val="bg1"/>
                </a:solidFill>
              </a:rPr>
              <a:t> din </a:t>
            </a:r>
            <a:r>
              <a:rPr lang="en-US" sz="1250" dirty="0" err="1">
                <a:solidFill>
                  <a:schemeClr val="bg1"/>
                </a:solidFill>
              </a:rPr>
              <a:t>jurul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genunchiului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tomografie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computerizată</a:t>
            </a:r>
            <a:r>
              <a:rPr lang="en-US" sz="1250" dirty="0">
                <a:solidFill>
                  <a:schemeClr val="bg1"/>
                </a:solidFill>
              </a:rPr>
              <a:t> (CT) - </a:t>
            </a:r>
            <a:r>
              <a:rPr lang="en-US" sz="1250" dirty="0" err="1">
                <a:solidFill>
                  <a:schemeClr val="bg1"/>
                </a:solidFill>
              </a:rPr>
              <a:t>deși</a:t>
            </a:r>
            <a:r>
              <a:rPr lang="en-US" sz="1250" dirty="0">
                <a:solidFill>
                  <a:schemeClr val="bg1"/>
                </a:solidFill>
              </a:rPr>
              <a:t> nu </a:t>
            </a:r>
            <a:r>
              <a:rPr lang="en-US" sz="1250" dirty="0" err="1">
                <a:solidFill>
                  <a:schemeClr val="bg1"/>
                </a:solidFill>
              </a:rPr>
              <a:t>este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folosită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frecvent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contuzii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oferi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imagini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detaliate</a:t>
            </a:r>
            <a:r>
              <a:rPr lang="en-US" sz="1250" dirty="0">
                <a:solidFill>
                  <a:schemeClr val="bg1"/>
                </a:solidFill>
              </a:rPr>
              <a:t> ale </a:t>
            </a:r>
            <a:r>
              <a:rPr lang="en-US" sz="1250" dirty="0" err="1">
                <a:solidFill>
                  <a:schemeClr val="bg1"/>
                </a:solidFill>
              </a:rPr>
              <a:t>oaselor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utilă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cazuri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complexe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sau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evalua</a:t>
            </a:r>
            <a:r>
              <a:rPr lang="en-US" sz="1250" dirty="0">
                <a:solidFill>
                  <a:schemeClr val="bg1"/>
                </a:solidFill>
              </a:rPr>
              <a:t> </a:t>
            </a:r>
            <a:r>
              <a:rPr lang="en-US" sz="1250" dirty="0" err="1">
                <a:solidFill>
                  <a:schemeClr val="bg1"/>
                </a:solidFill>
              </a:rPr>
              <a:t>alte</a:t>
            </a:r>
            <a:r>
              <a:rPr lang="en-US" sz="1250" dirty="0">
                <a:solidFill>
                  <a:schemeClr val="bg1"/>
                </a:solidFill>
              </a:rPr>
              <a:t> </a:t>
            </a:r>
            <a:r>
              <a:rPr lang="en-US" sz="1250" dirty="0" err="1">
                <a:solidFill>
                  <a:schemeClr val="bg1"/>
                </a:solidFill>
              </a:rPr>
              <a:t>leziuni</a:t>
            </a:r>
            <a:r>
              <a:rPr lang="en-US" sz="125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D898E4-400B-C5B8-685B-C111014EFB6D}"/>
              </a:ext>
            </a:extLst>
          </p:cNvPr>
          <p:cNvCxnSpPr>
            <a:cxnSpLocks/>
          </p:cNvCxnSpPr>
          <p:nvPr/>
        </p:nvCxnSpPr>
        <p:spPr>
          <a:xfrm>
            <a:off x="5649844" y="1242373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94FCD3F-5EAF-1FCB-2671-40B7A95F6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28" y="1277098"/>
            <a:ext cx="3826298" cy="44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73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FAD9C-0163-F9FB-175A-1AF362A5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AC35F65-74CA-C8C0-5EA6-BBF8ADD9A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73D5BF-2B50-64C7-221F-5CCAB525D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D0847D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226194A-9035-1A17-0558-16FBFD978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D0847D"/>
          </a:solidFill>
          <a:ln w="38100" cap="rnd">
            <a:solidFill>
              <a:srgbClr val="D0847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AD9BC98-A1B1-3210-B2A8-2A26AB694C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AD9BC98-A1B1-3210-B2A8-2A26AB694C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01CA264-15A0-CCF2-FD75-492DDF0967BF}"/>
              </a:ext>
            </a:extLst>
          </p:cNvPr>
          <p:cNvSpPr txBox="1"/>
          <p:nvPr/>
        </p:nvSpPr>
        <p:spPr>
          <a:xfrm>
            <a:off x="5649844" y="527574"/>
            <a:ext cx="7349805" cy="14440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Contuzia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Diagnosticare</a:t>
            </a:r>
            <a:endParaRPr lang="en-US" sz="3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04743-BE5A-4B06-B3D1-7B338AF0CD05}"/>
              </a:ext>
            </a:extLst>
          </p:cNvPr>
          <p:cNvSpPr txBox="1"/>
          <p:nvPr/>
        </p:nvSpPr>
        <p:spPr>
          <a:xfrm>
            <a:off x="5504871" y="1369694"/>
            <a:ext cx="6474925" cy="548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funcție</a:t>
            </a:r>
            <a:r>
              <a:rPr lang="en-US" sz="1250" dirty="0">
                <a:solidFill>
                  <a:schemeClr val="bg1"/>
                </a:solidFill>
              </a:rPr>
              <a:t> de </a:t>
            </a:r>
            <a:r>
              <a:rPr lang="en-US" sz="1250" dirty="0" err="1">
                <a:solidFill>
                  <a:schemeClr val="bg1"/>
                </a:solidFill>
              </a:rPr>
              <a:t>severitatea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simptomelor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de context, </a:t>
            </a:r>
            <a:r>
              <a:rPr lang="en-US" sz="1250" dirty="0" err="1">
                <a:solidFill>
                  <a:schemeClr val="bg1"/>
                </a:solidFill>
              </a:rPr>
              <a:t>diferiți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specialiști</a:t>
            </a:r>
            <a:r>
              <a:rPr lang="en-US" sz="1250" dirty="0">
                <a:solidFill>
                  <a:schemeClr val="bg1"/>
                </a:solidFill>
              </a:rPr>
              <a:t> pot fi </a:t>
            </a:r>
            <a:r>
              <a:rPr lang="en-US" sz="1250" dirty="0" err="1">
                <a:solidFill>
                  <a:schemeClr val="bg1"/>
                </a:solidFill>
              </a:rPr>
              <a:t>implicați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diagnostic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tratament</a:t>
            </a:r>
            <a:r>
              <a:rPr lang="en-US" sz="1250" dirty="0">
                <a:solidFill>
                  <a:schemeClr val="bg1"/>
                </a:solidFill>
              </a:rPr>
              <a:t>: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de </a:t>
            </a:r>
            <a:r>
              <a:rPr lang="en-US" sz="1250" dirty="0" err="1">
                <a:solidFill>
                  <a:schemeClr val="bg1"/>
                </a:solidFill>
              </a:rPr>
              <a:t>familie</a:t>
            </a:r>
            <a:endParaRPr lang="en-US" sz="12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ortoped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kinetoterapeutul</a:t>
            </a:r>
            <a:r>
              <a:rPr lang="en-US" sz="1250" dirty="0">
                <a:solidFill>
                  <a:schemeClr val="bg1"/>
                </a:solidFill>
              </a:rPr>
              <a:t> - se </a:t>
            </a:r>
            <a:r>
              <a:rPr lang="en-US" sz="1250" dirty="0" err="1">
                <a:solidFill>
                  <a:schemeClr val="bg1"/>
                </a:solidFill>
              </a:rPr>
              <a:t>ocupă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special, de </a:t>
            </a:r>
            <a:r>
              <a:rPr lang="en-US" sz="1250" dirty="0" err="1">
                <a:solidFill>
                  <a:schemeClr val="bg1"/>
                </a:solidFill>
              </a:rPr>
              <a:t>leziunile</a:t>
            </a:r>
            <a:r>
              <a:rPr lang="en-US" sz="1250" dirty="0">
                <a:solidFill>
                  <a:schemeClr val="bg1"/>
                </a:solidFill>
              </a:rPr>
              <a:t> legate de sport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avea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experiență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gestionarea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reabilitarea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contuziilor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genunchiului</a:t>
            </a:r>
            <a:r>
              <a:rPr lang="en-US" sz="125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diagnostica</a:t>
            </a:r>
            <a:r>
              <a:rPr lang="en-US" sz="1250" dirty="0">
                <a:solidFill>
                  <a:schemeClr val="bg1"/>
                </a:solidFill>
              </a:rPr>
              <a:t> o </a:t>
            </a:r>
            <a:r>
              <a:rPr lang="en-US" sz="1250" dirty="0" err="1">
                <a:solidFill>
                  <a:schemeClr val="bg1"/>
                </a:solidFill>
              </a:rPr>
              <a:t>contuzie</a:t>
            </a:r>
            <a:r>
              <a:rPr lang="en-US" sz="1250" dirty="0">
                <a:solidFill>
                  <a:schemeClr val="bg1"/>
                </a:solidFill>
              </a:rPr>
              <a:t> la </a:t>
            </a:r>
            <a:r>
              <a:rPr lang="en-US" sz="1250" dirty="0" err="1">
                <a:solidFill>
                  <a:schemeClr val="bg1"/>
                </a:solidFill>
              </a:rPr>
              <a:t>genunchi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a exclude </a:t>
            </a:r>
            <a:r>
              <a:rPr lang="en-US" sz="1250" dirty="0" err="1">
                <a:solidFill>
                  <a:schemeClr val="bg1"/>
                </a:solidFill>
              </a:rPr>
              <a:t>alte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leziuni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potențiale</a:t>
            </a:r>
            <a:r>
              <a:rPr lang="en-US" sz="1250" dirty="0">
                <a:solidFill>
                  <a:schemeClr val="bg1"/>
                </a:solidFill>
              </a:rPr>
              <a:t>, precum </a:t>
            </a:r>
            <a:r>
              <a:rPr lang="en-US" sz="1250" dirty="0" err="1">
                <a:solidFill>
                  <a:schemeClr val="bg1"/>
                </a:solidFill>
              </a:rPr>
              <a:t>fracturile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sau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leziunile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ligamentelor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recomanda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următoarele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investigații</a:t>
            </a:r>
            <a:r>
              <a:rPr lang="en-US" sz="1250" dirty="0">
                <a:solidFill>
                  <a:schemeClr val="bg1"/>
                </a:solidFill>
              </a:rPr>
              <a:t>: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examinare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fizică</a:t>
            </a:r>
            <a:r>
              <a:rPr lang="en-US" sz="1250" dirty="0">
                <a:solidFill>
                  <a:schemeClr val="bg1"/>
                </a:solidFill>
              </a:rPr>
              <a:t> - </a:t>
            </a: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va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examina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genunchiul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urma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loviturii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evalua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umflătura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vânătăile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mobilitatea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identifica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zonele</a:t>
            </a:r>
            <a:r>
              <a:rPr lang="en-US" sz="1250" dirty="0">
                <a:solidFill>
                  <a:schemeClr val="bg1"/>
                </a:solidFill>
              </a:rPr>
              <a:t> de </a:t>
            </a:r>
            <a:r>
              <a:rPr lang="en-US" sz="1250" dirty="0" err="1">
                <a:solidFill>
                  <a:schemeClr val="bg1"/>
                </a:solidFill>
              </a:rPr>
              <a:t>sensibilitate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sau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durere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radiografie</a:t>
            </a:r>
            <a:r>
              <a:rPr lang="en-US" sz="1250" dirty="0">
                <a:solidFill>
                  <a:schemeClr val="bg1"/>
                </a:solidFill>
              </a:rPr>
              <a:t> - </a:t>
            </a:r>
            <a:r>
              <a:rPr lang="en-US" sz="1250" dirty="0" err="1">
                <a:solidFill>
                  <a:schemeClr val="bg1"/>
                </a:solidFill>
              </a:rPr>
              <a:t>aceasta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este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adesea</a:t>
            </a:r>
            <a:r>
              <a:rPr lang="en-US" sz="1250" dirty="0">
                <a:solidFill>
                  <a:schemeClr val="bg1"/>
                </a:solidFill>
              </a:rPr>
              <a:t>, prima </a:t>
            </a:r>
            <a:r>
              <a:rPr lang="en-US" sz="1250" dirty="0" err="1">
                <a:solidFill>
                  <a:schemeClr val="bg1"/>
                </a:solidFill>
              </a:rPr>
              <a:t>investigație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recomandată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exclude </a:t>
            </a:r>
            <a:r>
              <a:rPr lang="en-US" sz="1250" dirty="0" err="1">
                <a:solidFill>
                  <a:schemeClr val="bg1"/>
                </a:solidFill>
              </a:rPr>
              <a:t>fracturile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osoase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imagistică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prin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rezonanță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magnetică</a:t>
            </a:r>
            <a:r>
              <a:rPr lang="en-US" sz="1250" dirty="0">
                <a:solidFill>
                  <a:schemeClr val="bg1"/>
                </a:solidFill>
              </a:rPr>
              <a:t> (RMN) -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folosită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obține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imagini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detaliate</a:t>
            </a:r>
            <a:r>
              <a:rPr lang="en-US" sz="1250" dirty="0">
                <a:solidFill>
                  <a:schemeClr val="bg1"/>
                </a:solidFill>
              </a:rPr>
              <a:t> ale </a:t>
            </a:r>
            <a:r>
              <a:rPr lang="en-US" sz="1250" dirty="0" err="1">
                <a:solidFill>
                  <a:schemeClr val="bg1"/>
                </a:solidFill>
              </a:rPr>
              <a:t>țesuturilor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moi</a:t>
            </a:r>
            <a:r>
              <a:rPr lang="en-US" sz="1250" dirty="0">
                <a:solidFill>
                  <a:schemeClr val="bg1"/>
                </a:solidFill>
              </a:rPr>
              <a:t> ale </a:t>
            </a:r>
            <a:r>
              <a:rPr lang="en-US" sz="1250" dirty="0" err="1">
                <a:solidFill>
                  <a:schemeClr val="bg1"/>
                </a:solidFill>
              </a:rPr>
              <a:t>genunchiului</a:t>
            </a:r>
            <a:r>
              <a:rPr lang="en-US" sz="1250" dirty="0">
                <a:solidFill>
                  <a:schemeClr val="bg1"/>
                </a:solidFill>
              </a:rPr>
              <a:t>, cum </a:t>
            </a:r>
            <a:r>
              <a:rPr lang="en-US" sz="1250" dirty="0" err="1">
                <a:solidFill>
                  <a:schemeClr val="bg1"/>
                </a:solidFill>
              </a:rPr>
              <a:t>ar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ligamente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tendoane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cartilaje</a:t>
            </a:r>
            <a:r>
              <a:rPr lang="en-US" sz="1250" dirty="0">
                <a:solidFill>
                  <a:schemeClr val="bg1"/>
                </a:solidFill>
              </a:rPr>
              <a:t>;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utilă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dacă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medicul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suspectează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alte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leziuni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afara </a:t>
            </a:r>
            <a:r>
              <a:rPr lang="en-US" sz="1250" dirty="0" err="1">
                <a:solidFill>
                  <a:schemeClr val="bg1"/>
                </a:solidFill>
              </a:rPr>
              <a:t>contuziei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ecografie</a:t>
            </a:r>
            <a:r>
              <a:rPr lang="en-US" sz="1250" dirty="0">
                <a:solidFill>
                  <a:schemeClr val="bg1"/>
                </a:solidFill>
              </a:rPr>
              <a:t> -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folosită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evalua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țesuturile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moi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identifica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eventualele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hematoame</a:t>
            </a:r>
            <a:r>
              <a:rPr lang="en-US" sz="1250" dirty="0">
                <a:solidFill>
                  <a:schemeClr val="bg1"/>
                </a:solidFill>
              </a:rPr>
              <a:t> din </a:t>
            </a:r>
            <a:r>
              <a:rPr lang="en-US" sz="1250" dirty="0" err="1">
                <a:solidFill>
                  <a:schemeClr val="bg1"/>
                </a:solidFill>
              </a:rPr>
              <a:t>jurul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genunchiului</a:t>
            </a:r>
            <a:r>
              <a:rPr lang="en-US" sz="1250" dirty="0">
                <a:solidFill>
                  <a:schemeClr val="bg1"/>
                </a:solidFill>
              </a:rPr>
              <a:t>;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chemeClr val="bg1"/>
                </a:solidFill>
              </a:rPr>
              <a:t>tomografie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computerizată</a:t>
            </a:r>
            <a:r>
              <a:rPr lang="en-US" sz="1250" dirty="0">
                <a:solidFill>
                  <a:schemeClr val="bg1"/>
                </a:solidFill>
              </a:rPr>
              <a:t> (CT) - </a:t>
            </a:r>
            <a:r>
              <a:rPr lang="en-US" sz="1250" dirty="0" err="1">
                <a:solidFill>
                  <a:schemeClr val="bg1"/>
                </a:solidFill>
              </a:rPr>
              <a:t>deși</a:t>
            </a:r>
            <a:r>
              <a:rPr lang="en-US" sz="1250" dirty="0">
                <a:solidFill>
                  <a:schemeClr val="bg1"/>
                </a:solidFill>
              </a:rPr>
              <a:t> nu </a:t>
            </a:r>
            <a:r>
              <a:rPr lang="en-US" sz="1250" dirty="0" err="1">
                <a:solidFill>
                  <a:schemeClr val="bg1"/>
                </a:solidFill>
              </a:rPr>
              <a:t>este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folosită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frecvent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contuzii</a:t>
            </a:r>
            <a:r>
              <a:rPr lang="en-US" sz="1250" dirty="0">
                <a:solidFill>
                  <a:schemeClr val="bg1"/>
                </a:solidFill>
              </a:rPr>
              <a:t>,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oferi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imagini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detaliate</a:t>
            </a:r>
            <a:r>
              <a:rPr lang="en-US" sz="1250" dirty="0">
                <a:solidFill>
                  <a:schemeClr val="bg1"/>
                </a:solidFill>
              </a:rPr>
              <a:t> ale </a:t>
            </a:r>
            <a:r>
              <a:rPr lang="en-US" sz="1250" dirty="0" err="1">
                <a:solidFill>
                  <a:schemeClr val="bg1"/>
                </a:solidFill>
              </a:rPr>
              <a:t>oaselor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și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poate</a:t>
            </a:r>
            <a:r>
              <a:rPr lang="en-US" sz="1250" dirty="0">
                <a:solidFill>
                  <a:schemeClr val="bg1"/>
                </a:solidFill>
              </a:rPr>
              <a:t> fi </a:t>
            </a:r>
            <a:r>
              <a:rPr lang="en-US" sz="1250" dirty="0" err="1">
                <a:solidFill>
                  <a:schemeClr val="bg1"/>
                </a:solidFill>
              </a:rPr>
              <a:t>utilă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în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cazuri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complexe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sau</a:t>
            </a:r>
            <a:r>
              <a:rPr lang="en-US" sz="1250" dirty="0">
                <a:solidFill>
                  <a:schemeClr val="bg1"/>
                </a:solidFill>
              </a:rPr>
              <a:t> </a:t>
            </a:r>
            <a:r>
              <a:rPr lang="en-US" sz="1250" dirty="0" err="1">
                <a:solidFill>
                  <a:schemeClr val="bg1"/>
                </a:solidFill>
              </a:rPr>
              <a:t>pentru</a:t>
            </a:r>
            <a:r>
              <a:rPr lang="en-US" sz="1250" dirty="0">
                <a:solidFill>
                  <a:schemeClr val="bg1"/>
                </a:solidFill>
              </a:rPr>
              <a:t> a </a:t>
            </a:r>
            <a:r>
              <a:rPr lang="en-US" sz="1250" dirty="0" err="1">
                <a:solidFill>
                  <a:schemeClr val="bg1"/>
                </a:solidFill>
              </a:rPr>
              <a:t>evalua</a:t>
            </a:r>
            <a:r>
              <a:rPr lang="en-US" sz="1250" dirty="0">
                <a:solidFill>
                  <a:schemeClr val="bg1"/>
                </a:solidFill>
              </a:rPr>
              <a:t> </a:t>
            </a:r>
            <a:r>
              <a:rPr lang="en-US" sz="1250" dirty="0" err="1">
                <a:solidFill>
                  <a:schemeClr val="bg1"/>
                </a:solidFill>
              </a:rPr>
              <a:t>alte</a:t>
            </a:r>
            <a:r>
              <a:rPr lang="en-US" sz="1250" dirty="0">
                <a:solidFill>
                  <a:schemeClr val="bg1"/>
                </a:solidFill>
              </a:rPr>
              <a:t> </a:t>
            </a:r>
            <a:r>
              <a:rPr lang="en-US" sz="1250" dirty="0" err="1">
                <a:solidFill>
                  <a:schemeClr val="bg1"/>
                </a:solidFill>
              </a:rPr>
              <a:t>leziuni</a:t>
            </a:r>
            <a:r>
              <a:rPr lang="en-US" sz="125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03382B-C993-3C0F-E681-BBF70F1C0613}"/>
              </a:ext>
            </a:extLst>
          </p:cNvPr>
          <p:cNvCxnSpPr>
            <a:cxnSpLocks/>
          </p:cNvCxnSpPr>
          <p:nvPr/>
        </p:nvCxnSpPr>
        <p:spPr>
          <a:xfrm>
            <a:off x="5649844" y="1242373"/>
            <a:ext cx="2878089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F4C0CFD-6B98-CF4E-B68A-31B08BDDC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28" y="1277098"/>
            <a:ext cx="3826298" cy="44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18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7852B-123D-BDC3-3624-6ABE022CCE59}"/>
              </a:ext>
            </a:extLst>
          </p:cNvPr>
          <p:cNvSpPr txBox="1"/>
          <p:nvPr/>
        </p:nvSpPr>
        <p:spPr>
          <a:xfrm>
            <a:off x="338038" y="-34983"/>
            <a:ext cx="11853962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 err="1">
                <a:latin typeface="+mj-lt"/>
                <a:ea typeface="+mj-ea"/>
                <a:cs typeface="+mj-cs"/>
              </a:rPr>
              <a:t>Situații</a:t>
            </a:r>
            <a:r>
              <a:rPr lang="en-US" sz="4500" dirty="0">
                <a:latin typeface="+mj-lt"/>
                <a:ea typeface="+mj-ea"/>
                <a:cs typeface="+mj-cs"/>
              </a:rPr>
              <a:t> de </a:t>
            </a:r>
            <a:r>
              <a:rPr lang="en-US" sz="4500" dirty="0" err="1">
                <a:latin typeface="+mj-lt"/>
                <a:ea typeface="+mj-ea"/>
                <a:cs typeface="+mj-cs"/>
              </a:rPr>
              <a:t>urgență</a:t>
            </a:r>
            <a:r>
              <a:rPr lang="en-US" sz="4500" dirty="0">
                <a:latin typeface="+mj-lt"/>
                <a:ea typeface="+mj-ea"/>
                <a:cs typeface="+mj-cs"/>
              </a:rPr>
              <a:t> - </a:t>
            </a:r>
            <a:r>
              <a:rPr lang="en-US" sz="4500" dirty="0" err="1">
                <a:latin typeface="+mj-lt"/>
                <a:ea typeface="+mj-ea"/>
                <a:cs typeface="+mj-cs"/>
              </a:rPr>
              <a:t>Trusa</a:t>
            </a:r>
            <a:r>
              <a:rPr lang="en-US" sz="4500" dirty="0">
                <a:latin typeface="+mj-lt"/>
                <a:ea typeface="+mj-ea"/>
                <a:cs typeface="+mj-cs"/>
              </a:rPr>
              <a:t> de prim </a:t>
            </a:r>
            <a:r>
              <a:rPr lang="en-US" sz="4500" dirty="0" err="1">
                <a:latin typeface="+mj-lt"/>
                <a:ea typeface="+mj-ea"/>
                <a:cs typeface="+mj-cs"/>
              </a:rPr>
              <a:t>ajutor</a:t>
            </a:r>
            <a:endParaRPr lang="en-US" sz="4500" dirty="0">
              <a:latin typeface="+mj-lt"/>
              <a:ea typeface="+mj-ea"/>
              <a:cs typeface="+mj-cs"/>
            </a:endParaRPr>
          </a:p>
        </p:txBody>
      </p:sp>
      <p:sp>
        <p:nvSpPr>
          <p:cNvPr id="1039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4" y="1817073"/>
            <a:ext cx="11018520" cy="18288"/>
          </a:xfrm>
          <a:custGeom>
            <a:avLst/>
            <a:gdLst>
              <a:gd name="connsiteX0" fmla="*/ 0 w 11018520"/>
              <a:gd name="connsiteY0" fmla="*/ 0 h 18288"/>
              <a:gd name="connsiteX1" fmla="*/ 468287 w 11018520"/>
              <a:gd name="connsiteY1" fmla="*/ 0 h 18288"/>
              <a:gd name="connsiteX2" fmla="*/ 1156945 w 11018520"/>
              <a:gd name="connsiteY2" fmla="*/ 0 h 18288"/>
              <a:gd name="connsiteX3" fmla="*/ 1955787 w 11018520"/>
              <a:gd name="connsiteY3" fmla="*/ 0 h 18288"/>
              <a:gd name="connsiteX4" fmla="*/ 2313889 w 11018520"/>
              <a:gd name="connsiteY4" fmla="*/ 0 h 18288"/>
              <a:gd name="connsiteX5" fmla="*/ 2671991 w 11018520"/>
              <a:gd name="connsiteY5" fmla="*/ 0 h 18288"/>
              <a:gd name="connsiteX6" fmla="*/ 3581019 w 11018520"/>
              <a:gd name="connsiteY6" fmla="*/ 0 h 18288"/>
              <a:gd name="connsiteX7" fmla="*/ 4269677 w 11018520"/>
              <a:gd name="connsiteY7" fmla="*/ 0 h 18288"/>
              <a:gd name="connsiteX8" fmla="*/ 4627778 w 11018520"/>
              <a:gd name="connsiteY8" fmla="*/ 0 h 18288"/>
              <a:gd name="connsiteX9" fmla="*/ 5316436 w 11018520"/>
              <a:gd name="connsiteY9" fmla="*/ 0 h 18288"/>
              <a:gd name="connsiteX10" fmla="*/ 6225464 w 11018520"/>
              <a:gd name="connsiteY10" fmla="*/ 0 h 18288"/>
              <a:gd name="connsiteX11" fmla="*/ 6803936 w 11018520"/>
              <a:gd name="connsiteY11" fmla="*/ 0 h 18288"/>
              <a:gd name="connsiteX12" fmla="*/ 7382408 w 11018520"/>
              <a:gd name="connsiteY12" fmla="*/ 0 h 18288"/>
              <a:gd name="connsiteX13" fmla="*/ 8071066 w 11018520"/>
              <a:gd name="connsiteY13" fmla="*/ 0 h 18288"/>
              <a:gd name="connsiteX14" fmla="*/ 8869909 w 11018520"/>
              <a:gd name="connsiteY14" fmla="*/ 0 h 18288"/>
              <a:gd name="connsiteX15" fmla="*/ 9668751 w 11018520"/>
              <a:gd name="connsiteY15" fmla="*/ 0 h 18288"/>
              <a:gd name="connsiteX16" fmla="*/ 11018520 w 11018520"/>
              <a:gd name="connsiteY16" fmla="*/ 0 h 18288"/>
              <a:gd name="connsiteX17" fmla="*/ 11018520 w 11018520"/>
              <a:gd name="connsiteY17" fmla="*/ 18288 h 18288"/>
              <a:gd name="connsiteX18" fmla="*/ 10550233 w 11018520"/>
              <a:gd name="connsiteY18" fmla="*/ 18288 h 18288"/>
              <a:gd name="connsiteX19" fmla="*/ 9641205 w 11018520"/>
              <a:gd name="connsiteY19" fmla="*/ 18288 h 18288"/>
              <a:gd name="connsiteX20" fmla="*/ 8952548 w 11018520"/>
              <a:gd name="connsiteY20" fmla="*/ 18288 h 18288"/>
              <a:gd name="connsiteX21" fmla="*/ 8594446 w 11018520"/>
              <a:gd name="connsiteY21" fmla="*/ 18288 h 18288"/>
              <a:gd name="connsiteX22" fmla="*/ 7905788 w 11018520"/>
              <a:gd name="connsiteY22" fmla="*/ 18288 h 18288"/>
              <a:gd name="connsiteX23" fmla="*/ 7327316 w 11018520"/>
              <a:gd name="connsiteY23" fmla="*/ 18288 h 18288"/>
              <a:gd name="connsiteX24" fmla="*/ 6748844 w 11018520"/>
              <a:gd name="connsiteY24" fmla="*/ 18288 h 18288"/>
              <a:gd name="connsiteX25" fmla="*/ 6170371 w 11018520"/>
              <a:gd name="connsiteY25" fmla="*/ 18288 h 18288"/>
              <a:gd name="connsiteX26" fmla="*/ 5591899 w 11018520"/>
              <a:gd name="connsiteY26" fmla="*/ 18288 h 18288"/>
              <a:gd name="connsiteX27" fmla="*/ 4793056 w 11018520"/>
              <a:gd name="connsiteY27" fmla="*/ 18288 h 18288"/>
              <a:gd name="connsiteX28" fmla="*/ 4104399 w 11018520"/>
              <a:gd name="connsiteY28" fmla="*/ 18288 h 18288"/>
              <a:gd name="connsiteX29" fmla="*/ 3746297 w 11018520"/>
              <a:gd name="connsiteY29" fmla="*/ 18288 h 18288"/>
              <a:gd name="connsiteX30" fmla="*/ 3167825 w 11018520"/>
              <a:gd name="connsiteY30" fmla="*/ 18288 h 18288"/>
              <a:gd name="connsiteX31" fmla="*/ 2368982 w 11018520"/>
              <a:gd name="connsiteY31" fmla="*/ 18288 h 18288"/>
              <a:gd name="connsiteX32" fmla="*/ 1900695 w 11018520"/>
              <a:gd name="connsiteY32" fmla="*/ 18288 h 18288"/>
              <a:gd name="connsiteX33" fmla="*/ 991667 w 11018520"/>
              <a:gd name="connsiteY33" fmla="*/ 18288 h 18288"/>
              <a:gd name="connsiteX34" fmla="*/ 0 w 11018520"/>
              <a:gd name="connsiteY34" fmla="*/ 18288 h 18288"/>
              <a:gd name="connsiteX35" fmla="*/ 0 w 11018520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FFC15F"/>
          </a:solidFill>
          <a:ln w="38100" cap="rnd">
            <a:solidFill>
              <a:srgbClr val="FFC15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5DF58-2A1D-0465-7CC7-49845693AF89}"/>
              </a:ext>
            </a:extLst>
          </p:cNvPr>
          <p:cNvSpPr txBox="1"/>
          <p:nvPr/>
        </p:nvSpPr>
        <p:spPr>
          <a:xfrm>
            <a:off x="4905955" y="2071316"/>
            <a:ext cx="6713552" cy="4114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dirty="0" err="1"/>
              <a:t>Trusa</a:t>
            </a:r>
            <a:r>
              <a:rPr lang="en-US" sz="1400" dirty="0"/>
              <a:t> de prim </a:t>
            </a:r>
            <a:r>
              <a:rPr lang="en-US" sz="1400" dirty="0" err="1"/>
              <a:t>ajutor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esențială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</a:t>
            </a:r>
            <a:r>
              <a:rPr lang="en-US" sz="1400" dirty="0" err="1"/>
              <a:t>putea</a:t>
            </a:r>
            <a:r>
              <a:rPr lang="en-US" sz="1400" dirty="0"/>
              <a:t> </a:t>
            </a:r>
            <a:r>
              <a:rPr lang="en-US" sz="1400" dirty="0" err="1"/>
              <a:t>interveni</a:t>
            </a:r>
            <a:r>
              <a:rPr lang="en-US" sz="1400" dirty="0"/>
              <a:t> rapid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caz</a:t>
            </a:r>
            <a:r>
              <a:rPr lang="en-US" sz="1400" dirty="0"/>
              <a:t> de accident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urgență</a:t>
            </a:r>
            <a:r>
              <a:rPr lang="en-US" sz="1400" dirty="0"/>
              <a:t> </a:t>
            </a:r>
            <a:r>
              <a:rPr lang="en-US" sz="1400" dirty="0" err="1"/>
              <a:t>medicală</a:t>
            </a:r>
            <a:r>
              <a:rPr lang="en-US" sz="1400" dirty="0"/>
              <a:t>. </a:t>
            </a:r>
            <a:r>
              <a:rPr lang="en-US" sz="1400" dirty="0" err="1"/>
              <a:t>Ea</a:t>
            </a:r>
            <a:r>
              <a:rPr lang="en-US" sz="1400" dirty="0"/>
              <a:t> </a:t>
            </a:r>
            <a:r>
              <a:rPr lang="en-US" sz="1400" dirty="0" err="1"/>
              <a:t>trebuie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fie </a:t>
            </a:r>
            <a:r>
              <a:rPr lang="en-US" sz="1400" dirty="0" err="1"/>
              <a:t>prezentă</a:t>
            </a:r>
            <a:r>
              <a:rPr lang="en-US" sz="1400" dirty="0"/>
              <a:t> </a:t>
            </a:r>
            <a:r>
              <a:rPr lang="en-US" sz="1400" dirty="0" err="1"/>
              <a:t>acasă</a:t>
            </a:r>
            <a:r>
              <a:rPr lang="en-US" sz="1400" dirty="0"/>
              <a:t>, la </a:t>
            </a:r>
            <a:r>
              <a:rPr lang="en-US" sz="1400" dirty="0" err="1"/>
              <a:t>școală</a:t>
            </a:r>
            <a:r>
              <a:rPr lang="en-US" sz="1400" dirty="0"/>
              <a:t>,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mașină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la </a:t>
            </a:r>
            <a:r>
              <a:rPr lang="en-US" sz="1400" dirty="0" err="1"/>
              <a:t>locul</a:t>
            </a:r>
            <a:r>
              <a:rPr lang="en-US" sz="1400" dirty="0"/>
              <a:t> de </a:t>
            </a:r>
            <a:r>
              <a:rPr lang="en-US" sz="1400" dirty="0" err="1"/>
              <a:t>muncă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b="1" dirty="0" err="1"/>
              <a:t>Conținut</a:t>
            </a:r>
            <a:r>
              <a:rPr lang="en-US" sz="1400" b="1" dirty="0"/>
              <a:t> minim </a:t>
            </a:r>
            <a:r>
              <a:rPr lang="en-US" sz="1400" b="1" dirty="0" err="1"/>
              <a:t>recomandat</a:t>
            </a:r>
            <a:r>
              <a:rPr lang="en-US" sz="1400" b="1" dirty="0"/>
              <a:t>: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Mănuși</a:t>
            </a:r>
            <a:r>
              <a:rPr lang="en-US" sz="1400" dirty="0"/>
              <a:t> de </a:t>
            </a:r>
            <a:r>
              <a:rPr lang="en-US" sz="1400" dirty="0" err="1"/>
              <a:t>unică</a:t>
            </a:r>
            <a:r>
              <a:rPr lang="en-US" sz="1400" dirty="0"/>
              <a:t> </a:t>
            </a:r>
            <a:r>
              <a:rPr lang="en-US" sz="1400" dirty="0" err="1"/>
              <a:t>folosință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Dezinfectant</a:t>
            </a:r>
            <a:r>
              <a:rPr lang="en-US" sz="1400" dirty="0"/>
              <a:t> (</a:t>
            </a:r>
            <a:r>
              <a:rPr lang="en-US" sz="1400" dirty="0" err="1"/>
              <a:t>alcool</a:t>
            </a:r>
            <a:r>
              <a:rPr lang="en-US" sz="1400" dirty="0"/>
              <a:t> </a:t>
            </a:r>
            <a:r>
              <a:rPr lang="en-US" sz="1400" dirty="0" err="1"/>
              <a:t>sanitar</a:t>
            </a:r>
            <a:r>
              <a:rPr lang="en-US" sz="1400" dirty="0"/>
              <a:t>, </a:t>
            </a:r>
            <a:r>
              <a:rPr lang="en-US" sz="1400" dirty="0" err="1"/>
              <a:t>betadină</a:t>
            </a:r>
            <a:r>
              <a:rPr lang="en-US" sz="1400" dirty="0"/>
              <a:t>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Comprese</a:t>
            </a:r>
            <a:r>
              <a:rPr lang="en-US" sz="1400" dirty="0"/>
              <a:t> sterile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Fașe</a:t>
            </a:r>
            <a:r>
              <a:rPr lang="en-US" sz="1400" dirty="0"/>
              <a:t> </a:t>
            </a:r>
            <a:r>
              <a:rPr lang="en-US" sz="1400" dirty="0" err="1"/>
              <a:t>elastice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tifon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Plasturi</a:t>
            </a:r>
            <a:r>
              <a:rPr lang="en-US" sz="1400" dirty="0"/>
              <a:t> de </a:t>
            </a:r>
            <a:r>
              <a:rPr lang="en-US" sz="1400" dirty="0" err="1"/>
              <a:t>diferite</a:t>
            </a:r>
            <a:r>
              <a:rPr lang="en-US" sz="1400" dirty="0"/>
              <a:t> </a:t>
            </a:r>
            <a:r>
              <a:rPr lang="en-US" sz="1400" dirty="0" err="1"/>
              <a:t>dimensiuni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Foarfecă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pensetă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Pansamente</a:t>
            </a:r>
            <a:r>
              <a:rPr lang="en-US" sz="1400" dirty="0"/>
              <a:t> </a:t>
            </a:r>
            <a:r>
              <a:rPr lang="en-US" sz="1400" dirty="0" err="1"/>
              <a:t>autoadezive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Garou (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oprirea</a:t>
            </a:r>
            <a:r>
              <a:rPr lang="en-US" sz="1400" dirty="0"/>
              <a:t> </a:t>
            </a:r>
            <a:r>
              <a:rPr lang="en-US" sz="1400" dirty="0" err="1"/>
              <a:t>sângerării</a:t>
            </a:r>
            <a:r>
              <a:rPr lang="en-US" sz="1400" dirty="0"/>
              <a:t> </a:t>
            </a:r>
            <a:r>
              <a:rPr lang="en-US" sz="1400" dirty="0" err="1"/>
              <a:t>puternice</a:t>
            </a:r>
            <a:r>
              <a:rPr lang="en-US" sz="1400" dirty="0"/>
              <a:t>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Termometru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Pătură</a:t>
            </a:r>
            <a:r>
              <a:rPr lang="en-US" sz="1400" dirty="0"/>
              <a:t> </a:t>
            </a:r>
            <a:r>
              <a:rPr lang="en-US" sz="1400" dirty="0" err="1"/>
              <a:t>izotermă</a:t>
            </a:r>
            <a:endParaRPr lang="en-US" sz="14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Masca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respirație</a:t>
            </a:r>
            <a:r>
              <a:rPr lang="en-US" sz="1400" dirty="0"/>
              <a:t> </a:t>
            </a:r>
            <a:r>
              <a:rPr lang="en-US" sz="1400" dirty="0" err="1"/>
              <a:t>artificială</a:t>
            </a:r>
            <a:r>
              <a:rPr lang="en-US" sz="1400" dirty="0"/>
              <a:t> (CPR)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Medicamente</a:t>
            </a:r>
            <a:r>
              <a:rPr lang="en-US" sz="1400" dirty="0"/>
              <a:t> de </a:t>
            </a:r>
            <a:r>
              <a:rPr lang="en-US" sz="1400" dirty="0" err="1"/>
              <a:t>bază</a:t>
            </a:r>
            <a:r>
              <a:rPr lang="en-US" sz="1400" dirty="0"/>
              <a:t> (</a:t>
            </a:r>
            <a:r>
              <a:rPr lang="en-US" sz="1400" dirty="0" err="1"/>
              <a:t>analgezice</a:t>
            </a:r>
            <a:r>
              <a:rPr lang="en-US" sz="1400" dirty="0"/>
              <a:t>, </a:t>
            </a:r>
            <a:r>
              <a:rPr lang="en-US" sz="1400" dirty="0" err="1"/>
              <a:t>antialergice</a:t>
            </a:r>
            <a:r>
              <a:rPr lang="en-US" sz="1400" dirty="0"/>
              <a:t>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2050" name="Picture 2" descr="What's in Your First Aid Kit ...">
            <a:extLst>
              <a:ext uri="{FF2B5EF4-FFF2-40B4-BE49-F238E27FC236}">
                <a16:creationId xmlns:a16="http://schemas.microsoft.com/office/drawing/2014/main" id="{9FF97F11-B6D5-EA20-3871-DF0ED9238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71" y="2762261"/>
            <a:ext cx="4647781" cy="262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260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CBEC8-2598-E21C-E8E6-73A31987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48EF262-AD82-C0FC-7F2E-4AA2AC4C5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2509F3A9-8945-79B2-3952-2D7C71F8B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E48E5-30CA-6A60-1923-69863C4601D7}"/>
              </a:ext>
            </a:extLst>
          </p:cNvPr>
          <p:cNvSpPr txBox="1"/>
          <p:nvPr/>
        </p:nvSpPr>
        <p:spPr>
          <a:xfrm>
            <a:off x="334990" y="382658"/>
            <a:ext cx="11853962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 err="1">
                <a:latin typeface="+mj-lt"/>
                <a:ea typeface="+mj-ea"/>
                <a:cs typeface="+mj-cs"/>
              </a:rPr>
              <a:t>Situații</a:t>
            </a:r>
            <a:r>
              <a:rPr lang="en-US" sz="4500" dirty="0">
                <a:latin typeface="+mj-lt"/>
                <a:ea typeface="+mj-ea"/>
                <a:cs typeface="+mj-cs"/>
              </a:rPr>
              <a:t> de </a:t>
            </a:r>
            <a:r>
              <a:rPr lang="en-US" sz="4500" dirty="0" err="1">
                <a:latin typeface="+mj-lt"/>
                <a:ea typeface="+mj-ea"/>
                <a:cs typeface="+mj-cs"/>
              </a:rPr>
              <a:t>urgență</a:t>
            </a:r>
            <a:r>
              <a:rPr lang="en-US" sz="4500" dirty="0">
                <a:latin typeface="+mj-lt"/>
                <a:ea typeface="+mj-ea"/>
                <a:cs typeface="+mj-cs"/>
              </a:rPr>
              <a:t> – </a:t>
            </a:r>
            <a:r>
              <a:rPr lang="en-US" sz="4500" dirty="0" err="1">
                <a:latin typeface="+mj-lt"/>
                <a:ea typeface="+mj-ea"/>
                <a:cs typeface="+mj-cs"/>
              </a:rPr>
              <a:t>Prevenirea</a:t>
            </a:r>
            <a:r>
              <a:rPr lang="en-US" sz="4500" dirty="0">
                <a:latin typeface="+mj-lt"/>
                <a:ea typeface="+mj-ea"/>
                <a:cs typeface="+mj-cs"/>
              </a:rPr>
              <a:t> &amp; </a:t>
            </a:r>
            <a:r>
              <a:rPr lang="en-US" sz="4500" dirty="0" err="1">
                <a:latin typeface="+mj-lt"/>
                <a:ea typeface="+mj-ea"/>
                <a:cs typeface="+mj-cs"/>
              </a:rPr>
              <a:t>Cauzele</a:t>
            </a:r>
            <a:r>
              <a:rPr lang="en-US" sz="4500" dirty="0">
                <a:latin typeface="+mj-lt"/>
                <a:ea typeface="+mj-ea"/>
                <a:cs typeface="+mj-cs"/>
              </a:rPr>
              <a:t> </a:t>
            </a:r>
            <a:r>
              <a:rPr lang="en-US" sz="4500" dirty="0" err="1">
                <a:latin typeface="+mj-lt"/>
                <a:ea typeface="+mj-ea"/>
                <a:cs typeface="+mj-cs"/>
              </a:rPr>
              <a:t>Frecvente</a:t>
            </a:r>
            <a:r>
              <a:rPr lang="en-US" sz="4500" dirty="0">
                <a:latin typeface="+mj-lt"/>
                <a:ea typeface="+mj-ea"/>
                <a:cs typeface="+mj-cs"/>
              </a:rPr>
              <a:t> ale </a:t>
            </a:r>
            <a:r>
              <a:rPr lang="en-US" sz="4500" dirty="0" err="1">
                <a:latin typeface="+mj-lt"/>
                <a:ea typeface="+mj-ea"/>
                <a:cs typeface="+mj-cs"/>
              </a:rPr>
              <a:t>accidentelor</a:t>
            </a:r>
            <a:endParaRPr lang="en-US" sz="4500" dirty="0">
              <a:latin typeface="+mj-lt"/>
              <a:ea typeface="+mj-ea"/>
              <a:cs typeface="+mj-cs"/>
            </a:endParaRPr>
          </a:p>
        </p:txBody>
      </p:sp>
      <p:sp>
        <p:nvSpPr>
          <p:cNvPr id="1039" name="Rectangle 6">
            <a:extLst>
              <a:ext uri="{FF2B5EF4-FFF2-40B4-BE49-F238E27FC236}">
                <a16:creationId xmlns:a16="http://schemas.microsoft.com/office/drawing/2014/main" id="{A51363EE-BEAC-2E71-4E75-A3A569587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4" y="1817073"/>
            <a:ext cx="11018520" cy="18288"/>
          </a:xfrm>
          <a:custGeom>
            <a:avLst/>
            <a:gdLst>
              <a:gd name="connsiteX0" fmla="*/ 0 w 11018520"/>
              <a:gd name="connsiteY0" fmla="*/ 0 h 18288"/>
              <a:gd name="connsiteX1" fmla="*/ 468287 w 11018520"/>
              <a:gd name="connsiteY1" fmla="*/ 0 h 18288"/>
              <a:gd name="connsiteX2" fmla="*/ 1156945 w 11018520"/>
              <a:gd name="connsiteY2" fmla="*/ 0 h 18288"/>
              <a:gd name="connsiteX3" fmla="*/ 1955787 w 11018520"/>
              <a:gd name="connsiteY3" fmla="*/ 0 h 18288"/>
              <a:gd name="connsiteX4" fmla="*/ 2313889 w 11018520"/>
              <a:gd name="connsiteY4" fmla="*/ 0 h 18288"/>
              <a:gd name="connsiteX5" fmla="*/ 2671991 w 11018520"/>
              <a:gd name="connsiteY5" fmla="*/ 0 h 18288"/>
              <a:gd name="connsiteX6" fmla="*/ 3581019 w 11018520"/>
              <a:gd name="connsiteY6" fmla="*/ 0 h 18288"/>
              <a:gd name="connsiteX7" fmla="*/ 4269677 w 11018520"/>
              <a:gd name="connsiteY7" fmla="*/ 0 h 18288"/>
              <a:gd name="connsiteX8" fmla="*/ 4627778 w 11018520"/>
              <a:gd name="connsiteY8" fmla="*/ 0 h 18288"/>
              <a:gd name="connsiteX9" fmla="*/ 5316436 w 11018520"/>
              <a:gd name="connsiteY9" fmla="*/ 0 h 18288"/>
              <a:gd name="connsiteX10" fmla="*/ 6225464 w 11018520"/>
              <a:gd name="connsiteY10" fmla="*/ 0 h 18288"/>
              <a:gd name="connsiteX11" fmla="*/ 6803936 w 11018520"/>
              <a:gd name="connsiteY11" fmla="*/ 0 h 18288"/>
              <a:gd name="connsiteX12" fmla="*/ 7382408 w 11018520"/>
              <a:gd name="connsiteY12" fmla="*/ 0 h 18288"/>
              <a:gd name="connsiteX13" fmla="*/ 8071066 w 11018520"/>
              <a:gd name="connsiteY13" fmla="*/ 0 h 18288"/>
              <a:gd name="connsiteX14" fmla="*/ 8869909 w 11018520"/>
              <a:gd name="connsiteY14" fmla="*/ 0 h 18288"/>
              <a:gd name="connsiteX15" fmla="*/ 9668751 w 11018520"/>
              <a:gd name="connsiteY15" fmla="*/ 0 h 18288"/>
              <a:gd name="connsiteX16" fmla="*/ 11018520 w 11018520"/>
              <a:gd name="connsiteY16" fmla="*/ 0 h 18288"/>
              <a:gd name="connsiteX17" fmla="*/ 11018520 w 11018520"/>
              <a:gd name="connsiteY17" fmla="*/ 18288 h 18288"/>
              <a:gd name="connsiteX18" fmla="*/ 10550233 w 11018520"/>
              <a:gd name="connsiteY18" fmla="*/ 18288 h 18288"/>
              <a:gd name="connsiteX19" fmla="*/ 9641205 w 11018520"/>
              <a:gd name="connsiteY19" fmla="*/ 18288 h 18288"/>
              <a:gd name="connsiteX20" fmla="*/ 8952548 w 11018520"/>
              <a:gd name="connsiteY20" fmla="*/ 18288 h 18288"/>
              <a:gd name="connsiteX21" fmla="*/ 8594446 w 11018520"/>
              <a:gd name="connsiteY21" fmla="*/ 18288 h 18288"/>
              <a:gd name="connsiteX22" fmla="*/ 7905788 w 11018520"/>
              <a:gd name="connsiteY22" fmla="*/ 18288 h 18288"/>
              <a:gd name="connsiteX23" fmla="*/ 7327316 w 11018520"/>
              <a:gd name="connsiteY23" fmla="*/ 18288 h 18288"/>
              <a:gd name="connsiteX24" fmla="*/ 6748844 w 11018520"/>
              <a:gd name="connsiteY24" fmla="*/ 18288 h 18288"/>
              <a:gd name="connsiteX25" fmla="*/ 6170371 w 11018520"/>
              <a:gd name="connsiteY25" fmla="*/ 18288 h 18288"/>
              <a:gd name="connsiteX26" fmla="*/ 5591899 w 11018520"/>
              <a:gd name="connsiteY26" fmla="*/ 18288 h 18288"/>
              <a:gd name="connsiteX27" fmla="*/ 4793056 w 11018520"/>
              <a:gd name="connsiteY27" fmla="*/ 18288 h 18288"/>
              <a:gd name="connsiteX28" fmla="*/ 4104399 w 11018520"/>
              <a:gd name="connsiteY28" fmla="*/ 18288 h 18288"/>
              <a:gd name="connsiteX29" fmla="*/ 3746297 w 11018520"/>
              <a:gd name="connsiteY29" fmla="*/ 18288 h 18288"/>
              <a:gd name="connsiteX30" fmla="*/ 3167825 w 11018520"/>
              <a:gd name="connsiteY30" fmla="*/ 18288 h 18288"/>
              <a:gd name="connsiteX31" fmla="*/ 2368982 w 11018520"/>
              <a:gd name="connsiteY31" fmla="*/ 18288 h 18288"/>
              <a:gd name="connsiteX32" fmla="*/ 1900695 w 11018520"/>
              <a:gd name="connsiteY32" fmla="*/ 18288 h 18288"/>
              <a:gd name="connsiteX33" fmla="*/ 991667 w 11018520"/>
              <a:gd name="connsiteY33" fmla="*/ 18288 h 18288"/>
              <a:gd name="connsiteX34" fmla="*/ 0 w 11018520"/>
              <a:gd name="connsiteY34" fmla="*/ 18288 h 18288"/>
              <a:gd name="connsiteX35" fmla="*/ 0 w 11018520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FFC15F"/>
          </a:solidFill>
          <a:ln w="38100" cap="rnd">
            <a:solidFill>
              <a:srgbClr val="FFC15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921BF-CD53-5FD8-7DA7-9052E42023C5}"/>
              </a:ext>
            </a:extLst>
          </p:cNvPr>
          <p:cNvSpPr txBox="1"/>
          <p:nvPr/>
        </p:nvSpPr>
        <p:spPr>
          <a:xfrm>
            <a:off x="572493" y="2360542"/>
            <a:ext cx="4960205" cy="43259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b="1" dirty="0" err="1">
                <a:latin typeface="+mj-lt"/>
                <a:ea typeface="+mj-ea"/>
                <a:cs typeface="+mj-cs"/>
              </a:rPr>
              <a:t>Prevenirea</a:t>
            </a:r>
            <a:r>
              <a:rPr lang="en-US" sz="2400" b="1" dirty="0">
                <a:latin typeface="+mj-lt"/>
                <a:ea typeface="+mj-ea"/>
                <a:cs typeface="+mj-cs"/>
              </a:rPr>
              <a:t> </a:t>
            </a:r>
            <a:r>
              <a:rPr lang="en-US" sz="2400" b="1" dirty="0" err="1">
                <a:latin typeface="+mj-lt"/>
                <a:ea typeface="+mj-ea"/>
                <a:cs typeface="+mj-cs"/>
              </a:rPr>
              <a:t>accidentelor</a:t>
            </a:r>
            <a:br>
              <a:rPr lang="en-US" sz="2400" b="1" dirty="0"/>
            </a:br>
            <a:br>
              <a:rPr lang="en-US" sz="1400" dirty="0"/>
            </a:br>
            <a:r>
              <a:rPr lang="en-US" sz="1600" dirty="0"/>
              <a:t>Este </a:t>
            </a:r>
            <a:r>
              <a:rPr lang="en-US" sz="1600" dirty="0" err="1"/>
              <a:t>mult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bine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previi</a:t>
            </a:r>
            <a:r>
              <a:rPr lang="en-US" sz="1600" dirty="0"/>
              <a:t> </a:t>
            </a:r>
            <a:r>
              <a:rPr lang="en-US" sz="1600" dirty="0" err="1"/>
              <a:t>decât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tratezi</a:t>
            </a:r>
            <a:r>
              <a:rPr lang="en-US" sz="1600" dirty="0"/>
              <a:t>. </a:t>
            </a:r>
            <a:r>
              <a:rPr lang="en-US" sz="1600" dirty="0" err="1"/>
              <a:t>Prevenția</a:t>
            </a:r>
            <a:r>
              <a:rPr lang="en-US" sz="1600" dirty="0"/>
              <a:t> </a:t>
            </a:r>
            <a:r>
              <a:rPr lang="en-US" sz="1600" dirty="0" err="1"/>
              <a:t>înseamnă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reduci</a:t>
            </a:r>
            <a:r>
              <a:rPr lang="en-US" sz="1600" dirty="0"/>
              <a:t> </a:t>
            </a:r>
            <a:r>
              <a:rPr lang="en-US" sz="1600" dirty="0" err="1"/>
              <a:t>riscul</a:t>
            </a:r>
            <a:r>
              <a:rPr lang="en-US" sz="1600" dirty="0"/>
              <a:t> de </a:t>
            </a:r>
            <a:r>
              <a:rPr lang="en-US" sz="1600" dirty="0" err="1"/>
              <a:t>accidente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Respectarea</a:t>
            </a:r>
            <a:r>
              <a:rPr lang="en-US" sz="1600" dirty="0"/>
              <a:t> </a:t>
            </a:r>
            <a:r>
              <a:rPr lang="en-US" sz="1600" dirty="0" err="1"/>
              <a:t>regulilor</a:t>
            </a:r>
            <a:r>
              <a:rPr lang="en-US" sz="1600" dirty="0"/>
              <a:t> de </a:t>
            </a:r>
            <a:r>
              <a:rPr lang="en-US" sz="1600" dirty="0" err="1"/>
              <a:t>siguranță</a:t>
            </a:r>
            <a:r>
              <a:rPr lang="en-US" sz="1600" dirty="0"/>
              <a:t> (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trafic</a:t>
            </a:r>
            <a:r>
              <a:rPr lang="en-US" sz="1600" dirty="0"/>
              <a:t>, la </a:t>
            </a:r>
            <a:r>
              <a:rPr lang="en-US" sz="1600" dirty="0" err="1"/>
              <a:t>muncă</a:t>
            </a:r>
            <a:r>
              <a:rPr lang="en-US" sz="1600" dirty="0"/>
              <a:t>, </a:t>
            </a:r>
            <a:r>
              <a:rPr lang="en-US" sz="1600" dirty="0" err="1"/>
              <a:t>acasă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Purtarea</a:t>
            </a:r>
            <a:r>
              <a:rPr lang="en-US" sz="1600" dirty="0"/>
              <a:t> </a:t>
            </a:r>
            <a:r>
              <a:rPr lang="en-US" sz="1600" dirty="0" err="1"/>
              <a:t>echipamentului</a:t>
            </a:r>
            <a:r>
              <a:rPr lang="en-US" sz="1600" dirty="0"/>
              <a:t> de </a:t>
            </a:r>
            <a:r>
              <a:rPr lang="en-US" sz="1600" dirty="0" err="1"/>
              <a:t>protecție</a:t>
            </a:r>
            <a:r>
              <a:rPr lang="en-US" sz="1600" dirty="0"/>
              <a:t> (</a:t>
            </a:r>
            <a:r>
              <a:rPr lang="en-US" sz="1600" dirty="0" err="1"/>
              <a:t>casca</a:t>
            </a:r>
            <a:r>
              <a:rPr lang="en-US" sz="1600" dirty="0"/>
              <a:t>, </a:t>
            </a:r>
            <a:r>
              <a:rPr lang="en-US" sz="1600" dirty="0" err="1"/>
              <a:t>centura</a:t>
            </a:r>
            <a:r>
              <a:rPr lang="en-US" sz="1600" dirty="0"/>
              <a:t> de </a:t>
            </a:r>
            <a:r>
              <a:rPr lang="en-US" sz="1600" dirty="0" err="1"/>
              <a:t>siguranță</a:t>
            </a:r>
            <a:r>
              <a:rPr lang="en-US" sz="1600" dirty="0"/>
              <a:t>, </a:t>
            </a:r>
            <a:r>
              <a:rPr lang="en-US" sz="1600" dirty="0" err="1"/>
              <a:t>genunchiere</a:t>
            </a:r>
            <a:r>
              <a:rPr lang="en-US" sz="1600" dirty="0"/>
              <a:t>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Supravegherea</a:t>
            </a:r>
            <a:r>
              <a:rPr lang="en-US" sz="1600" dirty="0"/>
              <a:t> </a:t>
            </a:r>
            <a:r>
              <a:rPr lang="en-US" sz="1600" dirty="0" err="1"/>
              <a:t>copiilor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folosirea</a:t>
            </a:r>
            <a:r>
              <a:rPr lang="en-US" sz="1600" dirty="0"/>
              <a:t> </a:t>
            </a:r>
            <a:r>
              <a:rPr lang="en-US" sz="1600" dirty="0" err="1"/>
              <a:t>obiectelor</a:t>
            </a:r>
            <a:r>
              <a:rPr lang="en-US" sz="1600" dirty="0"/>
              <a:t> </a:t>
            </a:r>
            <a:r>
              <a:rPr lang="en-US" sz="1600" dirty="0" err="1"/>
              <a:t>periculoase</a:t>
            </a:r>
            <a:r>
              <a:rPr lang="en-US" sz="1600" dirty="0"/>
              <a:t> </a:t>
            </a:r>
            <a:r>
              <a:rPr lang="en-US" sz="1600" dirty="0" err="1"/>
              <a:t>doar</a:t>
            </a:r>
            <a:r>
              <a:rPr lang="en-US" sz="1600" dirty="0"/>
              <a:t> cu </a:t>
            </a:r>
            <a:r>
              <a:rPr lang="en-US" sz="1600" dirty="0" err="1"/>
              <a:t>atenție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Eliminarea</a:t>
            </a:r>
            <a:r>
              <a:rPr lang="en-US" sz="1600" dirty="0"/>
              <a:t> </a:t>
            </a:r>
            <a:r>
              <a:rPr lang="en-US" sz="1600" dirty="0" err="1"/>
              <a:t>obstacolelor</a:t>
            </a:r>
            <a:r>
              <a:rPr lang="en-US" sz="1600" dirty="0"/>
              <a:t> din </a:t>
            </a:r>
            <a:r>
              <a:rPr lang="en-US" sz="1600" dirty="0" err="1"/>
              <a:t>zonele</a:t>
            </a:r>
            <a:r>
              <a:rPr lang="en-US" sz="1600" dirty="0"/>
              <a:t> de </a:t>
            </a:r>
            <a:r>
              <a:rPr lang="en-US" sz="1600" dirty="0" err="1"/>
              <a:t>mers</a:t>
            </a:r>
            <a:r>
              <a:rPr lang="en-US" sz="1600" dirty="0"/>
              <a:t> (</a:t>
            </a:r>
            <a:r>
              <a:rPr lang="en-US" sz="1600" dirty="0" err="1"/>
              <a:t>cabluri</a:t>
            </a:r>
            <a:r>
              <a:rPr lang="en-US" sz="1600" dirty="0"/>
              <a:t>, </a:t>
            </a:r>
            <a:r>
              <a:rPr lang="en-US" sz="1600" dirty="0" err="1"/>
              <a:t>obiecte</a:t>
            </a:r>
            <a:r>
              <a:rPr lang="en-US" sz="1600" dirty="0"/>
              <a:t> pe </a:t>
            </a:r>
            <a:r>
              <a:rPr lang="en-US" sz="1600" dirty="0" err="1"/>
              <a:t>jos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Evitarea</a:t>
            </a:r>
            <a:r>
              <a:rPr lang="en-US" sz="1600" dirty="0"/>
              <a:t> </a:t>
            </a:r>
            <a:r>
              <a:rPr lang="en-US" sz="1600" dirty="0" err="1"/>
              <a:t>alergării</a:t>
            </a:r>
            <a:r>
              <a:rPr lang="en-US" sz="1600" dirty="0"/>
              <a:t> pe </a:t>
            </a:r>
            <a:r>
              <a:rPr lang="en-US" sz="1600" dirty="0" err="1"/>
              <a:t>scări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suprafețe</a:t>
            </a:r>
            <a:r>
              <a:rPr lang="en-US" sz="1600" dirty="0"/>
              <a:t> </a:t>
            </a:r>
            <a:r>
              <a:rPr lang="en-US" sz="1600" dirty="0" err="1"/>
              <a:t>alunecoase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Păstrarea</a:t>
            </a:r>
            <a:r>
              <a:rPr lang="en-US" sz="1600" dirty="0"/>
              <a:t> </a:t>
            </a:r>
            <a:r>
              <a:rPr lang="en-US" sz="1600" dirty="0" err="1"/>
              <a:t>curățeniei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ordinii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jur</a:t>
            </a: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82A43-5934-EE51-9D1F-78ABE9ABBFCA}"/>
              </a:ext>
            </a:extLst>
          </p:cNvPr>
          <p:cNvSpPr txBox="1"/>
          <p:nvPr/>
        </p:nvSpPr>
        <p:spPr>
          <a:xfrm>
            <a:off x="6261971" y="2360542"/>
            <a:ext cx="509182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 err="1">
                <a:latin typeface="+mj-lt"/>
              </a:rPr>
              <a:t>Cauze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Frecvente</a:t>
            </a:r>
            <a:r>
              <a:rPr lang="en-US" sz="2400" b="1" dirty="0">
                <a:latin typeface="+mj-lt"/>
              </a:rPr>
              <a:t> ale </a:t>
            </a:r>
            <a:r>
              <a:rPr lang="en-US" sz="2400" b="1" dirty="0" err="1">
                <a:latin typeface="+mj-lt"/>
              </a:rPr>
              <a:t>accidentelor</a:t>
            </a:r>
            <a:endParaRPr lang="en-US" sz="2400" b="1" dirty="0">
              <a:latin typeface="+mj-lt"/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1600" dirty="0" err="1"/>
              <a:t>Accidentele</a:t>
            </a:r>
            <a:r>
              <a:rPr lang="en-US" sz="1600" dirty="0"/>
              <a:t> pot fi de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multe</a:t>
            </a:r>
            <a:r>
              <a:rPr lang="en-US" sz="1600" dirty="0"/>
              <a:t> </a:t>
            </a:r>
            <a:r>
              <a:rPr lang="en-US" sz="1600" dirty="0" err="1"/>
              <a:t>tipuri</a:t>
            </a:r>
            <a:r>
              <a:rPr lang="en-US" sz="1600" dirty="0"/>
              <a:t>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cele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întâlnite</a:t>
            </a:r>
            <a:r>
              <a:rPr lang="en-US" sz="1600" dirty="0"/>
              <a:t> sunt: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Căderi</a:t>
            </a:r>
            <a:r>
              <a:rPr lang="en-US" sz="1600" dirty="0"/>
              <a:t> (pe </a:t>
            </a:r>
            <a:r>
              <a:rPr lang="en-US" sz="1600" dirty="0" err="1"/>
              <a:t>scări</a:t>
            </a:r>
            <a:r>
              <a:rPr lang="en-US" sz="1600" dirty="0"/>
              <a:t>, la sport, de pe </a:t>
            </a:r>
            <a:r>
              <a:rPr lang="en-US" sz="1600" dirty="0" err="1"/>
              <a:t>bicicletă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Tăieturi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zgârieturi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Arsuri</a:t>
            </a:r>
            <a:r>
              <a:rPr lang="en-US" sz="1600" dirty="0"/>
              <a:t> (cu </a:t>
            </a:r>
            <a:r>
              <a:rPr lang="en-US" sz="1600" dirty="0" err="1"/>
              <a:t>apă</a:t>
            </a:r>
            <a:r>
              <a:rPr lang="en-US" sz="1600" dirty="0"/>
              <a:t> </a:t>
            </a:r>
            <a:r>
              <a:rPr lang="en-US" sz="1600" dirty="0" err="1"/>
              <a:t>fierbinte</a:t>
            </a:r>
            <a:r>
              <a:rPr lang="en-US" sz="1600" dirty="0"/>
              <a:t>, </a:t>
            </a:r>
            <a:r>
              <a:rPr lang="en-US" sz="1600" dirty="0" err="1"/>
              <a:t>foc</a:t>
            </a:r>
            <a:r>
              <a:rPr lang="en-US" sz="1600" dirty="0"/>
              <a:t>, </a:t>
            </a:r>
            <a:r>
              <a:rPr lang="en-US" sz="1600" dirty="0" err="1"/>
              <a:t>obiecte</a:t>
            </a:r>
            <a:r>
              <a:rPr lang="en-US" sz="1600" dirty="0"/>
              <a:t> </a:t>
            </a:r>
            <a:r>
              <a:rPr lang="en-US" sz="1600" dirty="0" err="1"/>
              <a:t>fierbinți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Fracturi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entorse</a:t>
            </a:r>
            <a:r>
              <a:rPr lang="en-US" sz="1600" dirty="0"/>
              <a:t> (din </a:t>
            </a:r>
            <a:r>
              <a:rPr lang="en-US" sz="1600" dirty="0" err="1"/>
              <a:t>lovituri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căzături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Accidente</a:t>
            </a:r>
            <a:r>
              <a:rPr lang="en-US" sz="1600" dirty="0"/>
              <a:t> </a:t>
            </a:r>
            <a:r>
              <a:rPr lang="en-US" sz="1600" dirty="0" err="1"/>
              <a:t>rutiere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Intoxicații</a:t>
            </a:r>
            <a:r>
              <a:rPr lang="en-US" sz="1600" dirty="0"/>
              <a:t> (cu </a:t>
            </a:r>
            <a:r>
              <a:rPr lang="en-US" sz="1600" dirty="0" err="1"/>
              <a:t>medicamente</a:t>
            </a:r>
            <a:r>
              <a:rPr lang="en-US" sz="1600" dirty="0"/>
              <a:t>, </a:t>
            </a:r>
            <a:r>
              <a:rPr lang="en-US" sz="1600" dirty="0" err="1"/>
              <a:t>substanțe</a:t>
            </a:r>
            <a:r>
              <a:rPr lang="en-US" sz="1600" dirty="0"/>
              <a:t> </a:t>
            </a:r>
            <a:r>
              <a:rPr lang="en-US" sz="1600" dirty="0" err="1"/>
              <a:t>chimice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mâncare</a:t>
            </a:r>
            <a:r>
              <a:rPr lang="en-US" sz="1600" dirty="0"/>
              <a:t> </a:t>
            </a:r>
            <a:r>
              <a:rPr lang="en-US" sz="1600" dirty="0" err="1"/>
              <a:t>stricată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Înecuri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sufocări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Mușcături</a:t>
            </a:r>
            <a:r>
              <a:rPr lang="en-US" sz="1600" dirty="0"/>
              <a:t> de </a:t>
            </a:r>
            <a:r>
              <a:rPr lang="en-US" sz="1600" dirty="0" err="1"/>
              <a:t>animale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9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06543-E43B-461C-F63B-D453BD56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D8423AD-38DA-D47A-441D-456490493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3DE06812-E9EC-050B-B6DD-C9B712022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180C41-387C-E471-41D9-3D671342D4C9}"/>
              </a:ext>
            </a:extLst>
          </p:cNvPr>
          <p:cNvSpPr txBox="1"/>
          <p:nvPr/>
        </p:nvSpPr>
        <p:spPr>
          <a:xfrm>
            <a:off x="334990" y="382658"/>
            <a:ext cx="11853962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 err="1">
                <a:latin typeface="+mj-lt"/>
                <a:ea typeface="+mj-ea"/>
                <a:cs typeface="+mj-cs"/>
              </a:rPr>
              <a:t>Situații</a:t>
            </a:r>
            <a:r>
              <a:rPr lang="en-US" sz="4500" dirty="0">
                <a:latin typeface="+mj-lt"/>
                <a:ea typeface="+mj-ea"/>
                <a:cs typeface="+mj-cs"/>
              </a:rPr>
              <a:t> de </a:t>
            </a:r>
            <a:r>
              <a:rPr lang="en-US" sz="4500" dirty="0" err="1">
                <a:latin typeface="+mj-lt"/>
                <a:ea typeface="+mj-ea"/>
                <a:cs typeface="+mj-cs"/>
              </a:rPr>
              <a:t>urgență</a:t>
            </a:r>
            <a:r>
              <a:rPr lang="en-US" sz="4500" dirty="0">
                <a:latin typeface="+mj-lt"/>
                <a:ea typeface="+mj-ea"/>
                <a:cs typeface="+mj-cs"/>
              </a:rPr>
              <a:t> – </a:t>
            </a:r>
            <a:r>
              <a:rPr lang="en-US" sz="4500" dirty="0" err="1">
                <a:latin typeface="+mj-lt"/>
                <a:ea typeface="+mj-ea"/>
                <a:cs typeface="+mj-cs"/>
              </a:rPr>
              <a:t>Siptome</a:t>
            </a:r>
            <a:r>
              <a:rPr lang="en-US" sz="4500" dirty="0">
                <a:latin typeface="+mj-lt"/>
                <a:ea typeface="+mj-ea"/>
                <a:cs typeface="+mj-cs"/>
              </a:rPr>
              <a:t> &amp; </a:t>
            </a:r>
            <a:r>
              <a:rPr lang="en-US" sz="4500" dirty="0" err="1">
                <a:latin typeface="+mj-lt"/>
                <a:ea typeface="+mj-ea"/>
                <a:cs typeface="+mj-cs"/>
              </a:rPr>
              <a:t>Diagnosticarea</a:t>
            </a:r>
            <a:r>
              <a:rPr lang="en-US" sz="4500" dirty="0">
                <a:latin typeface="+mj-lt"/>
                <a:ea typeface="+mj-ea"/>
                <a:cs typeface="+mj-cs"/>
              </a:rPr>
              <a:t> </a:t>
            </a:r>
            <a:r>
              <a:rPr lang="en-US" sz="4500" dirty="0" err="1">
                <a:latin typeface="+mj-lt"/>
                <a:ea typeface="+mj-ea"/>
                <a:cs typeface="+mj-cs"/>
              </a:rPr>
              <a:t>accidentelor</a:t>
            </a:r>
            <a:endParaRPr lang="en-US" sz="4500" dirty="0">
              <a:latin typeface="+mj-lt"/>
              <a:ea typeface="+mj-ea"/>
              <a:cs typeface="+mj-cs"/>
            </a:endParaRPr>
          </a:p>
        </p:txBody>
      </p:sp>
      <p:sp>
        <p:nvSpPr>
          <p:cNvPr id="1039" name="Rectangle 6">
            <a:extLst>
              <a:ext uri="{FF2B5EF4-FFF2-40B4-BE49-F238E27FC236}">
                <a16:creationId xmlns:a16="http://schemas.microsoft.com/office/drawing/2014/main" id="{3D70B5B4-CB8E-9D0D-FEED-13A23A9D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4" y="1817073"/>
            <a:ext cx="11018520" cy="18288"/>
          </a:xfrm>
          <a:custGeom>
            <a:avLst/>
            <a:gdLst>
              <a:gd name="connsiteX0" fmla="*/ 0 w 11018520"/>
              <a:gd name="connsiteY0" fmla="*/ 0 h 18288"/>
              <a:gd name="connsiteX1" fmla="*/ 468287 w 11018520"/>
              <a:gd name="connsiteY1" fmla="*/ 0 h 18288"/>
              <a:gd name="connsiteX2" fmla="*/ 1156945 w 11018520"/>
              <a:gd name="connsiteY2" fmla="*/ 0 h 18288"/>
              <a:gd name="connsiteX3" fmla="*/ 1955787 w 11018520"/>
              <a:gd name="connsiteY3" fmla="*/ 0 h 18288"/>
              <a:gd name="connsiteX4" fmla="*/ 2313889 w 11018520"/>
              <a:gd name="connsiteY4" fmla="*/ 0 h 18288"/>
              <a:gd name="connsiteX5" fmla="*/ 2671991 w 11018520"/>
              <a:gd name="connsiteY5" fmla="*/ 0 h 18288"/>
              <a:gd name="connsiteX6" fmla="*/ 3581019 w 11018520"/>
              <a:gd name="connsiteY6" fmla="*/ 0 h 18288"/>
              <a:gd name="connsiteX7" fmla="*/ 4269677 w 11018520"/>
              <a:gd name="connsiteY7" fmla="*/ 0 h 18288"/>
              <a:gd name="connsiteX8" fmla="*/ 4627778 w 11018520"/>
              <a:gd name="connsiteY8" fmla="*/ 0 h 18288"/>
              <a:gd name="connsiteX9" fmla="*/ 5316436 w 11018520"/>
              <a:gd name="connsiteY9" fmla="*/ 0 h 18288"/>
              <a:gd name="connsiteX10" fmla="*/ 6225464 w 11018520"/>
              <a:gd name="connsiteY10" fmla="*/ 0 h 18288"/>
              <a:gd name="connsiteX11" fmla="*/ 6803936 w 11018520"/>
              <a:gd name="connsiteY11" fmla="*/ 0 h 18288"/>
              <a:gd name="connsiteX12" fmla="*/ 7382408 w 11018520"/>
              <a:gd name="connsiteY12" fmla="*/ 0 h 18288"/>
              <a:gd name="connsiteX13" fmla="*/ 8071066 w 11018520"/>
              <a:gd name="connsiteY13" fmla="*/ 0 h 18288"/>
              <a:gd name="connsiteX14" fmla="*/ 8869909 w 11018520"/>
              <a:gd name="connsiteY14" fmla="*/ 0 h 18288"/>
              <a:gd name="connsiteX15" fmla="*/ 9668751 w 11018520"/>
              <a:gd name="connsiteY15" fmla="*/ 0 h 18288"/>
              <a:gd name="connsiteX16" fmla="*/ 11018520 w 11018520"/>
              <a:gd name="connsiteY16" fmla="*/ 0 h 18288"/>
              <a:gd name="connsiteX17" fmla="*/ 11018520 w 11018520"/>
              <a:gd name="connsiteY17" fmla="*/ 18288 h 18288"/>
              <a:gd name="connsiteX18" fmla="*/ 10550233 w 11018520"/>
              <a:gd name="connsiteY18" fmla="*/ 18288 h 18288"/>
              <a:gd name="connsiteX19" fmla="*/ 9641205 w 11018520"/>
              <a:gd name="connsiteY19" fmla="*/ 18288 h 18288"/>
              <a:gd name="connsiteX20" fmla="*/ 8952548 w 11018520"/>
              <a:gd name="connsiteY20" fmla="*/ 18288 h 18288"/>
              <a:gd name="connsiteX21" fmla="*/ 8594446 w 11018520"/>
              <a:gd name="connsiteY21" fmla="*/ 18288 h 18288"/>
              <a:gd name="connsiteX22" fmla="*/ 7905788 w 11018520"/>
              <a:gd name="connsiteY22" fmla="*/ 18288 h 18288"/>
              <a:gd name="connsiteX23" fmla="*/ 7327316 w 11018520"/>
              <a:gd name="connsiteY23" fmla="*/ 18288 h 18288"/>
              <a:gd name="connsiteX24" fmla="*/ 6748844 w 11018520"/>
              <a:gd name="connsiteY24" fmla="*/ 18288 h 18288"/>
              <a:gd name="connsiteX25" fmla="*/ 6170371 w 11018520"/>
              <a:gd name="connsiteY25" fmla="*/ 18288 h 18288"/>
              <a:gd name="connsiteX26" fmla="*/ 5591899 w 11018520"/>
              <a:gd name="connsiteY26" fmla="*/ 18288 h 18288"/>
              <a:gd name="connsiteX27" fmla="*/ 4793056 w 11018520"/>
              <a:gd name="connsiteY27" fmla="*/ 18288 h 18288"/>
              <a:gd name="connsiteX28" fmla="*/ 4104399 w 11018520"/>
              <a:gd name="connsiteY28" fmla="*/ 18288 h 18288"/>
              <a:gd name="connsiteX29" fmla="*/ 3746297 w 11018520"/>
              <a:gd name="connsiteY29" fmla="*/ 18288 h 18288"/>
              <a:gd name="connsiteX30" fmla="*/ 3167825 w 11018520"/>
              <a:gd name="connsiteY30" fmla="*/ 18288 h 18288"/>
              <a:gd name="connsiteX31" fmla="*/ 2368982 w 11018520"/>
              <a:gd name="connsiteY31" fmla="*/ 18288 h 18288"/>
              <a:gd name="connsiteX32" fmla="*/ 1900695 w 11018520"/>
              <a:gd name="connsiteY32" fmla="*/ 18288 h 18288"/>
              <a:gd name="connsiteX33" fmla="*/ 991667 w 11018520"/>
              <a:gd name="connsiteY33" fmla="*/ 18288 h 18288"/>
              <a:gd name="connsiteX34" fmla="*/ 0 w 11018520"/>
              <a:gd name="connsiteY34" fmla="*/ 18288 h 18288"/>
              <a:gd name="connsiteX35" fmla="*/ 0 w 11018520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FFC15F"/>
          </a:solidFill>
          <a:ln w="38100" cap="rnd">
            <a:solidFill>
              <a:srgbClr val="FFC15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BAA79-CC26-370F-2A29-5D8312E874A9}"/>
              </a:ext>
            </a:extLst>
          </p:cNvPr>
          <p:cNvSpPr txBox="1"/>
          <p:nvPr/>
        </p:nvSpPr>
        <p:spPr>
          <a:xfrm>
            <a:off x="572493" y="2360542"/>
            <a:ext cx="4960205" cy="43259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b="1" dirty="0" err="1">
                <a:latin typeface="+mj-lt"/>
              </a:rPr>
              <a:t>Diagnosticarea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accidentului</a:t>
            </a:r>
            <a:br>
              <a:rPr lang="en-US" sz="2400" b="1" dirty="0"/>
            </a:br>
            <a:endParaRPr lang="en-US" sz="2400" b="1" dirty="0"/>
          </a:p>
          <a:p>
            <a:pPr>
              <a:buNone/>
            </a:pPr>
            <a:r>
              <a:rPr lang="en-US" sz="1600" dirty="0" err="1"/>
              <a:t>Diagnosticul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stabilit</a:t>
            </a:r>
            <a:r>
              <a:rPr lang="en-US" sz="1600" dirty="0"/>
              <a:t> de un medic,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unele</a:t>
            </a:r>
            <a:r>
              <a:rPr lang="en-US" sz="1600" dirty="0"/>
              <a:t> </a:t>
            </a:r>
            <a:r>
              <a:rPr lang="en-US" sz="1600" dirty="0" err="1"/>
              <a:t>cazuri</a:t>
            </a:r>
            <a:r>
              <a:rPr lang="en-US" sz="1600" dirty="0"/>
              <a:t>, </a:t>
            </a:r>
            <a:r>
              <a:rPr lang="en-US" sz="1600" dirty="0" err="1"/>
              <a:t>simptomele</a:t>
            </a:r>
            <a:r>
              <a:rPr lang="en-US" sz="1600" dirty="0"/>
              <a:t> sunt </a:t>
            </a:r>
            <a:r>
              <a:rPr lang="en-US" sz="1600" dirty="0" err="1"/>
              <a:t>evidente</a:t>
            </a:r>
            <a:r>
              <a:rPr lang="en-US" sz="1600" dirty="0"/>
              <a:t>. De </a:t>
            </a:r>
            <a:r>
              <a:rPr lang="en-US" sz="1600" dirty="0" err="1"/>
              <a:t>exemplu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 </a:t>
            </a:r>
            <a:r>
              <a:rPr lang="en-US" sz="1600" dirty="0" err="1"/>
              <a:t>tăietură</a:t>
            </a:r>
            <a:r>
              <a:rPr lang="en-US" sz="1600" dirty="0"/>
              <a:t> </a:t>
            </a:r>
            <a:r>
              <a:rPr lang="en-US" sz="1600" dirty="0" err="1"/>
              <a:t>deschisă</a:t>
            </a:r>
            <a:r>
              <a:rPr lang="en-US" sz="1600" dirty="0"/>
              <a:t> se </a:t>
            </a:r>
            <a:r>
              <a:rPr lang="en-US" sz="1600" dirty="0" err="1"/>
              <a:t>vede</a:t>
            </a:r>
            <a:r>
              <a:rPr lang="en-US" sz="1600" dirty="0"/>
              <a:t> </a:t>
            </a:r>
            <a:r>
              <a:rPr lang="en-US" sz="1600" dirty="0" err="1"/>
              <a:t>clar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 </a:t>
            </a:r>
            <a:r>
              <a:rPr lang="en-US" sz="1600" dirty="0" err="1"/>
              <a:t>fractură</a:t>
            </a:r>
            <a:r>
              <a:rPr lang="en-US" sz="1600" dirty="0"/>
              <a:t> </a:t>
            </a:r>
            <a:r>
              <a:rPr lang="en-US" sz="1600" dirty="0" err="1"/>
              <a:t>poate</a:t>
            </a:r>
            <a:r>
              <a:rPr lang="en-US" sz="1600" dirty="0"/>
              <a:t> fi </a:t>
            </a:r>
            <a:r>
              <a:rPr lang="en-US" sz="1600" dirty="0" err="1"/>
              <a:t>indicată</a:t>
            </a:r>
            <a:r>
              <a:rPr lang="en-US" sz="1600" dirty="0"/>
              <a:t> de </a:t>
            </a:r>
            <a:r>
              <a:rPr lang="en-US" sz="1600" dirty="0" err="1"/>
              <a:t>durere</a:t>
            </a:r>
            <a:r>
              <a:rPr lang="en-US" sz="1600" dirty="0"/>
              <a:t> </a:t>
            </a:r>
            <a:r>
              <a:rPr lang="en-US" sz="1600" dirty="0" err="1"/>
              <a:t>puternică</a:t>
            </a:r>
            <a:r>
              <a:rPr lang="en-US" sz="1600" dirty="0"/>
              <a:t>, </a:t>
            </a:r>
            <a:r>
              <a:rPr lang="en-US" sz="1600" dirty="0" err="1"/>
              <a:t>umflare</a:t>
            </a:r>
            <a:r>
              <a:rPr lang="en-US" sz="1600" dirty="0"/>
              <a:t>, incapacitate de a </a:t>
            </a:r>
            <a:r>
              <a:rPr lang="en-US" sz="1600" dirty="0" err="1"/>
              <a:t>mișca</a:t>
            </a:r>
            <a:r>
              <a:rPr lang="en-US" sz="1600" dirty="0"/>
              <a:t> un </a:t>
            </a:r>
            <a:r>
              <a:rPr lang="en-US" sz="1600" dirty="0" err="1"/>
              <a:t>membru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 </a:t>
            </a:r>
            <a:r>
              <a:rPr lang="en-US" sz="1600" dirty="0" err="1"/>
              <a:t>entorsă</a:t>
            </a:r>
            <a:r>
              <a:rPr lang="en-US" sz="1600" dirty="0"/>
              <a:t> are </a:t>
            </a:r>
            <a:r>
              <a:rPr lang="en-US" sz="1600" dirty="0" err="1"/>
              <a:t>umflătură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durere</a:t>
            </a:r>
            <a:r>
              <a:rPr lang="en-US" sz="1600" dirty="0"/>
              <a:t> </a:t>
            </a:r>
            <a:r>
              <a:rPr lang="en-US" sz="1600" dirty="0" err="1"/>
              <a:t>dar</a:t>
            </a:r>
            <a:r>
              <a:rPr lang="en-US" sz="1600" dirty="0"/>
              <a:t> nu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rupt</a:t>
            </a:r>
            <a:r>
              <a:rPr lang="en-US" sz="1600" dirty="0"/>
              <a:t> </a:t>
            </a:r>
            <a:r>
              <a:rPr lang="en-US" sz="1600" dirty="0" err="1"/>
              <a:t>osul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Arsura</a:t>
            </a:r>
            <a:r>
              <a:rPr lang="en-US" sz="1600" dirty="0"/>
              <a:t> are </a:t>
            </a:r>
            <a:r>
              <a:rPr lang="en-US" sz="1600" dirty="0" err="1"/>
              <a:t>piele</a:t>
            </a:r>
            <a:r>
              <a:rPr lang="en-US" sz="1600" dirty="0"/>
              <a:t> </a:t>
            </a:r>
            <a:r>
              <a:rPr lang="en-US" sz="1600" dirty="0" err="1"/>
              <a:t>roșie</a:t>
            </a:r>
            <a:r>
              <a:rPr lang="en-US" sz="1600" dirty="0"/>
              <a:t>, </a:t>
            </a:r>
            <a:r>
              <a:rPr lang="en-US" sz="1600" dirty="0" err="1"/>
              <a:t>bășici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zone </a:t>
            </a:r>
            <a:r>
              <a:rPr lang="en-US" sz="1600" dirty="0" err="1"/>
              <a:t>carbonizate</a:t>
            </a:r>
            <a:endParaRPr lang="en-US" sz="1600" dirty="0"/>
          </a:p>
          <a:p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cazuri</a:t>
            </a:r>
            <a:r>
              <a:rPr lang="en-US" sz="1600" dirty="0"/>
              <a:t> grave (</a:t>
            </a:r>
            <a:r>
              <a:rPr lang="en-US" sz="1600" dirty="0" err="1"/>
              <a:t>lovituri</a:t>
            </a:r>
            <a:r>
              <a:rPr lang="en-US" sz="1600" dirty="0"/>
              <a:t> la cap, </a:t>
            </a:r>
            <a:r>
              <a:rPr lang="en-US" sz="1600" dirty="0" err="1"/>
              <a:t>dureri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piept</a:t>
            </a:r>
            <a:r>
              <a:rPr lang="en-US" sz="1600" dirty="0"/>
              <a:t>, </a:t>
            </a:r>
            <a:r>
              <a:rPr lang="en-US" sz="1600" dirty="0" err="1"/>
              <a:t>pierderea</a:t>
            </a:r>
            <a:r>
              <a:rPr lang="en-US" sz="1600" dirty="0"/>
              <a:t> </a:t>
            </a:r>
            <a:r>
              <a:rPr lang="en-US" sz="1600" dirty="0" err="1"/>
              <a:t>conștienței</a:t>
            </a:r>
            <a:r>
              <a:rPr lang="en-US" sz="1600" dirty="0"/>
              <a:t>),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esențială</a:t>
            </a:r>
            <a:r>
              <a:rPr lang="en-US" sz="1600" dirty="0"/>
              <a:t> </a:t>
            </a:r>
            <a:r>
              <a:rPr lang="en-US" sz="1600" dirty="0" err="1"/>
              <a:t>intervenția</a:t>
            </a:r>
            <a:r>
              <a:rPr lang="en-US" sz="1600" dirty="0"/>
              <a:t> </a:t>
            </a:r>
            <a:r>
              <a:rPr lang="en-US" sz="1600" dirty="0" err="1"/>
              <a:t>rapidă</a:t>
            </a:r>
            <a:r>
              <a:rPr lang="en-US" sz="1600" dirty="0"/>
              <a:t> a </a:t>
            </a:r>
            <a:r>
              <a:rPr lang="en-US" sz="1600" dirty="0" err="1"/>
              <a:t>personalului</a:t>
            </a:r>
            <a:r>
              <a:rPr lang="en-US" sz="1600" dirty="0"/>
              <a:t> medical.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66A33-6D4B-4BC2-52DC-AE3E2905FD0E}"/>
              </a:ext>
            </a:extLst>
          </p:cNvPr>
          <p:cNvSpPr txBox="1"/>
          <p:nvPr/>
        </p:nvSpPr>
        <p:spPr>
          <a:xfrm>
            <a:off x="5851221" y="2360542"/>
            <a:ext cx="601920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 err="1">
                <a:latin typeface="+mj-lt"/>
              </a:rPr>
              <a:t>Tratamentul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rănilor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și</a:t>
            </a:r>
            <a:r>
              <a:rPr lang="en-US" sz="2400" b="1" dirty="0">
                <a:latin typeface="+mj-lt"/>
              </a:rPr>
              <a:t> al </a:t>
            </a:r>
            <a:r>
              <a:rPr lang="en-US" sz="2400" b="1" dirty="0" err="1">
                <a:latin typeface="+mj-lt"/>
              </a:rPr>
              <a:t>accidentărilor</a:t>
            </a:r>
            <a:endParaRPr lang="en-US" sz="2400" b="1" dirty="0">
              <a:latin typeface="+mj-lt"/>
            </a:endParaRPr>
          </a:p>
          <a:p>
            <a:pPr>
              <a:buNone/>
            </a:pPr>
            <a:endParaRPr lang="en-US" sz="2400" b="1" dirty="0">
              <a:latin typeface="+mj-lt"/>
            </a:endParaRPr>
          </a:p>
          <a:p>
            <a:pPr>
              <a:buNone/>
            </a:pPr>
            <a:r>
              <a:rPr lang="en-US" sz="1600" dirty="0" err="1"/>
              <a:t>Tratamentul</a:t>
            </a:r>
            <a:r>
              <a:rPr lang="en-US" sz="1600" dirty="0"/>
              <a:t> </a:t>
            </a:r>
            <a:r>
              <a:rPr lang="en-US" sz="1600" dirty="0" err="1"/>
              <a:t>variază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funcție</a:t>
            </a:r>
            <a:r>
              <a:rPr lang="en-US" sz="1600" dirty="0"/>
              <a:t> de </a:t>
            </a:r>
            <a:r>
              <a:rPr lang="en-US" sz="1600" dirty="0" err="1"/>
              <a:t>severitatea</a:t>
            </a:r>
            <a:r>
              <a:rPr lang="en-US" sz="1600" dirty="0"/>
              <a:t> </a:t>
            </a:r>
            <a:r>
              <a:rPr lang="en-US" sz="1600" dirty="0" err="1"/>
              <a:t>accidentului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Răni</a:t>
            </a:r>
            <a:r>
              <a:rPr lang="en-US" sz="1600" b="1" dirty="0"/>
              <a:t> </a:t>
            </a:r>
            <a:r>
              <a:rPr lang="en-US" sz="1600" b="1" dirty="0" err="1"/>
              <a:t>ușoare</a:t>
            </a:r>
            <a:r>
              <a:rPr lang="en-US" sz="1600" b="1" dirty="0"/>
              <a:t>:</a:t>
            </a:r>
            <a:r>
              <a:rPr lang="en-US" sz="1600" dirty="0"/>
              <a:t> se </a:t>
            </a:r>
            <a:r>
              <a:rPr lang="en-US" sz="1600" dirty="0" err="1"/>
              <a:t>spală</a:t>
            </a:r>
            <a:r>
              <a:rPr lang="en-US" sz="1600" dirty="0"/>
              <a:t> cu </a:t>
            </a:r>
            <a:r>
              <a:rPr lang="en-US" sz="1600" dirty="0" err="1"/>
              <a:t>apă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săpun</a:t>
            </a:r>
            <a:r>
              <a:rPr lang="en-US" sz="1600" dirty="0"/>
              <a:t>, se </a:t>
            </a:r>
            <a:r>
              <a:rPr lang="en-US" sz="1600" dirty="0" err="1"/>
              <a:t>dezinfectează</a:t>
            </a:r>
            <a:r>
              <a:rPr lang="en-US" sz="1600" dirty="0"/>
              <a:t>, </a:t>
            </a:r>
            <a:r>
              <a:rPr lang="en-US" sz="1600" dirty="0" err="1"/>
              <a:t>apoi</a:t>
            </a:r>
            <a:r>
              <a:rPr lang="en-US" sz="1600" dirty="0"/>
              <a:t> se </a:t>
            </a:r>
            <a:r>
              <a:rPr lang="en-US" sz="1600" dirty="0" err="1"/>
              <a:t>aplică</a:t>
            </a:r>
            <a:r>
              <a:rPr lang="en-US" sz="1600" dirty="0"/>
              <a:t> un </a:t>
            </a:r>
            <a:r>
              <a:rPr lang="en-US" sz="1600" dirty="0" err="1"/>
              <a:t>pansament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Fracturi</a:t>
            </a:r>
            <a:r>
              <a:rPr lang="en-US" sz="1600" b="1" dirty="0"/>
              <a:t>:</a:t>
            </a:r>
            <a:r>
              <a:rPr lang="en-US" sz="1600" dirty="0"/>
              <a:t> se </a:t>
            </a:r>
            <a:r>
              <a:rPr lang="en-US" sz="1600" dirty="0" err="1"/>
              <a:t>imobilizează</a:t>
            </a:r>
            <a:r>
              <a:rPr lang="en-US" sz="1600" dirty="0"/>
              <a:t> zona </a:t>
            </a:r>
            <a:r>
              <a:rPr lang="en-US" sz="1600" dirty="0" err="1"/>
              <a:t>afectată</a:t>
            </a:r>
            <a:r>
              <a:rPr lang="en-US" sz="1600" dirty="0"/>
              <a:t> cu o </a:t>
            </a:r>
            <a:r>
              <a:rPr lang="en-US" sz="1600" dirty="0" err="1"/>
              <a:t>atelă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se merge de </a:t>
            </a:r>
            <a:r>
              <a:rPr lang="en-US" sz="1600" dirty="0" err="1"/>
              <a:t>urgență</a:t>
            </a:r>
            <a:r>
              <a:rPr lang="en-US" sz="1600" dirty="0"/>
              <a:t> la 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Arsuri</a:t>
            </a:r>
            <a:r>
              <a:rPr lang="en-US" sz="1600" b="1" dirty="0"/>
              <a:t>:</a:t>
            </a:r>
            <a:r>
              <a:rPr lang="en-US" sz="1600" dirty="0"/>
              <a:t> se </a:t>
            </a:r>
            <a:r>
              <a:rPr lang="en-US" sz="1600" dirty="0" err="1"/>
              <a:t>răcesc</a:t>
            </a:r>
            <a:r>
              <a:rPr lang="en-US" sz="1600" dirty="0"/>
              <a:t> sub </a:t>
            </a:r>
            <a:r>
              <a:rPr lang="en-US" sz="1600" dirty="0" err="1"/>
              <a:t>apă</a:t>
            </a:r>
            <a:r>
              <a:rPr lang="en-US" sz="1600" dirty="0"/>
              <a:t> </a:t>
            </a:r>
            <a:r>
              <a:rPr lang="en-US" sz="1600" dirty="0" err="1"/>
              <a:t>rece</a:t>
            </a:r>
            <a:r>
              <a:rPr lang="en-US" sz="1600" dirty="0"/>
              <a:t> (nu </a:t>
            </a:r>
            <a:r>
              <a:rPr lang="en-US" sz="1600" dirty="0" err="1"/>
              <a:t>gheață</a:t>
            </a:r>
            <a:r>
              <a:rPr lang="en-US" sz="1600" dirty="0"/>
              <a:t>!), se </a:t>
            </a:r>
            <a:r>
              <a:rPr lang="en-US" sz="1600" dirty="0" err="1"/>
              <a:t>protejează</a:t>
            </a:r>
            <a:r>
              <a:rPr lang="en-US" sz="1600" dirty="0"/>
              <a:t> zona </a:t>
            </a:r>
            <a:r>
              <a:rPr lang="en-US" sz="1600" dirty="0" err="1"/>
              <a:t>și</a:t>
            </a:r>
            <a:r>
              <a:rPr lang="en-US" sz="1600" dirty="0"/>
              <a:t> nu se </a:t>
            </a:r>
            <a:r>
              <a:rPr lang="en-US" sz="1600" dirty="0" err="1"/>
              <a:t>sparg</a:t>
            </a:r>
            <a:r>
              <a:rPr lang="en-US" sz="1600" dirty="0"/>
              <a:t> </a:t>
            </a:r>
            <a:r>
              <a:rPr lang="en-US" sz="1600" dirty="0" err="1"/>
              <a:t>bășicile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Sângerări</a:t>
            </a:r>
            <a:r>
              <a:rPr lang="en-US" sz="1600" b="1" dirty="0"/>
              <a:t>:</a:t>
            </a:r>
            <a:r>
              <a:rPr lang="en-US" sz="1600" dirty="0"/>
              <a:t> se </a:t>
            </a:r>
            <a:r>
              <a:rPr lang="en-US" sz="1600" dirty="0" err="1"/>
              <a:t>apasă</a:t>
            </a:r>
            <a:r>
              <a:rPr lang="en-US" sz="1600" dirty="0"/>
              <a:t> cu o </a:t>
            </a:r>
            <a:r>
              <a:rPr lang="en-US" sz="1600" dirty="0" err="1"/>
              <a:t>compresă</a:t>
            </a:r>
            <a:r>
              <a:rPr lang="en-US" sz="1600" dirty="0"/>
              <a:t> </a:t>
            </a:r>
            <a:r>
              <a:rPr lang="en-US" sz="1600" dirty="0" err="1"/>
              <a:t>curată</a:t>
            </a:r>
            <a:r>
              <a:rPr lang="en-US" sz="1600" dirty="0"/>
              <a:t>, se </a:t>
            </a:r>
            <a:r>
              <a:rPr lang="en-US" sz="1600" dirty="0" err="1"/>
              <a:t>ridică</a:t>
            </a:r>
            <a:r>
              <a:rPr lang="en-US" sz="1600" dirty="0"/>
              <a:t> </a:t>
            </a:r>
            <a:r>
              <a:rPr lang="en-US" sz="1600" dirty="0" err="1"/>
              <a:t>membrul</a:t>
            </a:r>
            <a:r>
              <a:rPr lang="en-US" sz="1600" dirty="0"/>
              <a:t> </a:t>
            </a:r>
            <a:r>
              <a:rPr lang="en-US" sz="1600" dirty="0" err="1"/>
              <a:t>rănit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se </a:t>
            </a:r>
            <a:r>
              <a:rPr lang="en-US" sz="1600" dirty="0" err="1"/>
              <a:t>aplică</a:t>
            </a:r>
            <a:r>
              <a:rPr lang="en-US" sz="1600" dirty="0"/>
              <a:t> </a:t>
            </a:r>
            <a:r>
              <a:rPr lang="en-US" sz="1600" dirty="0" err="1"/>
              <a:t>fașă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Intoxicații</a:t>
            </a:r>
            <a:r>
              <a:rPr lang="en-US" sz="1600" b="1" dirty="0"/>
              <a:t>:</a:t>
            </a:r>
            <a:r>
              <a:rPr lang="en-US" sz="1600" dirty="0"/>
              <a:t> se </a:t>
            </a:r>
            <a:r>
              <a:rPr lang="en-US" sz="1600" dirty="0" err="1"/>
              <a:t>sună</a:t>
            </a:r>
            <a:r>
              <a:rPr lang="en-US" sz="1600" dirty="0"/>
              <a:t> la 112 </a:t>
            </a:r>
            <a:r>
              <a:rPr lang="en-US" sz="1600" dirty="0" err="1"/>
              <a:t>și</a:t>
            </a:r>
            <a:r>
              <a:rPr lang="en-US" sz="1600" dirty="0"/>
              <a:t> NU se </a:t>
            </a:r>
            <a:r>
              <a:rPr lang="en-US" sz="1600" dirty="0" err="1"/>
              <a:t>provoacă</a:t>
            </a:r>
            <a:r>
              <a:rPr lang="en-US" sz="1600" dirty="0"/>
              <a:t> </a:t>
            </a:r>
            <a:r>
              <a:rPr lang="en-US" sz="1600" dirty="0" err="1"/>
              <a:t>voma</a:t>
            </a:r>
            <a:r>
              <a:rPr lang="en-US" sz="1600" dirty="0"/>
              <a:t> </a:t>
            </a:r>
            <a:r>
              <a:rPr lang="en-US" sz="1600" dirty="0" err="1"/>
              <a:t>decât</a:t>
            </a:r>
            <a:r>
              <a:rPr lang="en-US" sz="1600" dirty="0"/>
              <a:t> </a:t>
            </a:r>
            <a:r>
              <a:rPr lang="en-US" sz="1600" dirty="0" err="1"/>
              <a:t>dacă</a:t>
            </a:r>
            <a:r>
              <a:rPr lang="en-US" sz="1600" dirty="0"/>
              <a:t> </a:t>
            </a:r>
            <a:r>
              <a:rPr lang="en-US" sz="1600" dirty="0" err="1"/>
              <a:t>recomandă</a:t>
            </a:r>
            <a:r>
              <a:rPr lang="en-US" sz="1600" dirty="0"/>
              <a:t> </a:t>
            </a:r>
            <a:r>
              <a:rPr lang="en-US" sz="1600" dirty="0" err="1"/>
              <a:t>medicul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67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E75A7-32F4-22C0-EF0E-9F60177E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057B99E-8ABC-15C7-38A4-8AAF378DE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2BE26F5D-5F84-402A-1C7D-759848B0D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867CD3-C74F-3DC6-A70F-01411A856229}"/>
              </a:ext>
            </a:extLst>
          </p:cNvPr>
          <p:cNvSpPr txBox="1"/>
          <p:nvPr/>
        </p:nvSpPr>
        <p:spPr>
          <a:xfrm>
            <a:off x="334990" y="926127"/>
            <a:ext cx="11853962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 err="1">
                <a:latin typeface="+mj-lt"/>
                <a:ea typeface="+mj-ea"/>
                <a:cs typeface="+mj-cs"/>
              </a:rPr>
              <a:t>Situații</a:t>
            </a:r>
            <a:r>
              <a:rPr lang="en-US" sz="4500" dirty="0">
                <a:latin typeface="+mj-lt"/>
                <a:ea typeface="+mj-ea"/>
                <a:cs typeface="+mj-cs"/>
              </a:rPr>
              <a:t> de </a:t>
            </a:r>
            <a:r>
              <a:rPr lang="en-US" sz="4500" dirty="0" err="1">
                <a:latin typeface="+mj-lt"/>
                <a:ea typeface="+mj-ea"/>
                <a:cs typeface="+mj-cs"/>
              </a:rPr>
              <a:t>urgență</a:t>
            </a:r>
            <a:r>
              <a:rPr lang="en-US" sz="4500" dirty="0">
                <a:latin typeface="+mj-lt"/>
                <a:ea typeface="+mj-ea"/>
                <a:cs typeface="+mj-cs"/>
              </a:rPr>
              <a:t> – </a:t>
            </a:r>
            <a:r>
              <a:rPr lang="en-US" sz="4800" b="1" dirty="0" err="1">
                <a:latin typeface="+mj-lt"/>
              </a:rPr>
              <a:t>Primul</a:t>
            </a:r>
            <a:r>
              <a:rPr lang="en-US" sz="4800" b="1" dirty="0">
                <a:latin typeface="+mj-lt"/>
              </a:rPr>
              <a:t> </a:t>
            </a:r>
            <a:r>
              <a:rPr lang="en-US" sz="4800" b="1" dirty="0" err="1">
                <a:latin typeface="+mj-lt"/>
              </a:rPr>
              <a:t>ajutor</a:t>
            </a:r>
            <a:endParaRPr lang="en-US" sz="4800" b="1" dirty="0">
              <a:latin typeface="+mj-l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500" dirty="0">
              <a:latin typeface="+mj-lt"/>
              <a:ea typeface="+mj-ea"/>
              <a:cs typeface="+mj-cs"/>
            </a:endParaRPr>
          </a:p>
        </p:txBody>
      </p:sp>
      <p:sp>
        <p:nvSpPr>
          <p:cNvPr id="1039" name="Rectangle 6">
            <a:extLst>
              <a:ext uri="{FF2B5EF4-FFF2-40B4-BE49-F238E27FC236}">
                <a16:creationId xmlns:a16="http://schemas.microsoft.com/office/drawing/2014/main" id="{B0EB4F24-8406-A81B-7C34-AC1538D30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4" y="1817073"/>
            <a:ext cx="11018520" cy="18288"/>
          </a:xfrm>
          <a:custGeom>
            <a:avLst/>
            <a:gdLst>
              <a:gd name="connsiteX0" fmla="*/ 0 w 11018520"/>
              <a:gd name="connsiteY0" fmla="*/ 0 h 18288"/>
              <a:gd name="connsiteX1" fmla="*/ 468287 w 11018520"/>
              <a:gd name="connsiteY1" fmla="*/ 0 h 18288"/>
              <a:gd name="connsiteX2" fmla="*/ 1156945 w 11018520"/>
              <a:gd name="connsiteY2" fmla="*/ 0 h 18288"/>
              <a:gd name="connsiteX3" fmla="*/ 1955787 w 11018520"/>
              <a:gd name="connsiteY3" fmla="*/ 0 h 18288"/>
              <a:gd name="connsiteX4" fmla="*/ 2313889 w 11018520"/>
              <a:gd name="connsiteY4" fmla="*/ 0 h 18288"/>
              <a:gd name="connsiteX5" fmla="*/ 2671991 w 11018520"/>
              <a:gd name="connsiteY5" fmla="*/ 0 h 18288"/>
              <a:gd name="connsiteX6" fmla="*/ 3581019 w 11018520"/>
              <a:gd name="connsiteY6" fmla="*/ 0 h 18288"/>
              <a:gd name="connsiteX7" fmla="*/ 4269677 w 11018520"/>
              <a:gd name="connsiteY7" fmla="*/ 0 h 18288"/>
              <a:gd name="connsiteX8" fmla="*/ 4627778 w 11018520"/>
              <a:gd name="connsiteY8" fmla="*/ 0 h 18288"/>
              <a:gd name="connsiteX9" fmla="*/ 5316436 w 11018520"/>
              <a:gd name="connsiteY9" fmla="*/ 0 h 18288"/>
              <a:gd name="connsiteX10" fmla="*/ 6225464 w 11018520"/>
              <a:gd name="connsiteY10" fmla="*/ 0 h 18288"/>
              <a:gd name="connsiteX11" fmla="*/ 6803936 w 11018520"/>
              <a:gd name="connsiteY11" fmla="*/ 0 h 18288"/>
              <a:gd name="connsiteX12" fmla="*/ 7382408 w 11018520"/>
              <a:gd name="connsiteY12" fmla="*/ 0 h 18288"/>
              <a:gd name="connsiteX13" fmla="*/ 8071066 w 11018520"/>
              <a:gd name="connsiteY13" fmla="*/ 0 h 18288"/>
              <a:gd name="connsiteX14" fmla="*/ 8869909 w 11018520"/>
              <a:gd name="connsiteY14" fmla="*/ 0 h 18288"/>
              <a:gd name="connsiteX15" fmla="*/ 9668751 w 11018520"/>
              <a:gd name="connsiteY15" fmla="*/ 0 h 18288"/>
              <a:gd name="connsiteX16" fmla="*/ 11018520 w 11018520"/>
              <a:gd name="connsiteY16" fmla="*/ 0 h 18288"/>
              <a:gd name="connsiteX17" fmla="*/ 11018520 w 11018520"/>
              <a:gd name="connsiteY17" fmla="*/ 18288 h 18288"/>
              <a:gd name="connsiteX18" fmla="*/ 10550233 w 11018520"/>
              <a:gd name="connsiteY18" fmla="*/ 18288 h 18288"/>
              <a:gd name="connsiteX19" fmla="*/ 9641205 w 11018520"/>
              <a:gd name="connsiteY19" fmla="*/ 18288 h 18288"/>
              <a:gd name="connsiteX20" fmla="*/ 8952548 w 11018520"/>
              <a:gd name="connsiteY20" fmla="*/ 18288 h 18288"/>
              <a:gd name="connsiteX21" fmla="*/ 8594446 w 11018520"/>
              <a:gd name="connsiteY21" fmla="*/ 18288 h 18288"/>
              <a:gd name="connsiteX22" fmla="*/ 7905788 w 11018520"/>
              <a:gd name="connsiteY22" fmla="*/ 18288 h 18288"/>
              <a:gd name="connsiteX23" fmla="*/ 7327316 w 11018520"/>
              <a:gd name="connsiteY23" fmla="*/ 18288 h 18288"/>
              <a:gd name="connsiteX24" fmla="*/ 6748844 w 11018520"/>
              <a:gd name="connsiteY24" fmla="*/ 18288 h 18288"/>
              <a:gd name="connsiteX25" fmla="*/ 6170371 w 11018520"/>
              <a:gd name="connsiteY25" fmla="*/ 18288 h 18288"/>
              <a:gd name="connsiteX26" fmla="*/ 5591899 w 11018520"/>
              <a:gd name="connsiteY26" fmla="*/ 18288 h 18288"/>
              <a:gd name="connsiteX27" fmla="*/ 4793056 w 11018520"/>
              <a:gd name="connsiteY27" fmla="*/ 18288 h 18288"/>
              <a:gd name="connsiteX28" fmla="*/ 4104399 w 11018520"/>
              <a:gd name="connsiteY28" fmla="*/ 18288 h 18288"/>
              <a:gd name="connsiteX29" fmla="*/ 3746297 w 11018520"/>
              <a:gd name="connsiteY29" fmla="*/ 18288 h 18288"/>
              <a:gd name="connsiteX30" fmla="*/ 3167825 w 11018520"/>
              <a:gd name="connsiteY30" fmla="*/ 18288 h 18288"/>
              <a:gd name="connsiteX31" fmla="*/ 2368982 w 11018520"/>
              <a:gd name="connsiteY31" fmla="*/ 18288 h 18288"/>
              <a:gd name="connsiteX32" fmla="*/ 1900695 w 11018520"/>
              <a:gd name="connsiteY32" fmla="*/ 18288 h 18288"/>
              <a:gd name="connsiteX33" fmla="*/ 991667 w 11018520"/>
              <a:gd name="connsiteY33" fmla="*/ 18288 h 18288"/>
              <a:gd name="connsiteX34" fmla="*/ 0 w 11018520"/>
              <a:gd name="connsiteY34" fmla="*/ 18288 h 18288"/>
              <a:gd name="connsiteX35" fmla="*/ 0 w 11018520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FFC15F"/>
          </a:solidFill>
          <a:ln w="38100" cap="rnd">
            <a:solidFill>
              <a:srgbClr val="FFC15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91F0A-FC90-DB6D-D691-CBE52415D8C1}"/>
              </a:ext>
            </a:extLst>
          </p:cNvPr>
          <p:cNvSpPr txBox="1"/>
          <p:nvPr/>
        </p:nvSpPr>
        <p:spPr>
          <a:xfrm>
            <a:off x="572493" y="2360542"/>
            <a:ext cx="4960205" cy="43259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dirty="0" err="1"/>
              <a:t>Primul</a:t>
            </a:r>
            <a:r>
              <a:rPr lang="en-US" sz="1600" dirty="0"/>
              <a:t> </a:t>
            </a:r>
            <a:r>
              <a:rPr lang="en-US" sz="1600" dirty="0" err="1"/>
              <a:t>ajutor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intervenția</a:t>
            </a:r>
            <a:r>
              <a:rPr lang="en-US" sz="1600" dirty="0"/>
              <a:t> </a:t>
            </a:r>
            <a:r>
              <a:rPr lang="en-US" sz="1600" dirty="0" err="1"/>
              <a:t>imediată</a:t>
            </a:r>
            <a:r>
              <a:rPr lang="en-US" sz="1600" dirty="0"/>
              <a:t> </a:t>
            </a:r>
            <a:r>
              <a:rPr lang="en-US" sz="1600" dirty="0" err="1"/>
              <a:t>oferită</a:t>
            </a:r>
            <a:r>
              <a:rPr lang="en-US" sz="1600" dirty="0"/>
              <a:t> </a:t>
            </a:r>
            <a:r>
              <a:rPr lang="en-US" sz="1600" dirty="0" err="1"/>
              <a:t>unei</a:t>
            </a:r>
            <a:r>
              <a:rPr lang="en-US" sz="1600" dirty="0"/>
              <a:t> </a:t>
            </a:r>
            <a:r>
              <a:rPr lang="en-US" sz="1600" dirty="0" err="1"/>
              <a:t>persoane</a:t>
            </a:r>
            <a:r>
              <a:rPr lang="en-US" sz="1600" dirty="0"/>
              <a:t> </a:t>
            </a:r>
            <a:r>
              <a:rPr lang="en-US" sz="1600" dirty="0" err="1"/>
              <a:t>rănite</a:t>
            </a:r>
            <a:r>
              <a:rPr lang="en-US" sz="1600" dirty="0"/>
              <a:t>, </a:t>
            </a:r>
            <a:r>
              <a:rPr lang="en-US" sz="1600" dirty="0" err="1"/>
              <a:t>până</a:t>
            </a:r>
            <a:r>
              <a:rPr lang="en-US" sz="1600" dirty="0"/>
              <a:t> vine </a:t>
            </a:r>
            <a:r>
              <a:rPr lang="en-US" sz="1600" dirty="0" err="1"/>
              <a:t>ambulanța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ajunge</a:t>
            </a:r>
            <a:r>
              <a:rPr lang="en-US" sz="1600" dirty="0"/>
              <a:t> la spital. Nu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nevoie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fii</a:t>
            </a:r>
            <a:r>
              <a:rPr lang="en-US" sz="1600" dirty="0"/>
              <a:t> medic ca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salvezi</a:t>
            </a:r>
            <a:r>
              <a:rPr lang="en-US" sz="1600" dirty="0"/>
              <a:t> o </a:t>
            </a:r>
            <a:r>
              <a:rPr lang="en-US" sz="1600" dirty="0" err="1"/>
              <a:t>viață</a:t>
            </a:r>
            <a:r>
              <a:rPr lang="en-US" sz="1600" dirty="0"/>
              <a:t>! </a:t>
            </a:r>
            <a:r>
              <a:rPr lang="en-US" sz="1600" dirty="0" err="1"/>
              <a:t>Câteva</a:t>
            </a:r>
            <a:r>
              <a:rPr lang="en-US" sz="1600" dirty="0"/>
              <a:t> reguli de </a:t>
            </a:r>
            <a:r>
              <a:rPr lang="en-US" sz="1600" dirty="0" err="1"/>
              <a:t>bază</a:t>
            </a:r>
            <a:r>
              <a:rPr lang="en-US" sz="1600" dirty="0"/>
              <a:t>: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Verifică</a:t>
            </a:r>
            <a:r>
              <a:rPr lang="en-US" sz="1600" dirty="0"/>
              <a:t> </a:t>
            </a:r>
            <a:r>
              <a:rPr lang="en-US" sz="1600" dirty="0" err="1"/>
              <a:t>dacă</a:t>
            </a:r>
            <a:r>
              <a:rPr lang="en-US" sz="1600" dirty="0"/>
              <a:t> </a:t>
            </a:r>
            <a:r>
              <a:rPr lang="en-US" sz="1600" dirty="0" err="1"/>
              <a:t>ești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siguranță</a:t>
            </a:r>
            <a:r>
              <a:rPr lang="en-US" sz="1600" dirty="0"/>
              <a:t> </a:t>
            </a:r>
            <a:r>
              <a:rPr lang="en-US" sz="1600" dirty="0" err="1"/>
              <a:t>înainte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te</a:t>
            </a:r>
            <a:r>
              <a:rPr lang="en-US" sz="1600" dirty="0"/>
              <a:t> </a:t>
            </a:r>
            <a:r>
              <a:rPr lang="en-US" sz="1600" dirty="0" err="1"/>
              <a:t>apropii</a:t>
            </a:r>
            <a:r>
              <a:rPr lang="en-US" sz="1600" dirty="0"/>
              <a:t> de </a:t>
            </a:r>
            <a:r>
              <a:rPr lang="en-US" sz="1600" dirty="0" err="1"/>
              <a:t>victimă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Evaluează</a:t>
            </a:r>
            <a:r>
              <a:rPr lang="en-US" sz="1600" dirty="0"/>
              <a:t> </a:t>
            </a:r>
            <a:r>
              <a:rPr lang="en-US" sz="1600" dirty="0" err="1"/>
              <a:t>starea</a:t>
            </a:r>
            <a:r>
              <a:rPr lang="en-US" sz="1600" dirty="0"/>
              <a:t> </a:t>
            </a:r>
            <a:r>
              <a:rPr lang="en-US" sz="1600" dirty="0" err="1"/>
              <a:t>victimei</a:t>
            </a:r>
            <a:r>
              <a:rPr lang="en-US" sz="1600" dirty="0"/>
              <a:t> (</a:t>
            </a:r>
            <a:r>
              <a:rPr lang="en-US" sz="1600" dirty="0" err="1"/>
              <a:t>respiră</a:t>
            </a:r>
            <a:r>
              <a:rPr lang="en-US" sz="1600" dirty="0"/>
              <a:t>? e </a:t>
            </a:r>
            <a:r>
              <a:rPr lang="en-US" sz="1600" dirty="0" err="1"/>
              <a:t>conștientă</a:t>
            </a:r>
            <a:r>
              <a:rPr lang="en-US" sz="1600" dirty="0"/>
              <a:t>? </a:t>
            </a:r>
            <a:r>
              <a:rPr lang="en-US" sz="1600" dirty="0" err="1"/>
              <a:t>sângerează</a:t>
            </a:r>
            <a:r>
              <a:rPr lang="en-US" sz="1600" dirty="0"/>
              <a:t>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Sună</a:t>
            </a:r>
            <a:r>
              <a:rPr lang="en-US" sz="1600" dirty="0"/>
              <a:t> la 112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urmează</a:t>
            </a:r>
            <a:r>
              <a:rPr lang="en-US" sz="1600" dirty="0"/>
              <a:t> </a:t>
            </a:r>
            <a:r>
              <a:rPr lang="en-US" sz="1600" dirty="0" err="1"/>
              <a:t>instrucțiunile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Oprește</a:t>
            </a:r>
            <a:r>
              <a:rPr lang="en-US" sz="1600" dirty="0"/>
              <a:t> </a:t>
            </a:r>
            <a:r>
              <a:rPr lang="en-US" sz="1600" dirty="0" err="1"/>
              <a:t>sângerarea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presiune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Imobilizează</a:t>
            </a:r>
            <a:r>
              <a:rPr lang="en-US" sz="1600" dirty="0"/>
              <a:t> </a:t>
            </a:r>
            <a:r>
              <a:rPr lang="en-US" sz="1600" dirty="0" err="1"/>
              <a:t>membrele</a:t>
            </a:r>
            <a:r>
              <a:rPr lang="en-US" sz="1600" dirty="0"/>
              <a:t> </a:t>
            </a:r>
            <a:r>
              <a:rPr lang="en-US" sz="1600" dirty="0" err="1"/>
              <a:t>rupte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caz</a:t>
            </a:r>
            <a:r>
              <a:rPr lang="en-US" sz="1600" dirty="0"/>
              <a:t> de </a:t>
            </a:r>
            <a:r>
              <a:rPr lang="en-US" sz="1600" dirty="0" err="1"/>
              <a:t>leșin</a:t>
            </a:r>
            <a:r>
              <a:rPr lang="en-US" sz="1600" dirty="0"/>
              <a:t>, </a:t>
            </a:r>
            <a:r>
              <a:rPr lang="en-US" sz="1600" dirty="0" err="1"/>
              <a:t>așază</a:t>
            </a:r>
            <a:r>
              <a:rPr lang="en-US" sz="1600" dirty="0"/>
              <a:t> </a:t>
            </a:r>
            <a:r>
              <a:rPr lang="en-US" sz="1600" dirty="0" err="1"/>
              <a:t>persoana</a:t>
            </a:r>
            <a:r>
              <a:rPr lang="en-US" sz="1600" dirty="0"/>
              <a:t> pe o </a:t>
            </a:r>
            <a:r>
              <a:rPr lang="en-US" sz="1600" dirty="0" err="1"/>
              <a:t>parte</a:t>
            </a:r>
            <a:r>
              <a:rPr lang="en-US" sz="1600" dirty="0"/>
              <a:t> (</a:t>
            </a:r>
            <a:r>
              <a:rPr lang="en-US" sz="1600" dirty="0" err="1"/>
              <a:t>poziția</a:t>
            </a:r>
            <a:r>
              <a:rPr lang="en-US" sz="1600" dirty="0"/>
              <a:t> </a:t>
            </a:r>
            <a:r>
              <a:rPr lang="en-US" sz="1600" dirty="0" err="1"/>
              <a:t>laterală</a:t>
            </a:r>
            <a:r>
              <a:rPr lang="en-US" sz="1600" dirty="0"/>
              <a:t> de </a:t>
            </a:r>
            <a:r>
              <a:rPr lang="en-US" sz="1600" dirty="0" err="1"/>
              <a:t>siguranță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Dacă</a:t>
            </a:r>
            <a:r>
              <a:rPr lang="en-US" sz="1600" dirty="0"/>
              <a:t> nu </a:t>
            </a:r>
            <a:r>
              <a:rPr lang="en-US" sz="1600" dirty="0" err="1"/>
              <a:t>respiră</a:t>
            </a:r>
            <a:r>
              <a:rPr lang="en-US" sz="1600" dirty="0"/>
              <a:t>, </a:t>
            </a:r>
            <a:r>
              <a:rPr lang="en-US" sz="1600" dirty="0" err="1"/>
              <a:t>fă</a:t>
            </a:r>
            <a:r>
              <a:rPr lang="en-US" sz="1600" dirty="0"/>
              <a:t> </a:t>
            </a:r>
            <a:r>
              <a:rPr lang="en-US" sz="1600" dirty="0" err="1"/>
              <a:t>compresii</a:t>
            </a:r>
            <a:r>
              <a:rPr lang="en-US" sz="1600" dirty="0"/>
              <a:t> </a:t>
            </a:r>
            <a:r>
              <a:rPr lang="en-US" sz="1600" dirty="0" err="1"/>
              <a:t>toracice</a:t>
            </a:r>
            <a:r>
              <a:rPr lang="en-US" sz="1600" dirty="0"/>
              <a:t> (CPR)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3074" name="Picture 2" descr="CPR: What It Is &amp; How To Perform It">
            <a:extLst>
              <a:ext uri="{FF2B5EF4-FFF2-40B4-BE49-F238E27FC236}">
                <a16:creationId xmlns:a16="http://schemas.microsoft.com/office/drawing/2014/main" id="{43BE048E-1206-C156-CC1C-50B2BC18D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662" y="2139082"/>
            <a:ext cx="4502485" cy="464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981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EFA00-7860-7EF0-6266-0022AC87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FAD3E9E-4A93-0CD8-B6CB-8ED825692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E7BD05A4-3973-28E5-8946-05DEB03C6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00C40-90C6-C2DE-1555-6D29443CD0ED}"/>
              </a:ext>
            </a:extLst>
          </p:cNvPr>
          <p:cNvSpPr txBox="1"/>
          <p:nvPr/>
        </p:nvSpPr>
        <p:spPr>
          <a:xfrm>
            <a:off x="334990" y="382658"/>
            <a:ext cx="11853962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 err="1">
                <a:latin typeface="+mj-lt"/>
                <a:ea typeface="+mj-ea"/>
                <a:cs typeface="+mj-cs"/>
              </a:rPr>
              <a:t>Situații</a:t>
            </a:r>
            <a:r>
              <a:rPr lang="en-US" sz="4500" dirty="0">
                <a:latin typeface="+mj-lt"/>
                <a:ea typeface="+mj-ea"/>
                <a:cs typeface="+mj-cs"/>
              </a:rPr>
              <a:t> de </a:t>
            </a:r>
            <a:r>
              <a:rPr lang="en-US" sz="4500" dirty="0" err="1">
                <a:latin typeface="+mj-lt"/>
                <a:ea typeface="+mj-ea"/>
                <a:cs typeface="+mj-cs"/>
              </a:rPr>
              <a:t>urgență</a:t>
            </a:r>
            <a:r>
              <a:rPr lang="en-US" sz="4500" dirty="0">
                <a:latin typeface="+mj-lt"/>
                <a:ea typeface="+mj-ea"/>
                <a:cs typeface="+mj-cs"/>
              </a:rPr>
              <a:t> – </a:t>
            </a:r>
            <a:r>
              <a:rPr lang="en-US" sz="4500" dirty="0" err="1">
                <a:latin typeface="+mj-lt"/>
                <a:ea typeface="+mj-ea"/>
                <a:cs typeface="+mj-cs"/>
              </a:rPr>
              <a:t>Transportul</a:t>
            </a:r>
            <a:r>
              <a:rPr lang="en-US" sz="4500" dirty="0">
                <a:latin typeface="+mj-lt"/>
                <a:ea typeface="+mj-ea"/>
                <a:cs typeface="+mj-cs"/>
              </a:rPr>
              <a:t> </a:t>
            </a:r>
            <a:r>
              <a:rPr lang="en-US" sz="4500" dirty="0" err="1">
                <a:latin typeface="+mj-lt"/>
                <a:ea typeface="+mj-ea"/>
                <a:cs typeface="+mj-cs"/>
              </a:rPr>
              <a:t>accidentaților</a:t>
            </a:r>
            <a:endParaRPr lang="en-US" sz="4500" dirty="0">
              <a:latin typeface="+mj-lt"/>
              <a:ea typeface="+mj-ea"/>
              <a:cs typeface="+mj-cs"/>
            </a:endParaRPr>
          </a:p>
        </p:txBody>
      </p:sp>
      <p:sp>
        <p:nvSpPr>
          <p:cNvPr id="1039" name="Rectangle 6">
            <a:extLst>
              <a:ext uri="{FF2B5EF4-FFF2-40B4-BE49-F238E27FC236}">
                <a16:creationId xmlns:a16="http://schemas.microsoft.com/office/drawing/2014/main" id="{7FBCF646-CBD1-7BDD-6C33-CABE20836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4" y="1817073"/>
            <a:ext cx="11018520" cy="18288"/>
          </a:xfrm>
          <a:custGeom>
            <a:avLst/>
            <a:gdLst>
              <a:gd name="connsiteX0" fmla="*/ 0 w 11018520"/>
              <a:gd name="connsiteY0" fmla="*/ 0 h 18288"/>
              <a:gd name="connsiteX1" fmla="*/ 468287 w 11018520"/>
              <a:gd name="connsiteY1" fmla="*/ 0 h 18288"/>
              <a:gd name="connsiteX2" fmla="*/ 1156945 w 11018520"/>
              <a:gd name="connsiteY2" fmla="*/ 0 h 18288"/>
              <a:gd name="connsiteX3" fmla="*/ 1955787 w 11018520"/>
              <a:gd name="connsiteY3" fmla="*/ 0 h 18288"/>
              <a:gd name="connsiteX4" fmla="*/ 2313889 w 11018520"/>
              <a:gd name="connsiteY4" fmla="*/ 0 h 18288"/>
              <a:gd name="connsiteX5" fmla="*/ 2671991 w 11018520"/>
              <a:gd name="connsiteY5" fmla="*/ 0 h 18288"/>
              <a:gd name="connsiteX6" fmla="*/ 3581019 w 11018520"/>
              <a:gd name="connsiteY6" fmla="*/ 0 h 18288"/>
              <a:gd name="connsiteX7" fmla="*/ 4269677 w 11018520"/>
              <a:gd name="connsiteY7" fmla="*/ 0 h 18288"/>
              <a:gd name="connsiteX8" fmla="*/ 4627778 w 11018520"/>
              <a:gd name="connsiteY8" fmla="*/ 0 h 18288"/>
              <a:gd name="connsiteX9" fmla="*/ 5316436 w 11018520"/>
              <a:gd name="connsiteY9" fmla="*/ 0 h 18288"/>
              <a:gd name="connsiteX10" fmla="*/ 6225464 w 11018520"/>
              <a:gd name="connsiteY10" fmla="*/ 0 h 18288"/>
              <a:gd name="connsiteX11" fmla="*/ 6803936 w 11018520"/>
              <a:gd name="connsiteY11" fmla="*/ 0 h 18288"/>
              <a:gd name="connsiteX12" fmla="*/ 7382408 w 11018520"/>
              <a:gd name="connsiteY12" fmla="*/ 0 h 18288"/>
              <a:gd name="connsiteX13" fmla="*/ 8071066 w 11018520"/>
              <a:gd name="connsiteY13" fmla="*/ 0 h 18288"/>
              <a:gd name="connsiteX14" fmla="*/ 8869909 w 11018520"/>
              <a:gd name="connsiteY14" fmla="*/ 0 h 18288"/>
              <a:gd name="connsiteX15" fmla="*/ 9668751 w 11018520"/>
              <a:gd name="connsiteY15" fmla="*/ 0 h 18288"/>
              <a:gd name="connsiteX16" fmla="*/ 11018520 w 11018520"/>
              <a:gd name="connsiteY16" fmla="*/ 0 h 18288"/>
              <a:gd name="connsiteX17" fmla="*/ 11018520 w 11018520"/>
              <a:gd name="connsiteY17" fmla="*/ 18288 h 18288"/>
              <a:gd name="connsiteX18" fmla="*/ 10550233 w 11018520"/>
              <a:gd name="connsiteY18" fmla="*/ 18288 h 18288"/>
              <a:gd name="connsiteX19" fmla="*/ 9641205 w 11018520"/>
              <a:gd name="connsiteY19" fmla="*/ 18288 h 18288"/>
              <a:gd name="connsiteX20" fmla="*/ 8952548 w 11018520"/>
              <a:gd name="connsiteY20" fmla="*/ 18288 h 18288"/>
              <a:gd name="connsiteX21" fmla="*/ 8594446 w 11018520"/>
              <a:gd name="connsiteY21" fmla="*/ 18288 h 18288"/>
              <a:gd name="connsiteX22" fmla="*/ 7905788 w 11018520"/>
              <a:gd name="connsiteY22" fmla="*/ 18288 h 18288"/>
              <a:gd name="connsiteX23" fmla="*/ 7327316 w 11018520"/>
              <a:gd name="connsiteY23" fmla="*/ 18288 h 18288"/>
              <a:gd name="connsiteX24" fmla="*/ 6748844 w 11018520"/>
              <a:gd name="connsiteY24" fmla="*/ 18288 h 18288"/>
              <a:gd name="connsiteX25" fmla="*/ 6170371 w 11018520"/>
              <a:gd name="connsiteY25" fmla="*/ 18288 h 18288"/>
              <a:gd name="connsiteX26" fmla="*/ 5591899 w 11018520"/>
              <a:gd name="connsiteY26" fmla="*/ 18288 h 18288"/>
              <a:gd name="connsiteX27" fmla="*/ 4793056 w 11018520"/>
              <a:gd name="connsiteY27" fmla="*/ 18288 h 18288"/>
              <a:gd name="connsiteX28" fmla="*/ 4104399 w 11018520"/>
              <a:gd name="connsiteY28" fmla="*/ 18288 h 18288"/>
              <a:gd name="connsiteX29" fmla="*/ 3746297 w 11018520"/>
              <a:gd name="connsiteY29" fmla="*/ 18288 h 18288"/>
              <a:gd name="connsiteX30" fmla="*/ 3167825 w 11018520"/>
              <a:gd name="connsiteY30" fmla="*/ 18288 h 18288"/>
              <a:gd name="connsiteX31" fmla="*/ 2368982 w 11018520"/>
              <a:gd name="connsiteY31" fmla="*/ 18288 h 18288"/>
              <a:gd name="connsiteX32" fmla="*/ 1900695 w 11018520"/>
              <a:gd name="connsiteY32" fmla="*/ 18288 h 18288"/>
              <a:gd name="connsiteX33" fmla="*/ 991667 w 11018520"/>
              <a:gd name="connsiteY33" fmla="*/ 18288 h 18288"/>
              <a:gd name="connsiteX34" fmla="*/ 0 w 11018520"/>
              <a:gd name="connsiteY34" fmla="*/ 18288 h 18288"/>
              <a:gd name="connsiteX35" fmla="*/ 0 w 11018520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FFC15F"/>
          </a:solidFill>
          <a:ln w="38100" cap="rnd">
            <a:solidFill>
              <a:srgbClr val="FFC15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9E0B96-2C5D-A4B6-B6C2-E90167BD9384}"/>
              </a:ext>
            </a:extLst>
          </p:cNvPr>
          <p:cNvSpPr txBox="1"/>
          <p:nvPr/>
        </p:nvSpPr>
        <p:spPr>
          <a:xfrm>
            <a:off x="572493" y="2360542"/>
            <a:ext cx="4960205" cy="43259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dirty="0" err="1"/>
              <a:t>Transportul</a:t>
            </a:r>
            <a:r>
              <a:rPr lang="en-US" sz="1600" dirty="0"/>
              <a:t> </a:t>
            </a:r>
            <a:r>
              <a:rPr lang="en-US" sz="1600" dirty="0" err="1"/>
              <a:t>unei</a:t>
            </a:r>
            <a:r>
              <a:rPr lang="en-US" sz="1600" dirty="0"/>
              <a:t> </a:t>
            </a:r>
            <a:r>
              <a:rPr lang="en-US" sz="1600" dirty="0" err="1"/>
              <a:t>persoane</a:t>
            </a:r>
            <a:r>
              <a:rPr lang="en-US" sz="1600" dirty="0"/>
              <a:t> </a:t>
            </a:r>
            <a:r>
              <a:rPr lang="en-US" sz="1600" dirty="0" err="1"/>
              <a:t>rănite</a:t>
            </a:r>
            <a:r>
              <a:rPr lang="en-US" sz="1600" dirty="0"/>
              <a:t> </a:t>
            </a:r>
            <a:r>
              <a:rPr lang="en-US" sz="1600" dirty="0" err="1"/>
              <a:t>trebuie</a:t>
            </a:r>
            <a:r>
              <a:rPr lang="en-US" sz="1600" dirty="0"/>
              <a:t> </a:t>
            </a:r>
            <a:r>
              <a:rPr lang="en-US" sz="1600" dirty="0" err="1"/>
              <a:t>făcut</a:t>
            </a:r>
            <a:r>
              <a:rPr lang="en-US" sz="1600" dirty="0"/>
              <a:t> cu mare </a:t>
            </a:r>
            <a:r>
              <a:rPr lang="en-US" sz="1600" dirty="0" err="1"/>
              <a:t>grijă</a:t>
            </a:r>
            <a:r>
              <a:rPr lang="en-US" sz="1600" dirty="0"/>
              <a:t>: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NU </a:t>
            </a:r>
            <a:r>
              <a:rPr lang="en-US" sz="1600" dirty="0" err="1"/>
              <a:t>mișca</a:t>
            </a:r>
            <a:r>
              <a:rPr lang="en-US" sz="1600" dirty="0"/>
              <a:t> </a:t>
            </a:r>
            <a:r>
              <a:rPr lang="en-US" sz="1600" dirty="0" err="1"/>
              <a:t>victima</a:t>
            </a:r>
            <a:r>
              <a:rPr lang="en-US" sz="1600" dirty="0"/>
              <a:t> </a:t>
            </a:r>
            <a:r>
              <a:rPr lang="en-US" sz="1600" dirty="0" err="1"/>
              <a:t>dacă</a:t>
            </a:r>
            <a:r>
              <a:rPr lang="en-US" sz="1600" dirty="0"/>
              <a:t> </a:t>
            </a:r>
            <a:r>
              <a:rPr lang="en-US" sz="1600" dirty="0" err="1"/>
              <a:t>bănuiești</a:t>
            </a:r>
            <a:r>
              <a:rPr lang="en-US" sz="1600" dirty="0"/>
              <a:t> </a:t>
            </a:r>
            <a:r>
              <a:rPr lang="en-US" sz="1600" dirty="0" err="1"/>
              <a:t>că</a:t>
            </a:r>
            <a:r>
              <a:rPr lang="en-US" sz="1600" dirty="0"/>
              <a:t> are </a:t>
            </a:r>
            <a:r>
              <a:rPr lang="en-US" sz="1600" dirty="0" err="1"/>
              <a:t>leziuni</a:t>
            </a:r>
            <a:r>
              <a:rPr lang="en-US" sz="1600" dirty="0"/>
              <a:t> la </a:t>
            </a:r>
            <a:r>
              <a:rPr lang="en-US" sz="1600" dirty="0" err="1"/>
              <a:t>coloană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cap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Dacă</a:t>
            </a:r>
            <a:r>
              <a:rPr lang="en-US" sz="1600" dirty="0"/>
              <a:t> </a:t>
            </a:r>
            <a:r>
              <a:rPr lang="en-US" sz="1600" dirty="0" err="1"/>
              <a:t>trebuie</a:t>
            </a:r>
            <a:r>
              <a:rPr lang="en-US" sz="1600" dirty="0"/>
              <a:t> </a:t>
            </a:r>
            <a:r>
              <a:rPr lang="en-US" sz="1600" dirty="0" err="1"/>
              <a:t>mutată</a:t>
            </a:r>
            <a:r>
              <a:rPr lang="en-US" sz="1600" dirty="0"/>
              <a:t> (de </a:t>
            </a:r>
            <a:r>
              <a:rPr lang="en-US" sz="1600" dirty="0" err="1"/>
              <a:t>exemplu</a:t>
            </a:r>
            <a:r>
              <a:rPr lang="en-US" sz="1600" dirty="0"/>
              <a:t>, e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pericol</a:t>
            </a:r>
            <a:r>
              <a:rPr lang="en-US" sz="1600" dirty="0"/>
              <a:t>), </a:t>
            </a:r>
            <a:r>
              <a:rPr lang="en-US" sz="1600" dirty="0" err="1"/>
              <a:t>susține</a:t>
            </a:r>
            <a:r>
              <a:rPr lang="en-US" sz="1600" dirty="0"/>
              <a:t> capul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gâtul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cazuri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puțin</a:t>
            </a:r>
            <a:r>
              <a:rPr lang="en-US" sz="1600" dirty="0"/>
              <a:t> grave, </a:t>
            </a:r>
            <a:r>
              <a:rPr lang="en-US" sz="1600" dirty="0" err="1"/>
              <a:t>ajut</a:t>
            </a:r>
            <a:r>
              <a:rPr lang="en-US" sz="1600" dirty="0"/>
              <a:t>-o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stea</a:t>
            </a:r>
            <a:r>
              <a:rPr lang="en-US" sz="1600" dirty="0"/>
              <a:t> </a:t>
            </a:r>
            <a:r>
              <a:rPr lang="en-US" sz="1600" dirty="0" err="1"/>
              <a:t>într</a:t>
            </a:r>
            <a:r>
              <a:rPr lang="en-US" sz="1600" dirty="0"/>
              <a:t>-o </a:t>
            </a:r>
            <a:r>
              <a:rPr lang="en-US" sz="1600" dirty="0" err="1"/>
              <a:t>poziție</a:t>
            </a:r>
            <a:r>
              <a:rPr lang="en-US" sz="1600" dirty="0"/>
              <a:t> </a:t>
            </a:r>
            <a:r>
              <a:rPr lang="en-US" sz="1600" dirty="0" err="1"/>
              <a:t>confortabilă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Folosește</a:t>
            </a:r>
            <a:r>
              <a:rPr lang="en-US" sz="1600" dirty="0"/>
              <a:t> </a:t>
            </a:r>
            <a:r>
              <a:rPr lang="en-US" sz="1600" dirty="0" err="1"/>
              <a:t>tărgi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alte</a:t>
            </a:r>
            <a:r>
              <a:rPr lang="en-US" sz="1600" dirty="0"/>
              <a:t> </a:t>
            </a:r>
            <a:r>
              <a:rPr lang="en-US" sz="1600" dirty="0" err="1"/>
              <a:t>obiecte</a:t>
            </a:r>
            <a:r>
              <a:rPr lang="en-US" sz="1600" dirty="0"/>
              <a:t> </a:t>
            </a:r>
            <a:r>
              <a:rPr lang="en-US" sz="1600" dirty="0" err="1"/>
              <a:t>rigide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a nu </a:t>
            </a:r>
            <a:r>
              <a:rPr lang="en-US" sz="1600" dirty="0" err="1"/>
              <a:t>agrava</a:t>
            </a:r>
            <a:r>
              <a:rPr lang="en-US" sz="1600" dirty="0"/>
              <a:t> </a:t>
            </a:r>
            <a:r>
              <a:rPr lang="en-US" sz="1600" dirty="0" err="1"/>
              <a:t>rănile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Ideal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aștepți</a:t>
            </a:r>
            <a:r>
              <a:rPr lang="en-US" sz="1600" dirty="0"/>
              <a:t> </a:t>
            </a:r>
            <a:r>
              <a:rPr lang="en-US" sz="1600" dirty="0" err="1"/>
              <a:t>ambulanța</a:t>
            </a:r>
            <a:r>
              <a:rPr lang="en-US" sz="1600" dirty="0"/>
              <a:t>, </a:t>
            </a:r>
            <a:r>
              <a:rPr lang="en-US" sz="1600" dirty="0" err="1"/>
              <a:t>mai</a:t>
            </a:r>
            <a:r>
              <a:rPr lang="en-US" sz="1600" dirty="0"/>
              <a:t> ales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cazuri</a:t>
            </a:r>
            <a:r>
              <a:rPr lang="en-US" sz="1600" dirty="0"/>
              <a:t> grave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4098" name="Picture 2" descr="Ambulance Man Images – Browse 45,515 ...">
            <a:extLst>
              <a:ext uri="{FF2B5EF4-FFF2-40B4-BE49-F238E27FC236}">
                <a16:creationId xmlns:a16="http://schemas.microsoft.com/office/drawing/2014/main" id="{D08A5755-CD02-1CE1-65E3-43C121885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171" y="2199731"/>
            <a:ext cx="6006175" cy="360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280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4EAA0-6064-DCF8-2DED-A5C77ACB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0F4AC5-DD00-702F-6812-12278B9A4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51">
            <a:extLst>
              <a:ext uri="{FF2B5EF4-FFF2-40B4-BE49-F238E27FC236}">
                <a16:creationId xmlns:a16="http://schemas.microsoft.com/office/drawing/2014/main" id="{F045CF9E-52D3-187C-94B8-9037D90A5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9417" y="6756322"/>
            <a:ext cx="5657849" cy="101678"/>
          </a:xfrm>
          <a:custGeom>
            <a:avLst/>
            <a:gdLst>
              <a:gd name="connsiteX0" fmla="*/ 0 w 2374107"/>
              <a:gd name="connsiteY0" fmla="*/ 0 h 45719"/>
              <a:gd name="connsiteX1" fmla="*/ 2374107 w 2374107"/>
              <a:gd name="connsiteY1" fmla="*/ 0 h 45719"/>
              <a:gd name="connsiteX2" fmla="*/ 2374107 w 2374107"/>
              <a:gd name="connsiteY2" fmla="*/ 45719 h 45719"/>
              <a:gd name="connsiteX3" fmla="*/ 0 w 2374107"/>
              <a:gd name="connsiteY3" fmla="*/ 45719 h 45719"/>
              <a:gd name="connsiteX4" fmla="*/ 0 w 2374107"/>
              <a:gd name="connsiteY4" fmla="*/ 0 h 45719"/>
              <a:gd name="connsiteX0" fmla="*/ 0 w 2430067"/>
              <a:gd name="connsiteY0" fmla="*/ 0 h 64769"/>
              <a:gd name="connsiteX1" fmla="*/ 2430067 w 2430067"/>
              <a:gd name="connsiteY1" fmla="*/ 19050 h 64769"/>
              <a:gd name="connsiteX2" fmla="*/ 2430067 w 2430067"/>
              <a:gd name="connsiteY2" fmla="*/ 64769 h 64769"/>
              <a:gd name="connsiteX3" fmla="*/ 55960 w 2430067"/>
              <a:gd name="connsiteY3" fmla="*/ 64769 h 64769"/>
              <a:gd name="connsiteX4" fmla="*/ 0 w 2430067"/>
              <a:gd name="connsiteY4" fmla="*/ 0 h 64769"/>
              <a:gd name="connsiteX0" fmla="*/ 0 w 2431088"/>
              <a:gd name="connsiteY0" fmla="*/ 0 h 94534"/>
              <a:gd name="connsiteX1" fmla="*/ 2431088 w 2431088"/>
              <a:gd name="connsiteY1" fmla="*/ 48815 h 94534"/>
              <a:gd name="connsiteX2" fmla="*/ 2431088 w 2431088"/>
              <a:gd name="connsiteY2" fmla="*/ 94534 h 94534"/>
              <a:gd name="connsiteX3" fmla="*/ 56981 w 2431088"/>
              <a:gd name="connsiteY3" fmla="*/ 94534 h 94534"/>
              <a:gd name="connsiteX4" fmla="*/ 0 w 2431088"/>
              <a:gd name="connsiteY4" fmla="*/ 0 h 94534"/>
              <a:gd name="connsiteX0" fmla="*/ 0 w 2425473"/>
              <a:gd name="connsiteY0" fmla="*/ 0 h 101678"/>
              <a:gd name="connsiteX1" fmla="*/ 2425473 w 2425473"/>
              <a:gd name="connsiteY1" fmla="*/ 55959 h 101678"/>
              <a:gd name="connsiteX2" fmla="*/ 2425473 w 2425473"/>
              <a:gd name="connsiteY2" fmla="*/ 101678 h 101678"/>
              <a:gd name="connsiteX3" fmla="*/ 51366 w 2425473"/>
              <a:gd name="connsiteY3" fmla="*/ 101678 h 101678"/>
              <a:gd name="connsiteX4" fmla="*/ 0 w 2425473"/>
              <a:gd name="connsiteY4" fmla="*/ 0 h 101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473" h="101678">
                <a:moveTo>
                  <a:pt x="0" y="0"/>
                </a:moveTo>
                <a:lnTo>
                  <a:pt x="2425473" y="55959"/>
                </a:lnTo>
                <a:lnTo>
                  <a:pt x="2425473" y="101678"/>
                </a:lnTo>
                <a:lnTo>
                  <a:pt x="51366" y="1016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52">
            <a:extLst>
              <a:ext uri="{FF2B5EF4-FFF2-40B4-BE49-F238E27FC236}">
                <a16:creationId xmlns:a16="http://schemas.microsoft.com/office/drawing/2014/main" id="{0CE67457-74EE-E548-E18C-6E49EE41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8697" y="6809135"/>
            <a:ext cx="160496" cy="48864"/>
          </a:xfrm>
          <a:custGeom>
            <a:avLst/>
            <a:gdLst>
              <a:gd name="connsiteX0" fmla="*/ 0 w 91440"/>
              <a:gd name="connsiteY0" fmla="*/ 0 h 27432"/>
              <a:gd name="connsiteX1" fmla="*/ 91440 w 91440"/>
              <a:gd name="connsiteY1" fmla="*/ 0 h 27432"/>
              <a:gd name="connsiteX2" fmla="*/ 91440 w 91440"/>
              <a:gd name="connsiteY2" fmla="*/ 27432 h 27432"/>
              <a:gd name="connsiteX3" fmla="*/ 0 w 91440"/>
              <a:gd name="connsiteY3" fmla="*/ 27432 h 27432"/>
              <a:gd name="connsiteX4" fmla="*/ 0 w 91440"/>
              <a:gd name="connsiteY4" fmla="*/ 0 h 27432"/>
              <a:gd name="connsiteX0" fmla="*/ 0 w 128350"/>
              <a:gd name="connsiteY0" fmla="*/ 0 h 36957"/>
              <a:gd name="connsiteX1" fmla="*/ 128350 w 128350"/>
              <a:gd name="connsiteY1" fmla="*/ 9525 h 36957"/>
              <a:gd name="connsiteX2" fmla="*/ 128350 w 128350"/>
              <a:gd name="connsiteY2" fmla="*/ 36957 h 36957"/>
              <a:gd name="connsiteX3" fmla="*/ 36910 w 128350"/>
              <a:gd name="connsiteY3" fmla="*/ 36957 h 36957"/>
              <a:gd name="connsiteX4" fmla="*/ 0 w 128350"/>
              <a:gd name="connsiteY4" fmla="*/ 0 h 36957"/>
              <a:gd name="connsiteX0" fmla="*/ 0 w 128350"/>
              <a:gd name="connsiteY0" fmla="*/ 0 h 36957"/>
              <a:gd name="connsiteX1" fmla="*/ 83106 w 128350"/>
              <a:gd name="connsiteY1" fmla="*/ 11906 h 36957"/>
              <a:gd name="connsiteX2" fmla="*/ 128350 w 128350"/>
              <a:gd name="connsiteY2" fmla="*/ 36957 h 36957"/>
              <a:gd name="connsiteX3" fmla="*/ 36910 w 128350"/>
              <a:gd name="connsiteY3" fmla="*/ 36957 h 36957"/>
              <a:gd name="connsiteX4" fmla="*/ 0 w 128350"/>
              <a:gd name="connsiteY4" fmla="*/ 0 h 36957"/>
              <a:gd name="connsiteX0" fmla="*/ 0 w 162878"/>
              <a:gd name="connsiteY0" fmla="*/ 0 h 44101"/>
              <a:gd name="connsiteX1" fmla="*/ 117634 w 162878"/>
              <a:gd name="connsiteY1" fmla="*/ 19050 h 44101"/>
              <a:gd name="connsiteX2" fmla="*/ 162878 w 162878"/>
              <a:gd name="connsiteY2" fmla="*/ 44101 h 44101"/>
              <a:gd name="connsiteX3" fmla="*/ 71438 w 162878"/>
              <a:gd name="connsiteY3" fmla="*/ 44101 h 44101"/>
              <a:gd name="connsiteX4" fmla="*/ 0 w 162878"/>
              <a:gd name="connsiteY4" fmla="*/ 0 h 44101"/>
              <a:gd name="connsiteX0" fmla="*/ 0 w 160496"/>
              <a:gd name="connsiteY0" fmla="*/ 0 h 48864"/>
              <a:gd name="connsiteX1" fmla="*/ 115252 w 160496"/>
              <a:gd name="connsiteY1" fmla="*/ 23813 h 48864"/>
              <a:gd name="connsiteX2" fmla="*/ 160496 w 160496"/>
              <a:gd name="connsiteY2" fmla="*/ 48864 h 48864"/>
              <a:gd name="connsiteX3" fmla="*/ 69056 w 160496"/>
              <a:gd name="connsiteY3" fmla="*/ 48864 h 48864"/>
              <a:gd name="connsiteX4" fmla="*/ 0 w 160496"/>
              <a:gd name="connsiteY4" fmla="*/ 0 h 48864"/>
              <a:gd name="connsiteX0" fmla="*/ 0 w 160496"/>
              <a:gd name="connsiteY0" fmla="*/ 0 h 48864"/>
              <a:gd name="connsiteX1" fmla="*/ 115252 w 160496"/>
              <a:gd name="connsiteY1" fmla="*/ 23813 h 48864"/>
              <a:gd name="connsiteX2" fmla="*/ 160496 w 160496"/>
              <a:gd name="connsiteY2" fmla="*/ 48864 h 48864"/>
              <a:gd name="connsiteX3" fmla="*/ 61912 w 160496"/>
              <a:gd name="connsiteY3" fmla="*/ 48864 h 48864"/>
              <a:gd name="connsiteX4" fmla="*/ 0 w 160496"/>
              <a:gd name="connsiteY4" fmla="*/ 0 h 4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496" h="48864">
                <a:moveTo>
                  <a:pt x="0" y="0"/>
                </a:moveTo>
                <a:lnTo>
                  <a:pt x="115252" y="23813"/>
                </a:lnTo>
                <a:lnTo>
                  <a:pt x="160496" y="48864"/>
                </a:lnTo>
                <a:lnTo>
                  <a:pt x="61912" y="4886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1950926D-4945-398F-1E81-155F6AD27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79325-1FF4-1AAE-4E59-8AA448FCC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 err="1">
                <a:solidFill>
                  <a:srgbClr val="FFFFFF"/>
                </a:solidFill>
              </a:rPr>
              <a:t>Multumim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pentru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atentie</a:t>
            </a:r>
            <a:r>
              <a:rPr lang="en-US" sz="4800" dirty="0">
                <a:solidFill>
                  <a:srgbClr val="FFFFFF"/>
                </a:solidFill>
              </a:rPr>
              <a:t> !</a:t>
            </a:r>
            <a:br>
              <a:rPr lang="en-US" sz="4800" dirty="0">
                <a:solidFill>
                  <a:srgbClr val="FFFFFF"/>
                </a:solidFill>
              </a:rPr>
            </a:b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40F6C-BE67-FCC4-28E3-2D8CE3B5A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3200">
                <a:solidFill>
                  <a:srgbClr val="FFFFFF"/>
                </a:solidFill>
              </a:rPr>
              <a:t>Proiect realizat de: Petrescu Matei, Nicu Raissa, Paraschiv Vlad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95421EE5-76DD-1C0C-49B1-22B70D8A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1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ketchyVTI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Modern Love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2548</Words>
  <Application>Microsoft Office PowerPoint</Application>
  <PresentationFormat>Widescreen</PresentationFormat>
  <Paragraphs>161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Cascadia Code ExtraLight</vt:lpstr>
      <vt:lpstr>Comic Sans MS</vt:lpstr>
      <vt:lpstr>Modern Love</vt:lpstr>
      <vt:lpstr>SketchyVTI</vt:lpstr>
      <vt:lpstr>Accidentele sistemului locomotor. </vt:lpstr>
      <vt:lpstr>Entorsa - Ce este o entorsă &amp; Cauze</vt:lpstr>
      <vt:lpstr>Entorsa – Simptome &amp; Tratament</vt:lpstr>
      <vt:lpstr>Entorsa –  Prevenție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Multumim pentru atentie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</dc:creator>
  <cp:lastModifiedBy>Matei</cp:lastModifiedBy>
  <cp:revision>3</cp:revision>
  <dcterms:created xsi:type="dcterms:W3CDTF">2025-05-27T18:42:56Z</dcterms:created>
  <dcterms:modified xsi:type="dcterms:W3CDTF">2025-05-28T08:24:57Z</dcterms:modified>
</cp:coreProperties>
</file>